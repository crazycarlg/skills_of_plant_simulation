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4"/>
    <p:sldMasterId id="2147483781" r:id="rId5"/>
    <p:sldMasterId id="2147483792" r:id="rId6"/>
    <p:sldMasterId id="2147483798" r:id="rId7"/>
  </p:sldMasterIdLst>
  <p:notesMasterIdLst>
    <p:notesMasterId r:id="rId26"/>
  </p:notesMasterIdLst>
  <p:handoutMasterIdLst>
    <p:handoutMasterId r:id="rId27"/>
  </p:handoutMasterIdLst>
  <p:sldIdLst>
    <p:sldId id="2147375793" r:id="rId8"/>
    <p:sldId id="2147376573" r:id="rId9"/>
    <p:sldId id="2147474074" r:id="rId10"/>
    <p:sldId id="2147473994" r:id="rId11"/>
    <p:sldId id="2147474045" r:id="rId12"/>
    <p:sldId id="2147474078" r:id="rId13"/>
    <p:sldId id="2147474086" r:id="rId14"/>
    <p:sldId id="2147474090" r:id="rId15"/>
    <p:sldId id="2147474091" r:id="rId16"/>
    <p:sldId id="2147474052" r:id="rId17"/>
    <p:sldId id="2147474088" r:id="rId18"/>
    <p:sldId id="2147474079" r:id="rId19"/>
    <p:sldId id="2147376482" r:id="rId20"/>
    <p:sldId id="2147474080" r:id="rId21"/>
    <p:sldId id="2147474084" r:id="rId22"/>
    <p:sldId id="2147473966" r:id="rId23"/>
    <p:sldId id="2147474069" r:id="rId24"/>
    <p:sldId id="2147474072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F43655C9-54E4-4912-80A3-A0EE01FEC07B}">
          <p14:sldIdLst>
            <p14:sldId id="2147375793"/>
            <p14:sldId id="2147376573"/>
          </p14:sldIdLst>
        </p14:section>
        <p14:section name="1 | Status Update LDF Data Platform" id="{B8309823-5B84-4A42-8193-5CFB2FC2C52E}">
          <p14:sldIdLst>
            <p14:sldId id="2147474074"/>
            <p14:sldId id="2147473994"/>
            <p14:sldId id="2147474045"/>
          </p14:sldIdLst>
        </p14:section>
        <p14:section name="2 | Synergies of LDF Data Platform within SDC" id="{A6907099-E8B0-4C4B-811C-50E0B2540565}">
          <p14:sldIdLst>
            <p14:sldId id="2147474078"/>
            <p14:sldId id="2147474086"/>
            <p14:sldId id="2147474090"/>
            <p14:sldId id="2147474091"/>
            <p14:sldId id="2147474052"/>
            <p14:sldId id="2147474088"/>
          </p14:sldIdLst>
        </p14:section>
        <p14:section name="3 | Introduction Hybrid Architecture Concept" id="{9F6771E1-9E4F-48AF-BE70-C6B6337C252B}">
          <p14:sldIdLst>
            <p14:sldId id="2147474079"/>
            <p14:sldId id="2147376482"/>
          </p14:sldIdLst>
        </p14:section>
        <p14:section name="4 | Project Ambition FY24" id="{5721457D-2F0D-4619-BE7E-EAC1C4780B00}">
          <p14:sldIdLst>
            <p14:sldId id="2147474080"/>
            <p14:sldId id="2147474084"/>
            <p14:sldId id="2147473966"/>
          </p14:sldIdLst>
        </p14:section>
        <p14:section name="Backup" id="{BFBBD42A-BB77-47A3-8BD3-289E0D7DF7C0}">
          <p14:sldIdLst>
            <p14:sldId id="2147474069"/>
            <p14:sldId id="2147474072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Michael Schmitt" initials="MS" lastIdx="1" clrIdx="1">
    <p:extLst>
      <p:ext uri="{19B8F6BF-5375-455C-9EA6-DF929625EA0E}">
        <p15:presenceInfo xmlns:p15="http://schemas.microsoft.com/office/powerpoint/2012/main" userId="S::michael.schmitt@mhp.com::8c403755-0ce9-4637-8a86-35c261f449e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A3B1"/>
    <a:srgbClr val="334862"/>
    <a:srgbClr val="00183A"/>
    <a:srgbClr val="01183A"/>
    <a:srgbClr val="4EFFD2"/>
    <a:srgbClr val="2E5168"/>
    <a:srgbClr val="EF0137"/>
    <a:srgbClr val="66667E"/>
    <a:srgbClr val="000028"/>
    <a:srgbClr val="000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howGuides="1">
      <p:cViewPr varScale="1">
        <p:scale>
          <a:sx n="104" d="100"/>
          <a:sy n="104" d="100"/>
        </p:scale>
        <p:origin x="1272" y="102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gs" Target="tags/tag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Feng - Thom (DI IT MC CN)" userId="0b965298-9463-4f6a-a9bb-ca497cc74d14" providerId="ADAL" clId="{226AB002-AC8E-4B98-A128-0DF08104ACCC}"/>
    <pc:docChg chg="custSel replTag delTag">
      <pc:chgData name="Wang, Feng - Thom (DI IT MC CN)" userId="0b965298-9463-4f6a-a9bb-ca497cc74d14" providerId="ADAL" clId="{226AB002-AC8E-4B98-A128-0DF08104ACCC}" dt="2023-09-11T07:58:02.112" v="5"/>
      <pc:docMkLst>
        <pc:docMk/>
      </pc:docMkLst>
    </pc:docChg>
  </pc:docChgLst>
  <pc:docChgLst>
    <pc:chgData name="Dechent, Christopher (ext) (DI IT DEMA ATR)" userId="aaaac429-0dc1-4808-b53c-2e37a5df7242" providerId="ADAL" clId="{25D24555-337F-419E-AEE2-5E51064FE5E3}"/>
    <pc:docChg chg="custSel delSld modSld modSection">
      <pc:chgData name="Dechent, Christopher (ext) (DI IT DEMA ATR)" userId="aaaac429-0dc1-4808-b53c-2e37a5df7242" providerId="ADAL" clId="{25D24555-337F-419E-AEE2-5E51064FE5E3}" dt="2023-09-07T13:24:10.218" v="99" actId="478"/>
      <pc:docMkLst>
        <pc:docMk/>
      </pc:docMkLst>
      <pc:sldChg chg="del">
        <pc:chgData name="Dechent, Christopher (ext) (DI IT DEMA ATR)" userId="aaaac429-0dc1-4808-b53c-2e37a5df7242" providerId="ADAL" clId="{25D24555-337F-419E-AEE2-5E51064FE5E3}" dt="2023-09-07T13:17:51.221" v="0" actId="47"/>
        <pc:sldMkLst>
          <pc:docMk/>
          <pc:sldMk cId="3878541199" sldId="2147474049"/>
        </pc:sldMkLst>
      </pc:sldChg>
      <pc:sldChg chg="modSp mod">
        <pc:chgData name="Dechent, Christopher (ext) (DI IT DEMA ATR)" userId="aaaac429-0dc1-4808-b53c-2e37a5df7242" providerId="ADAL" clId="{25D24555-337F-419E-AEE2-5E51064FE5E3}" dt="2023-09-07T13:18:57.971" v="43" actId="20577"/>
        <pc:sldMkLst>
          <pc:docMk/>
          <pc:sldMk cId="846179593" sldId="2147474088"/>
        </pc:sldMkLst>
        <pc:spChg chg="mod">
          <ac:chgData name="Dechent, Christopher (ext) (DI IT DEMA ATR)" userId="aaaac429-0dc1-4808-b53c-2e37a5df7242" providerId="ADAL" clId="{25D24555-337F-419E-AEE2-5E51064FE5E3}" dt="2023-09-07T13:18:57.971" v="43" actId="20577"/>
          <ac:spMkLst>
            <pc:docMk/>
            <pc:sldMk cId="846179593" sldId="2147474088"/>
            <ac:spMk id="52" creationId="{40242E69-756E-27B7-AC77-C55876B946E8}"/>
          </ac:spMkLst>
        </pc:spChg>
      </pc:sldChg>
      <pc:sldChg chg="del">
        <pc:chgData name="Dechent, Christopher (ext) (DI IT DEMA ATR)" userId="aaaac429-0dc1-4808-b53c-2e37a5df7242" providerId="ADAL" clId="{25D24555-337F-419E-AEE2-5E51064FE5E3}" dt="2023-09-07T13:19:40.766" v="44" actId="47"/>
        <pc:sldMkLst>
          <pc:docMk/>
          <pc:sldMk cId="4001564174" sldId="2147474089"/>
        </pc:sldMkLst>
      </pc:sldChg>
      <pc:sldChg chg="addSp delSp modSp mod">
        <pc:chgData name="Dechent, Christopher (ext) (DI IT DEMA ATR)" userId="aaaac429-0dc1-4808-b53c-2e37a5df7242" providerId="ADAL" clId="{25D24555-337F-419E-AEE2-5E51064FE5E3}" dt="2023-09-07T13:24:10.218" v="99" actId="478"/>
        <pc:sldMkLst>
          <pc:docMk/>
          <pc:sldMk cId="3214198080" sldId="2147474091"/>
        </pc:sldMkLst>
        <pc:spChg chg="del">
          <ac:chgData name="Dechent, Christopher (ext) (DI IT DEMA ATR)" userId="aaaac429-0dc1-4808-b53c-2e37a5df7242" providerId="ADAL" clId="{25D24555-337F-419E-AEE2-5E51064FE5E3}" dt="2023-09-07T13:24:10.218" v="99" actId="478"/>
          <ac:spMkLst>
            <pc:docMk/>
            <pc:sldMk cId="3214198080" sldId="2147474091"/>
            <ac:spMk id="24" creationId="{408A4468-C52C-83CE-ED17-317600854B51}"/>
          </ac:spMkLst>
        </pc:spChg>
        <pc:grpChg chg="mod">
          <ac:chgData name="Dechent, Christopher (ext) (DI IT DEMA ATR)" userId="aaaac429-0dc1-4808-b53c-2e37a5df7242" providerId="ADAL" clId="{25D24555-337F-419E-AEE2-5E51064FE5E3}" dt="2023-09-07T13:23:44.740" v="93" actId="1076"/>
          <ac:grpSpMkLst>
            <pc:docMk/>
            <pc:sldMk cId="3214198080" sldId="2147474091"/>
            <ac:grpSpMk id="33" creationId="{7D7AB21D-1672-DDE1-ECD1-A66724A14EAE}"/>
          </ac:grpSpMkLst>
        </pc:grpChg>
        <pc:grpChg chg="add mod">
          <ac:chgData name="Dechent, Christopher (ext) (DI IT DEMA ATR)" userId="aaaac429-0dc1-4808-b53c-2e37a5df7242" providerId="ADAL" clId="{25D24555-337F-419E-AEE2-5E51064FE5E3}" dt="2023-09-07T13:23:23.768" v="86" actId="1076"/>
          <ac:grpSpMkLst>
            <pc:docMk/>
            <pc:sldMk cId="3214198080" sldId="2147474091"/>
            <ac:grpSpMk id="37" creationId="{571F3316-F2EC-E984-ACA4-7974160E1A52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26.829" v="87" actId="1076"/>
          <ac:grpSpMkLst>
            <pc:docMk/>
            <pc:sldMk cId="3214198080" sldId="2147474091"/>
            <ac:grpSpMk id="61" creationId="{D74BAAE7-00C9-50FF-1788-C144035BA4BD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11.299" v="83" actId="1076"/>
          <ac:grpSpMkLst>
            <pc:docMk/>
            <pc:sldMk cId="3214198080" sldId="2147474091"/>
            <ac:grpSpMk id="67" creationId="{246B44B2-C702-5354-0D07-725AF1683AD1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55.774" v="97" actId="1076"/>
          <ac:grpSpMkLst>
            <pc:docMk/>
            <pc:sldMk cId="3214198080" sldId="2147474091"/>
            <ac:grpSpMk id="70" creationId="{96C319C3-0A4E-3213-ACF8-C797D7CAB6FE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57.606" v="98" actId="1076"/>
          <ac:grpSpMkLst>
            <pc:docMk/>
            <pc:sldMk cId="3214198080" sldId="2147474091"/>
            <ac:grpSpMk id="74" creationId="{2DE91585-B740-E81A-6996-9BB88A2CE6CE}"/>
          </ac:grpSpMkLst>
        </pc:grpChg>
        <pc:grpChg chg="del mod">
          <ac:chgData name="Dechent, Christopher (ext) (DI IT DEMA ATR)" userId="aaaac429-0dc1-4808-b53c-2e37a5df7242" providerId="ADAL" clId="{25D24555-337F-419E-AEE2-5E51064FE5E3}" dt="2023-09-07T13:23:49.788" v="95" actId="478"/>
          <ac:grpSpMkLst>
            <pc:docMk/>
            <pc:sldMk cId="3214198080" sldId="2147474091"/>
            <ac:grpSpMk id="77" creationId="{04C30E4C-B975-53A6-688F-937E6C88913E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52.963" v="96" actId="1076"/>
          <ac:grpSpMkLst>
            <pc:docMk/>
            <pc:sldMk cId="3214198080" sldId="2147474091"/>
            <ac:grpSpMk id="80" creationId="{3B1C2980-8B5C-4798-A9B1-A489792AD6F1}"/>
          </ac:grpSpMkLst>
        </pc:grpChg>
        <pc:grpChg chg="mod">
          <ac:chgData name="Dechent, Christopher (ext) (DI IT DEMA ATR)" userId="aaaac429-0dc1-4808-b53c-2e37a5df7242" providerId="ADAL" clId="{25D24555-337F-419E-AEE2-5E51064FE5E3}" dt="2023-09-07T13:23:30.539" v="88" actId="1076"/>
          <ac:grpSpMkLst>
            <pc:docMk/>
            <pc:sldMk cId="3214198080" sldId="2147474091"/>
            <ac:grpSpMk id="84" creationId="{57D63A62-E2DD-BD9F-C560-BB03DF4F5204}"/>
          </ac:grpSpMkLst>
        </pc:grpChg>
        <pc:picChg chg="add del mod">
          <ac:chgData name="Dechent, Christopher (ext) (DI IT DEMA ATR)" userId="aaaac429-0dc1-4808-b53c-2e37a5df7242" providerId="ADAL" clId="{25D24555-337F-419E-AEE2-5E51064FE5E3}" dt="2023-09-07T13:21:08.085" v="56" actId="478"/>
          <ac:picMkLst>
            <pc:docMk/>
            <pc:sldMk cId="3214198080" sldId="2147474091"/>
            <ac:picMk id="25" creationId="{AED7580D-18C5-6129-E0D8-9A0FB05483CD}"/>
          </ac:picMkLst>
        </pc:picChg>
        <pc:picChg chg="add mod modCrop">
          <ac:chgData name="Dechent, Christopher (ext) (DI IT DEMA ATR)" userId="aaaac429-0dc1-4808-b53c-2e37a5df7242" providerId="ADAL" clId="{25D24555-337F-419E-AEE2-5E51064FE5E3}" dt="2023-09-07T13:22:49.407" v="76" actId="164"/>
          <ac:picMkLst>
            <pc:docMk/>
            <pc:sldMk cId="3214198080" sldId="2147474091"/>
            <ac:picMk id="27" creationId="{79FD3559-461D-305A-A2D2-D43A459BF6C5}"/>
          </ac:picMkLst>
        </pc:picChg>
        <pc:picChg chg="add mod modCrop">
          <ac:chgData name="Dechent, Christopher (ext) (DI IT DEMA ATR)" userId="aaaac429-0dc1-4808-b53c-2e37a5df7242" providerId="ADAL" clId="{25D24555-337F-419E-AEE2-5E51064FE5E3}" dt="2023-09-07T13:22:49.407" v="76" actId="164"/>
          <ac:picMkLst>
            <pc:docMk/>
            <pc:sldMk cId="3214198080" sldId="2147474091"/>
            <ac:picMk id="28" creationId="{465068C3-D801-648E-8A6D-665B96EC3142}"/>
          </ac:picMkLst>
        </pc:picChg>
        <pc:picChg chg="add del mod">
          <ac:chgData name="Dechent, Christopher (ext) (DI IT DEMA ATR)" userId="aaaac429-0dc1-4808-b53c-2e37a5df7242" providerId="ADAL" clId="{25D24555-337F-419E-AEE2-5E51064FE5E3}" dt="2023-09-07T13:22:17.476" v="65"/>
          <ac:picMkLst>
            <pc:docMk/>
            <pc:sldMk cId="3214198080" sldId="2147474091"/>
            <ac:picMk id="29" creationId="{4016C2CF-E90C-EF3D-868F-B783801193AB}"/>
          </ac:picMkLst>
        </pc:picChg>
        <pc:picChg chg="add del">
          <ac:chgData name="Dechent, Christopher (ext) (DI IT DEMA ATR)" userId="aaaac429-0dc1-4808-b53c-2e37a5df7242" providerId="ADAL" clId="{25D24555-337F-419E-AEE2-5E51064FE5E3}" dt="2023-09-07T13:22:22.918" v="67" actId="478"/>
          <ac:picMkLst>
            <pc:docMk/>
            <pc:sldMk cId="3214198080" sldId="2147474091"/>
            <ac:picMk id="31" creationId="{9D7E077A-C6DB-BF3C-E8CC-D0580E92F43D}"/>
          </ac:picMkLst>
        </pc:picChg>
        <pc:picChg chg="add del mod">
          <ac:chgData name="Dechent, Christopher (ext) (DI IT DEMA ATR)" userId="aaaac429-0dc1-4808-b53c-2e37a5df7242" providerId="ADAL" clId="{25D24555-337F-419E-AEE2-5E51064FE5E3}" dt="2023-09-07T13:22:31.042" v="70"/>
          <ac:picMkLst>
            <pc:docMk/>
            <pc:sldMk cId="3214198080" sldId="2147474091"/>
            <ac:picMk id="32" creationId="{6F2C4DAD-E9E2-306A-0FA3-CF5484E1366C}"/>
          </ac:picMkLst>
        </pc:picChg>
        <pc:picChg chg="add del mod">
          <ac:chgData name="Dechent, Christopher (ext) (DI IT DEMA ATR)" userId="aaaac429-0dc1-4808-b53c-2e37a5df7242" providerId="ADAL" clId="{25D24555-337F-419E-AEE2-5E51064FE5E3}" dt="2023-09-07T13:22:35.263" v="74" actId="478"/>
          <ac:picMkLst>
            <pc:docMk/>
            <pc:sldMk cId="3214198080" sldId="2147474091"/>
            <ac:picMk id="36" creationId="{F5B29E86-F63A-B3B4-AB0B-9F17C8403D74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26.829" v="87" actId="1076"/>
          <ac:picMkLst>
            <pc:docMk/>
            <pc:sldMk cId="3214198080" sldId="2147474091"/>
            <ac:picMk id="63" creationId="{2291E057-E432-C944-9981-674711528181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26.829" v="87" actId="1076"/>
          <ac:picMkLst>
            <pc:docMk/>
            <pc:sldMk cId="3214198080" sldId="2147474091"/>
            <ac:picMk id="64" creationId="{950DDAC9-A40F-B119-D2E8-6ABED76FC7BB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11.299" v="83" actId="1076"/>
          <ac:picMkLst>
            <pc:docMk/>
            <pc:sldMk cId="3214198080" sldId="2147474091"/>
            <ac:picMk id="68" creationId="{EB107E9E-81EA-5130-F10B-DF023FB4DA0D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11.299" v="83" actId="1076"/>
          <ac:picMkLst>
            <pc:docMk/>
            <pc:sldMk cId="3214198080" sldId="2147474091"/>
            <ac:picMk id="69" creationId="{2C9DA938-FBAD-62A8-053B-0B202AE24A70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57.606" v="98" actId="1076"/>
          <ac:picMkLst>
            <pc:docMk/>
            <pc:sldMk cId="3214198080" sldId="2147474091"/>
            <ac:picMk id="75" creationId="{3E043E1C-C1BD-B950-A862-30923FD0FBC1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57.606" v="98" actId="1076"/>
          <ac:picMkLst>
            <pc:docMk/>
            <pc:sldMk cId="3214198080" sldId="2147474091"/>
            <ac:picMk id="76" creationId="{E9B618EB-A418-81D1-99FF-6CFD186C0846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48.833" v="94" actId="1076"/>
          <ac:picMkLst>
            <pc:docMk/>
            <pc:sldMk cId="3214198080" sldId="2147474091"/>
            <ac:picMk id="78" creationId="{74D7858B-D1AE-BBD2-F4E7-2A21F1938BC6}"/>
          </ac:picMkLst>
        </pc:picChg>
        <pc:picChg chg="mod">
          <ac:chgData name="Dechent, Christopher (ext) (DI IT DEMA ATR)" userId="aaaac429-0dc1-4808-b53c-2e37a5df7242" providerId="ADAL" clId="{25D24555-337F-419E-AEE2-5E51064FE5E3}" dt="2023-09-07T13:23:48.833" v="94" actId="1076"/>
          <ac:picMkLst>
            <pc:docMk/>
            <pc:sldMk cId="3214198080" sldId="2147474091"/>
            <ac:picMk id="79" creationId="{2AB6B49E-93A0-AB52-8F35-068728DE067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9/11/2023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9/11/2023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1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err="1"/>
              <a:t>Left</a:t>
            </a:r>
            <a:r>
              <a:rPr lang="de-DE" b="1"/>
              <a:t> </a:t>
            </a:r>
            <a:r>
              <a:rPr lang="de-DE" b="1" err="1"/>
              <a:t>side</a:t>
            </a:r>
            <a:endParaRPr lang="de-DE" b="1"/>
          </a:p>
          <a:p>
            <a:r>
              <a:rPr lang="de-DE" err="1"/>
              <a:t>Ensure</a:t>
            </a:r>
            <a:r>
              <a:rPr lang="de-DE"/>
              <a:t> Fit-</a:t>
            </a:r>
            <a:r>
              <a:rPr lang="de-DE" err="1"/>
              <a:t>for</a:t>
            </a:r>
            <a:r>
              <a:rPr lang="de-DE"/>
              <a:t> Purpose: </a:t>
            </a:r>
            <a:r>
              <a:rPr lang="de-DE" err="1"/>
              <a:t>Tailored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meet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specific</a:t>
            </a:r>
            <a:r>
              <a:rPr lang="de-DE"/>
              <a:t> </a:t>
            </a:r>
            <a:r>
              <a:rPr lang="de-DE" err="1"/>
              <a:t>business</a:t>
            </a:r>
            <a:r>
              <a:rPr lang="de-DE"/>
              <a:t> </a:t>
            </a:r>
            <a:r>
              <a:rPr lang="de-DE" err="1"/>
              <a:t>needs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Data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ensures</a:t>
            </a:r>
            <a:r>
              <a:rPr lang="de-DE"/>
              <a:t> </a:t>
            </a:r>
            <a:r>
              <a:rPr lang="de-DE" err="1"/>
              <a:t>every</a:t>
            </a:r>
            <a:r>
              <a:rPr lang="de-DE"/>
              <a:t> </a:t>
            </a:r>
            <a:r>
              <a:rPr lang="de-DE" err="1"/>
              <a:t>solution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precisely</a:t>
            </a:r>
            <a:r>
              <a:rPr lang="de-DE"/>
              <a:t> </a:t>
            </a:r>
            <a:r>
              <a:rPr lang="de-DE" err="1"/>
              <a:t>designed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its</a:t>
            </a:r>
            <a:r>
              <a:rPr lang="de-DE"/>
              <a:t> </a:t>
            </a:r>
            <a:r>
              <a:rPr lang="de-DE" err="1"/>
              <a:t>intended</a:t>
            </a:r>
            <a:r>
              <a:rPr lang="de-DE"/>
              <a:t> </a:t>
            </a:r>
            <a:r>
              <a:rPr lang="de-DE" err="1"/>
              <a:t>purpose</a:t>
            </a:r>
            <a:r>
              <a:rPr lang="de-DE"/>
              <a:t>.</a:t>
            </a:r>
          </a:p>
          <a:p>
            <a:r>
              <a:rPr lang="de-DE" err="1"/>
              <a:t>Faster</a:t>
            </a:r>
            <a:r>
              <a:rPr lang="de-DE"/>
              <a:t> Time-</a:t>
            </a:r>
            <a:r>
              <a:rPr lang="de-DE" err="1"/>
              <a:t>to</a:t>
            </a:r>
            <a:r>
              <a:rPr lang="de-DE"/>
              <a:t>-Market: </a:t>
            </a:r>
            <a:r>
              <a:rPr lang="de-DE" err="1"/>
              <a:t>Accelerate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innovation</a:t>
            </a:r>
            <a:r>
              <a:rPr lang="de-DE"/>
              <a:t> </a:t>
            </a:r>
            <a:r>
              <a:rPr lang="de-DE" err="1"/>
              <a:t>journey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a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designed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rapid </a:t>
            </a:r>
            <a:r>
              <a:rPr lang="de-DE" err="1"/>
              <a:t>development</a:t>
            </a:r>
            <a:r>
              <a:rPr lang="de-DE"/>
              <a:t> and </a:t>
            </a:r>
            <a:r>
              <a:rPr lang="de-DE" err="1"/>
              <a:t>deployment</a:t>
            </a:r>
            <a:r>
              <a:rPr lang="de-DE"/>
              <a:t>, </a:t>
            </a:r>
            <a:r>
              <a:rPr lang="de-DE" err="1"/>
              <a:t>getting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products</a:t>
            </a:r>
            <a:r>
              <a:rPr lang="de-DE"/>
              <a:t> and </a:t>
            </a:r>
            <a:r>
              <a:rPr lang="de-DE" err="1"/>
              <a:t>services</a:t>
            </a:r>
            <a:r>
              <a:rPr lang="de-DE"/>
              <a:t> </a:t>
            </a:r>
            <a:r>
              <a:rPr lang="de-DE" err="1"/>
              <a:t>faster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market</a:t>
            </a:r>
            <a:r>
              <a:rPr lang="de-DE"/>
              <a:t>.</a:t>
            </a:r>
          </a:p>
          <a:p>
            <a:r>
              <a:rPr lang="de-DE"/>
              <a:t>Push Start-up </a:t>
            </a:r>
            <a:r>
              <a:rPr lang="de-DE" err="1"/>
              <a:t>Collabo</a:t>
            </a:r>
            <a:r>
              <a:rPr lang="de-DE"/>
              <a:t>: Foster </a:t>
            </a:r>
            <a:r>
              <a:rPr lang="de-DE" err="1"/>
              <a:t>collaboration</a:t>
            </a:r>
            <a:r>
              <a:rPr lang="de-DE"/>
              <a:t> and </a:t>
            </a:r>
            <a:r>
              <a:rPr lang="de-DE" err="1"/>
              <a:t>partnership</a:t>
            </a:r>
            <a:r>
              <a:rPr lang="de-DE"/>
              <a:t> </a:t>
            </a:r>
            <a:r>
              <a:rPr lang="de-DE" err="1"/>
              <a:t>opportunities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startups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drive</a:t>
            </a:r>
            <a:r>
              <a:rPr lang="de-DE"/>
              <a:t> </a:t>
            </a:r>
            <a:r>
              <a:rPr lang="de-DE" err="1"/>
              <a:t>innovation</a:t>
            </a:r>
            <a:r>
              <a:rPr lang="de-DE"/>
              <a:t> and </a:t>
            </a:r>
            <a:r>
              <a:rPr lang="de-DE" err="1"/>
              <a:t>growth</a:t>
            </a:r>
            <a:r>
              <a:rPr lang="de-DE"/>
              <a:t>.</a:t>
            </a:r>
          </a:p>
          <a:p>
            <a:r>
              <a:rPr lang="de-DE" err="1"/>
              <a:t>Provide</a:t>
            </a:r>
            <a:r>
              <a:rPr lang="de-DE"/>
              <a:t> SDC </a:t>
            </a:r>
            <a:r>
              <a:rPr lang="de-DE" err="1"/>
              <a:t>Interoperability</a:t>
            </a:r>
            <a:r>
              <a:rPr lang="de-DE"/>
              <a:t>: </a:t>
            </a:r>
            <a:r>
              <a:rPr lang="de-DE" err="1"/>
              <a:t>Seamlessly</a:t>
            </a:r>
            <a:r>
              <a:rPr lang="de-DE"/>
              <a:t> </a:t>
            </a:r>
            <a:r>
              <a:rPr lang="de-DE" err="1"/>
              <a:t>integrate</a:t>
            </a:r>
            <a:r>
              <a:rPr lang="de-DE"/>
              <a:t> and </a:t>
            </a:r>
            <a:r>
              <a:rPr lang="de-DE" err="1"/>
              <a:t>communicate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existing</a:t>
            </a:r>
            <a:r>
              <a:rPr lang="de-DE"/>
              <a:t> </a:t>
            </a:r>
            <a:r>
              <a:rPr lang="de-DE" err="1"/>
              <a:t>systems</a:t>
            </a:r>
            <a:r>
              <a:rPr lang="de-DE"/>
              <a:t>, </a:t>
            </a:r>
            <a:r>
              <a:rPr lang="de-DE" err="1"/>
              <a:t>enhancing</a:t>
            </a:r>
            <a:r>
              <a:rPr lang="de-DE"/>
              <a:t> </a:t>
            </a:r>
            <a:r>
              <a:rPr lang="de-DE" err="1"/>
              <a:t>collaboration</a:t>
            </a:r>
            <a:r>
              <a:rPr lang="de-DE"/>
              <a:t> and </a:t>
            </a:r>
            <a:r>
              <a:rPr lang="de-DE" err="1"/>
              <a:t>information</a:t>
            </a:r>
            <a:r>
              <a:rPr lang="de-DE"/>
              <a:t> </a:t>
            </a:r>
            <a:r>
              <a:rPr lang="de-DE" err="1"/>
              <a:t>flow</a:t>
            </a:r>
            <a:r>
              <a:rPr lang="de-DE"/>
              <a:t> </a:t>
            </a:r>
            <a:r>
              <a:rPr lang="de-DE" err="1"/>
              <a:t>across</a:t>
            </a:r>
            <a:r>
              <a:rPr lang="de-DE"/>
              <a:t> BUs.</a:t>
            </a:r>
          </a:p>
          <a:p>
            <a:r>
              <a:rPr lang="de-DE"/>
              <a:t> </a:t>
            </a:r>
            <a:endParaRPr lang="en-US">
              <a:solidFill>
                <a:srgbClr val="D1D5DB"/>
              </a:solidFill>
              <a:latin typeface="Söhne"/>
            </a:endParaRPr>
          </a:p>
          <a:p>
            <a:r>
              <a:rPr lang="de-DE" b="1"/>
              <a:t>Right </a:t>
            </a:r>
            <a:r>
              <a:rPr lang="de-DE" b="1" err="1"/>
              <a:t>side</a:t>
            </a:r>
            <a:endParaRPr lang="de-DE" b="1"/>
          </a:p>
          <a:p>
            <a:r>
              <a:rPr lang="de-DE"/>
              <a:t>Close White </a:t>
            </a:r>
            <a:r>
              <a:rPr lang="de-DE" err="1"/>
              <a:t>Spots:The</a:t>
            </a:r>
            <a:r>
              <a:rPr lang="de-DE"/>
              <a:t> Data </a:t>
            </a:r>
            <a:r>
              <a:rPr lang="de-DE" err="1"/>
              <a:t>Platform</a:t>
            </a:r>
            <a:r>
              <a:rPr lang="de-DE"/>
              <a:t> </a:t>
            </a:r>
            <a:r>
              <a:rPr lang="de-DE" err="1"/>
              <a:t>focuses</a:t>
            </a:r>
            <a:r>
              <a:rPr lang="de-DE"/>
              <a:t> on </a:t>
            </a:r>
            <a:r>
              <a:rPr lang="de-DE" err="1"/>
              <a:t>augmenting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existing</a:t>
            </a:r>
            <a:r>
              <a:rPr lang="de-DE"/>
              <a:t> </a:t>
            </a:r>
            <a:r>
              <a:rPr lang="de-DE" err="1"/>
              <a:t>services</a:t>
            </a:r>
            <a:r>
              <a:rPr lang="de-DE"/>
              <a:t> and </a:t>
            </a:r>
            <a:r>
              <a:rPr lang="de-DE" err="1"/>
              <a:t>filling</a:t>
            </a:r>
            <a:r>
              <a:rPr lang="de-DE"/>
              <a:t> </a:t>
            </a:r>
            <a:r>
              <a:rPr lang="de-DE" err="1"/>
              <a:t>white</a:t>
            </a:r>
            <a:r>
              <a:rPr lang="de-DE"/>
              <a:t> </a:t>
            </a:r>
            <a:r>
              <a:rPr lang="de-DE" err="1"/>
              <a:t>spots</a:t>
            </a:r>
            <a:r>
              <a:rPr lang="de-DE"/>
              <a:t>.</a:t>
            </a:r>
          </a:p>
          <a:p>
            <a:r>
              <a:rPr lang="de-DE"/>
              <a:t>Drive </a:t>
            </a:r>
            <a:r>
              <a:rPr lang="de-DE" err="1"/>
              <a:t>Cost</a:t>
            </a:r>
            <a:r>
              <a:rPr lang="de-DE"/>
              <a:t> </a:t>
            </a:r>
            <a:r>
              <a:rPr lang="de-DE" err="1"/>
              <a:t>Savings</a:t>
            </a:r>
            <a:r>
              <a:rPr lang="de-DE"/>
              <a:t>: </a:t>
            </a:r>
            <a:r>
              <a:rPr lang="de-DE" err="1"/>
              <a:t>Optimize</a:t>
            </a:r>
            <a:r>
              <a:rPr lang="de-DE"/>
              <a:t> </a:t>
            </a:r>
            <a:r>
              <a:rPr lang="de-DE" err="1"/>
              <a:t>resources</a:t>
            </a:r>
            <a:r>
              <a:rPr lang="de-DE"/>
              <a:t> and </a:t>
            </a:r>
            <a:r>
              <a:rPr lang="de-DE" err="1"/>
              <a:t>scale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</a:t>
            </a:r>
            <a:r>
              <a:rPr lang="de-DE" err="1"/>
              <a:t>required</a:t>
            </a:r>
            <a:r>
              <a:rPr lang="de-DE"/>
              <a:t>, </a:t>
            </a:r>
            <a:r>
              <a:rPr lang="de-DE" err="1"/>
              <a:t>keeping</a:t>
            </a:r>
            <a:r>
              <a:rPr lang="de-DE"/>
              <a:t> </a:t>
            </a:r>
            <a:r>
              <a:rPr lang="de-DE" err="1"/>
              <a:t>expenses</a:t>
            </a:r>
            <a:r>
              <a:rPr lang="de-DE"/>
              <a:t> in check and </a:t>
            </a:r>
            <a:r>
              <a:rPr lang="de-DE" err="1"/>
              <a:t>ensuring</a:t>
            </a:r>
            <a:r>
              <a:rPr lang="de-DE"/>
              <a:t> </a:t>
            </a:r>
            <a:r>
              <a:rPr lang="de-DE" err="1"/>
              <a:t>efficient</a:t>
            </a:r>
            <a:r>
              <a:rPr lang="de-DE"/>
              <a:t> </a:t>
            </a:r>
            <a:r>
              <a:rPr lang="de-DE" err="1"/>
              <a:t>resource</a:t>
            </a:r>
            <a:r>
              <a:rPr lang="de-DE"/>
              <a:t> </a:t>
            </a:r>
            <a:r>
              <a:rPr lang="de-DE" err="1"/>
              <a:t>allocation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individual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cases</a:t>
            </a:r>
            <a:r>
              <a:rPr lang="de-DE"/>
              <a:t>.</a:t>
            </a:r>
          </a:p>
          <a:p>
            <a:r>
              <a:rPr lang="de-DE"/>
              <a:t>Follow SaaS </a:t>
            </a:r>
            <a:r>
              <a:rPr lang="de-DE" err="1"/>
              <a:t>first</a:t>
            </a:r>
            <a:r>
              <a:rPr lang="de-DE"/>
              <a:t> Approach: </a:t>
            </a:r>
            <a:r>
              <a:rPr lang="de-DE" err="1"/>
              <a:t>Embrace</a:t>
            </a:r>
            <a:r>
              <a:rPr lang="de-DE"/>
              <a:t> a Software-</a:t>
            </a:r>
            <a:r>
              <a:rPr lang="de-DE" err="1"/>
              <a:t>as</a:t>
            </a:r>
            <a:r>
              <a:rPr lang="de-DE"/>
              <a:t>-a-Service (SaaS) </a:t>
            </a:r>
            <a:r>
              <a:rPr lang="de-DE" err="1"/>
              <a:t>mindset</a:t>
            </a:r>
            <a:r>
              <a:rPr lang="de-DE"/>
              <a:t>, </a:t>
            </a:r>
            <a:r>
              <a:rPr lang="de-DE" err="1"/>
              <a:t>reducing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overhead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maintenance</a:t>
            </a:r>
            <a:r>
              <a:rPr lang="de-DE"/>
              <a:t> and </a:t>
            </a:r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focus</a:t>
            </a:r>
            <a:r>
              <a:rPr lang="de-DE"/>
              <a:t> on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core</a:t>
            </a:r>
            <a:r>
              <a:rPr lang="de-DE"/>
              <a:t> </a:t>
            </a:r>
            <a:r>
              <a:rPr lang="de-DE" err="1"/>
              <a:t>business</a:t>
            </a:r>
            <a:r>
              <a:rPr lang="de-DE"/>
              <a:t>.</a:t>
            </a:r>
          </a:p>
          <a:p>
            <a:r>
              <a:rPr lang="de-DE"/>
              <a:t>Prevent Vendor Lock-in: </a:t>
            </a:r>
            <a:r>
              <a:rPr lang="de-DE" err="1"/>
              <a:t>Embrace</a:t>
            </a:r>
            <a:r>
              <a:rPr lang="de-DE"/>
              <a:t> a flexible </a:t>
            </a:r>
            <a:r>
              <a:rPr lang="de-DE" err="1"/>
              <a:t>ecosystem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a diverse </a:t>
            </a:r>
            <a:r>
              <a:rPr lang="de-DE" err="1"/>
              <a:t>range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solutions</a:t>
            </a:r>
            <a:r>
              <a:rPr lang="de-DE"/>
              <a:t>, </a:t>
            </a:r>
            <a:r>
              <a:rPr lang="de-DE" err="1"/>
              <a:t>avoiding</a:t>
            </a:r>
            <a:r>
              <a:rPr lang="de-DE"/>
              <a:t> </a:t>
            </a:r>
            <a:r>
              <a:rPr lang="de-DE" err="1"/>
              <a:t>dependency</a:t>
            </a:r>
            <a:r>
              <a:rPr lang="de-DE"/>
              <a:t> on a </a:t>
            </a:r>
            <a:r>
              <a:rPr lang="de-DE" err="1"/>
              <a:t>single</a:t>
            </a:r>
            <a:r>
              <a:rPr lang="de-DE"/>
              <a:t> </a:t>
            </a:r>
            <a:r>
              <a:rPr lang="de-DE" err="1"/>
              <a:t>vendor</a:t>
            </a:r>
            <a:r>
              <a:rPr lang="de-DE"/>
              <a:t> and </a:t>
            </a:r>
            <a:r>
              <a:rPr lang="de-DE" err="1"/>
              <a:t>ensuring</a:t>
            </a:r>
            <a:r>
              <a:rPr lang="de-DE"/>
              <a:t> </a:t>
            </a:r>
            <a:r>
              <a:rPr lang="de-DE" err="1"/>
              <a:t>freedom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choice</a:t>
            </a:r>
            <a:r>
              <a:rPr lang="de-DE"/>
              <a:t>.</a:t>
            </a:r>
          </a:p>
          <a:p>
            <a:endParaRPr lang="de-DE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32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9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03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Notes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744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6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17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M3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42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28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1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1748C-3467-4537-941B-4789AB28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017008-DA52-4CDC-B8A0-105E761A17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25FDCD-D0BA-4914-ABE8-B825F951B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3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Siemens Cognisphere (softened) on Deep Blue Petrol gradient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9D1AAF0D-4A9E-40F3-93B2-30F9233AA9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19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EAB7FE4-7885-64E1-7431-C2F632EF32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45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64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79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M3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72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8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0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2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1748C-3467-4537-941B-4789AB28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017008-DA52-4CDC-B8A0-105E761A17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25FDCD-D0BA-4914-ABE8-B825F951B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2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Siemens Cognisphere (softened) on Deep Blue Petrol gradient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9D1AAF0D-4A9E-40F3-93B2-30F9233AA9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67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EAB7FE4-7885-64E1-7431-C2F632EF32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41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89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98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Siemens Cognisphere on Deep Blue backgroun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68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Siemens Cognisphere (softened) on Deep Blue backgroun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793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56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able of contents / 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550E53B-2CA0-4DF9-B7E9-00E2F7C184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550E53B-2CA0-4DF9-B7E9-00E2F7C184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>
            <a:extLst>
              <a:ext uri="{FF2B5EF4-FFF2-40B4-BE49-F238E27FC236}">
                <a16:creationId xmlns:a16="http://schemas.microsoft.com/office/drawing/2014/main" id="{301C1104-4747-4FB7-BDCA-196A3B0AA9AF}"/>
              </a:ext>
            </a:extLst>
          </p:cNvPr>
          <p:cNvSpPr/>
          <p:nvPr userDrawn="1"/>
        </p:nvSpPr>
        <p:spPr>
          <a:xfrm>
            <a:off x="-2" y="-7703"/>
            <a:ext cx="12192000" cy="6865703"/>
          </a:xfrm>
          <a:prstGeom prst="rect">
            <a:avLst/>
          </a:prstGeom>
          <a:gradFill>
            <a:gsLst>
              <a:gs pos="0">
                <a:srgbClr val="00464F"/>
              </a:gs>
              <a:gs pos="68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2023 | LDF Data Platform | 2023-09-07</a:t>
            </a:r>
            <a:endParaRPr lang="en-GB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11162" y="6310800"/>
            <a:ext cx="648000" cy="5472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Page </a:t>
            </a:r>
            <a:fld id="{15EBE321-CBB1-4E91-BD14-37C8D44326F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8E8D2B16-FA25-402C-9540-7E33FC6BE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478800"/>
            <a:ext cx="9863997" cy="576000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0792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6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66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M3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49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9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23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6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1748C-3467-4537-941B-4789AB28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017008-DA52-4CDC-B8A0-105E761A17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25FDCD-D0BA-4914-ABE8-B825F951B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Siemens Cognisphere (softened) on Deep Blue Petrol gradient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692" y="0"/>
            <a:ext cx="12190615" cy="6858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9D1AAF0D-4A9E-40F3-93B2-30F9233AA9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60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82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EAB7FE4-7885-64E1-7431-C2F632EF32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81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able of contents / 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550E53B-2CA0-4DF9-B7E9-00E2F7C184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3" imgH="353" progId="TCLayout.ActiveDocument.1">
                  <p:embed/>
                </p:oleObj>
              </mc:Choice>
              <mc:Fallback>
                <p:oleObj name="think-cell Folie" r:id="rId3" imgW="353" imgH="353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550E53B-2CA0-4DF9-B7E9-00E2F7C184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hteck 15">
            <a:extLst>
              <a:ext uri="{FF2B5EF4-FFF2-40B4-BE49-F238E27FC236}">
                <a16:creationId xmlns:a16="http://schemas.microsoft.com/office/drawing/2014/main" id="{301C1104-4747-4FB7-BDCA-196A3B0AA9AF}"/>
              </a:ext>
            </a:extLst>
          </p:cNvPr>
          <p:cNvSpPr/>
          <p:nvPr userDrawn="1"/>
        </p:nvSpPr>
        <p:spPr>
          <a:xfrm>
            <a:off x="-2" y="-7703"/>
            <a:ext cx="12192000" cy="6865703"/>
          </a:xfrm>
          <a:prstGeom prst="rect">
            <a:avLst/>
          </a:prstGeom>
          <a:gradFill>
            <a:gsLst>
              <a:gs pos="0">
                <a:srgbClr val="00464F"/>
              </a:gs>
              <a:gs pos="68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Restricted | © Siemens 2022 | DEMA | 2022-03-11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11162" y="6310800"/>
            <a:ext cx="648000" cy="5472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Page </a:t>
            </a:r>
            <a:fld id="{15EBE321-CBB1-4E91-BD14-37C8D44326F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73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6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slideLayout" Target="../slideLayouts/slideLayout22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ags" Target="../tags/tag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oleObject" Target="../embeddings/oleObject5.bin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92956A1-B1FC-440C-A8F1-C53E90F7E3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16791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353" imgH="353" progId="TCLayout.ActiveDocument.1">
                  <p:embed/>
                </p:oleObj>
              </mc:Choice>
              <mc:Fallback>
                <p:oleObj name="think-cell Folie" r:id="rId13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92956A1-B1FC-440C-A8F1-C53E90F7E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E475976D-8894-4D21-B10F-9230E4F3F162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de-DE" sz="20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0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80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92956A1-B1FC-440C-A8F1-C53E90F7E3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516791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53" imgH="353" progId="TCLayout.ActiveDocument.1">
                  <p:embed/>
                </p:oleObj>
              </mc:Choice>
              <mc:Fallback>
                <p:oleObj name="think-cell Folie" r:id="rId14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92956A1-B1FC-440C-A8F1-C53E90F7E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E475976D-8894-4D21-B10F-9230E4F3F162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de-DE" sz="20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0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4A88BD8-614D-4475-971E-E3AA2243EB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647252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592" imgH="591" progId="TCLayout.ActiveDocument.1">
                  <p:embed/>
                </p:oleObj>
              </mc:Choice>
              <mc:Fallback>
                <p:oleObj name="think-cell Folie" r:id="rId7" imgW="592" imgH="591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4A88BD8-614D-4475-971E-E3AA2243E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92956A1-B1FC-440C-A8F1-C53E90F7E3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16791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5" imgW="353" imgH="353" progId="TCLayout.ActiveDocument.1">
                  <p:embed/>
                </p:oleObj>
              </mc:Choice>
              <mc:Fallback>
                <p:oleObj name="think-cell Folie" r:id="rId15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92956A1-B1FC-440C-A8F1-C53E90F7E3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E475976D-8894-4D21-B10F-9230E4F3F162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de-DE" sz="20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2023 | LDF Data Platform | 2023-09-07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4.png"/><Relationship Id="rId18" Type="http://schemas.openxmlformats.org/officeDocument/2006/relationships/image" Target="../media/image5.png"/><Relationship Id="rId26" Type="http://schemas.openxmlformats.org/officeDocument/2006/relationships/image" Target="../media/image43.png"/><Relationship Id="rId3" Type="http://schemas.openxmlformats.org/officeDocument/2006/relationships/image" Target="../media/image23.jpeg"/><Relationship Id="rId21" Type="http://schemas.microsoft.com/office/2007/relationships/hdphoto" Target="../media/hdphoto5.wdp"/><Relationship Id="rId7" Type="http://schemas.openxmlformats.org/officeDocument/2006/relationships/image" Target="../media/image29.png"/><Relationship Id="rId12" Type="http://schemas.microsoft.com/office/2007/relationships/hdphoto" Target="../media/hdphoto3.wdp"/><Relationship Id="rId17" Type="http://schemas.openxmlformats.org/officeDocument/2006/relationships/image" Target="../media/image37.png"/><Relationship Id="rId25" Type="http://schemas.openxmlformats.org/officeDocument/2006/relationships/image" Target="../media/image4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20" Type="http://schemas.openxmlformats.org/officeDocument/2006/relationships/image" Target="../media/image38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24" Type="http://schemas.openxmlformats.org/officeDocument/2006/relationships/image" Target="../media/image41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6.svg"/><Relationship Id="rId31" Type="http://schemas.openxmlformats.org/officeDocument/2006/relationships/image" Target="../media/image48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microsoft.com/office/2007/relationships/hdphoto" Target="../media/hdphoto4.wdp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4.png"/><Relationship Id="rId18" Type="http://schemas.openxmlformats.org/officeDocument/2006/relationships/image" Target="../media/image5.png"/><Relationship Id="rId26" Type="http://schemas.openxmlformats.org/officeDocument/2006/relationships/image" Target="../media/image43.png"/><Relationship Id="rId3" Type="http://schemas.openxmlformats.org/officeDocument/2006/relationships/image" Target="../media/image23.jpeg"/><Relationship Id="rId21" Type="http://schemas.microsoft.com/office/2007/relationships/hdphoto" Target="../media/hdphoto5.wdp"/><Relationship Id="rId7" Type="http://schemas.openxmlformats.org/officeDocument/2006/relationships/image" Target="../media/image29.png"/><Relationship Id="rId12" Type="http://schemas.microsoft.com/office/2007/relationships/hdphoto" Target="../media/hdphoto3.wdp"/><Relationship Id="rId17" Type="http://schemas.openxmlformats.org/officeDocument/2006/relationships/image" Target="../media/image37.png"/><Relationship Id="rId25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20" Type="http://schemas.openxmlformats.org/officeDocument/2006/relationships/image" Target="../media/image38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24" Type="http://schemas.openxmlformats.org/officeDocument/2006/relationships/image" Target="../media/image41.png"/><Relationship Id="rId32" Type="http://schemas.openxmlformats.org/officeDocument/2006/relationships/hyperlink" Target="https://wiki.siemens.com/pages/viewpage.action?pageId=371235852" TargetMode="External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6.svg"/><Relationship Id="rId31" Type="http://schemas.openxmlformats.org/officeDocument/2006/relationships/image" Target="../media/image48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microsoft.com/office/2007/relationships/hdphoto" Target="../media/hdphoto4.wdp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38.png"/><Relationship Id="rId18" Type="http://schemas.openxmlformats.org/officeDocument/2006/relationships/image" Target="../media/image58.png"/><Relationship Id="rId3" Type="http://schemas.openxmlformats.org/officeDocument/2006/relationships/image" Target="../media/image50.png"/><Relationship Id="rId7" Type="http://schemas.openxmlformats.org/officeDocument/2006/relationships/image" Target="../media/image33.png"/><Relationship Id="rId12" Type="http://schemas.openxmlformats.org/officeDocument/2006/relationships/image" Target="../media/image56.svg"/><Relationship Id="rId17" Type="http://schemas.openxmlformats.org/officeDocument/2006/relationships/image" Target="../media/image57.png"/><Relationship Id="rId2" Type="http://schemas.openxmlformats.org/officeDocument/2006/relationships/image" Target="../media/image49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39.png"/><Relationship Id="rId10" Type="http://schemas.openxmlformats.org/officeDocument/2006/relationships/image" Target="../media/image54.svg"/><Relationship Id="rId19" Type="http://schemas.openxmlformats.org/officeDocument/2006/relationships/image" Target="../media/image59.png"/><Relationship Id="rId4" Type="http://schemas.openxmlformats.org/officeDocument/2006/relationships/image" Target="../media/image51.png"/><Relationship Id="rId9" Type="http://schemas.openxmlformats.org/officeDocument/2006/relationships/image" Target="../media/image53.png"/><Relationship Id="rId14" Type="http://schemas.microsoft.com/office/2007/relationships/hdphoto" Target="../media/hdphoto5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18" Type="http://schemas.microsoft.com/office/2007/relationships/hdphoto" Target="../media/hdphoto3.wdp"/><Relationship Id="rId26" Type="http://schemas.openxmlformats.org/officeDocument/2006/relationships/image" Target="../media/image74.png"/><Relationship Id="rId3" Type="http://schemas.openxmlformats.org/officeDocument/2006/relationships/image" Target="../media/image40.png"/><Relationship Id="rId21" Type="http://schemas.openxmlformats.org/officeDocument/2006/relationships/image" Target="../media/image72.png"/><Relationship Id="rId34" Type="http://schemas.openxmlformats.org/officeDocument/2006/relationships/image" Target="../media/image50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52.png"/><Relationship Id="rId2" Type="http://schemas.openxmlformats.org/officeDocument/2006/relationships/image" Target="../media/image39.png"/><Relationship Id="rId16" Type="http://schemas.openxmlformats.org/officeDocument/2006/relationships/image" Target="../media/image32.png"/><Relationship Id="rId20" Type="http://schemas.openxmlformats.org/officeDocument/2006/relationships/image" Target="../media/image71.svg"/><Relationship Id="rId29" Type="http://schemas.openxmlformats.org/officeDocument/2006/relationships/image" Target="../media/image77.sv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11" Type="http://schemas.openxmlformats.org/officeDocument/2006/relationships/image" Target="../media/image65.png"/><Relationship Id="rId24" Type="http://schemas.openxmlformats.org/officeDocument/2006/relationships/image" Target="../media/image36.png"/><Relationship Id="rId32" Type="http://schemas.openxmlformats.org/officeDocument/2006/relationships/image" Target="../media/image51.png"/><Relationship Id="rId5" Type="http://schemas.openxmlformats.org/officeDocument/2006/relationships/image" Target="../media/image38.png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image" Target="../media/image76.png"/><Relationship Id="rId10" Type="http://schemas.openxmlformats.org/officeDocument/2006/relationships/image" Target="../media/image64.svg"/><Relationship Id="rId19" Type="http://schemas.openxmlformats.org/officeDocument/2006/relationships/image" Target="../media/image70.png"/><Relationship Id="rId31" Type="http://schemas.openxmlformats.org/officeDocument/2006/relationships/image" Target="../media/image79.svg"/><Relationship Id="rId4" Type="http://schemas.openxmlformats.org/officeDocument/2006/relationships/image" Target="../media/image60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26.png"/><Relationship Id="rId27" Type="http://schemas.openxmlformats.org/officeDocument/2006/relationships/image" Target="../media/image75.svg"/><Relationship Id="rId30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svg"/><Relationship Id="rId3" Type="http://schemas.openxmlformats.org/officeDocument/2006/relationships/image" Target="../media/image81.svg"/><Relationship Id="rId7" Type="http://schemas.openxmlformats.org/officeDocument/2006/relationships/image" Target="../media/image85.svg"/><Relationship Id="rId12" Type="http://schemas.openxmlformats.org/officeDocument/2006/relationships/image" Target="../media/image90.png"/><Relationship Id="rId17" Type="http://schemas.openxmlformats.org/officeDocument/2006/relationships/image" Target="../media/image95.sv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svg"/><Relationship Id="rId5" Type="http://schemas.openxmlformats.org/officeDocument/2006/relationships/image" Target="../media/image83.svg"/><Relationship Id="rId15" Type="http://schemas.openxmlformats.org/officeDocument/2006/relationships/image" Target="../media/image93.sv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svg"/><Relationship Id="rId14" Type="http://schemas.openxmlformats.org/officeDocument/2006/relationships/image" Target="../media/image9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svg"/><Relationship Id="rId3" Type="http://schemas.openxmlformats.org/officeDocument/2006/relationships/image" Target="../media/image97.svg"/><Relationship Id="rId7" Type="http://schemas.openxmlformats.org/officeDocument/2006/relationships/image" Target="../media/image99.svg"/><Relationship Id="rId12" Type="http://schemas.openxmlformats.org/officeDocument/2006/relationships/image" Target="../media/image10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svg"/><Relationship Id="rId5" Type="http://schemas.openxmlformats.org/officeDocument/2006/relationships/image" Target="../media/image42.svg"/><Relationship Id="rId10" Type="http://schemas.openxmlformats.org/officeDocument/2006/relationships/image" Target="../media/image102.png"/><Relationship Id="rId4" Type="http://schemas.openxmlformats.org/officeDocument/2006/relationships/image" Target="../media/image41.png"/><Relationship Id="rId9" Type="http://schemas.openxmlformats.org/officeDocument/2006/relationships/image" Target="../media/image101.svg"/><Relationship Id="rId14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jpeg"/><Relationship Id="rId4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13" Type="http://schemas.openxmlformats.org/officeDocument/2006/relationships/image" Target="../media/image11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3.png"/><Relationship Id="rId12" Type="http://schemas.openxmlformats.org/officeDocument/2006/relationships/image" Target="../media/image118.svg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122.svg"/><Relationship Id="rId1" Type="http://schemas.openxmlformats.org/officeDocument/2006/relationships/tags" Target="../tags/tag17.xml"/><Relationship Id="rId6" Type="http://schemas.openxmlformats.org/officeDocument/2006/relationships/image" Target="../media/image112.jpeg"/><Relationship Id="rId11" Type="http://schemas.openxmlformats.org/officeDocument/2006/relationships/image" Target="../media/image117.png"/><Relationship Id="rId5" Type="http://schemas.openxmlformats.org/officeDocument/2006/relationships/image" Target="../media/image14.emf"/><Relationship Id="rId15" Type="http://schemas.openxmlformats.org/officeDocument/2006/relationships/image" Target="../media/image121.png"/><Relationship Id="rId10" Type="http://schemas.openxmlformats.org/officeDocument/2006/relationships/image" Target="../media/image116.sv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15.png"/><Relationship Id="rId14" Type="http://schemas.openxmlformats.org/officeDocument/2006/relationships/image" Target="../media/image12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DE3690D2-D33A-9D31-50C3-E92683EA9F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4" progId="TCLayout.ActiveDocument.1">
                  <p:embed/>
                </p:oleObj>
              </mc:Choice>
              <mc:Fallback>
                <p:oleObj name="think-cell Folie" r:id="rId4" imgW="425" imgH="42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DE3690D2-D33A-9D31-50C3-E92683EA9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243E0C1-F080-2C1C-5123-6AAFD8AD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2609004"/>
            <a:ext cx="11376788" cy="1107996"/>
          </a:xfrm>
        </p:spPr>
        <p:txBody>
          <a:bodyPr vert="horz"/>
          <a:lstStyle/>
          <a:p>
            <a:r>
              <a:rPr lang="en-US" sz="2400"/>
              <a:t>LDF Data Platform</a:t>
            </a:r>
            <a:br>
              <a:rPr lang="en-US"/>
            </a:br>
            <a:r>
              <a:rPr lang="en-US" sz="4800"/>
              <a:t>LDF Core Team Meeting</a:t>
            </a:r>
            <a:endParaRPr lang="en-US" sz="42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00CB37-83AD-BF74-E36D-C0916603E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464" y="3946874"/>
            <a:ext cx="9288000" cy="1930398"/>
          </a:xfrm>
        </p:spPr>
        <p:txBody>
          <a:bodyPr/>
          <a:lstStyle/>
          <a:p>
            <a:r>
              <a:rPr lang="en-US" sz="1800"/>
              <a:t>8</a:t>
            </a:r>
            <a:r>
              <a:rPr lang="en-US" sz="1800" baseline="30000"/>
              <a:t>th</a:t>
            </a:r>
            <a:r>
              <a:rPr lang="en-US" sz="1800"/>
              <a:t> September 2023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4CAEBF-C418-545A-4FC4-8B3105D672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</p:spTree>
    <p:extLst>
      <p:ext uri="{BB962C8B-B14F-4D97-AF65-F5344CB8AC3E}">
        <p14:creationId xmlns:p14="http://schemas.microsoft.com/office/powerpoint/2010/main" val="214389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61EF739-A413-4797-A548-05DA775739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61EF739-A413-4797-A548-05DA7757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317344A-4228-48BC-84B2-D538290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D595A9-84F3-4F4A-AB23-2DF3CCB8E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AA02293-84DC-6B93-5996-E6F61CA3F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E97C8E7-1B81-BC58-49CB-1BEA39F2FD05}"/>
              </a:ext>
            </a:extLst>
          </p:cNvPr>
          <p:cNvGrpSpPr/>
          <p:nvPr/>
        </p:nvGrpSpPr>
        <p:grpSpPr>
          <a:xfrm>
            <a:off x="517900" y="2868658"/>
            <a:ext cx="9862738" cy="360000"/>
            <a:chOff x="517900" y="1551144"/>
            <a:chExt cx="9862738" cy="360000"/>
          </a:xfrm>
        </p:grpSpPr>
        <p:sp>
          <p:nvSpPr>
            <p:cNvPr id="27" name="Textfeld 62">
              <a:extLst>
                <a:ext uri="{FF2B5EF4-FFF2-40B4-BE49-F238E27FC236}">
                  <a16:creationId xmlns:a16="http://schemas.microsoft.com/office/drawing/2014/main" id="{92C27DB3-4FB7-4514-863F-61CA8D1589EC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1551144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Synergies of LDF Data Platform within SDC</a:t>
              </a:r>
            </a:p>
          </p:txBody>
        </p:sp>
        <p:sp>
          <p:nvSpPr>
            <p:cNvPr id="29" name="Rectangle 1276">
              <a:extLst>
                <a:ext uri="{FF2B5EF4-FFF2-40B4-BE49-F238E27FC236}">
                  <a16:creationId xmlns:a16="http://schemas.microsoft.com/office/drawing/2014/main" id="{B64AA73B-0E17-4EAE-A6E8-D88A90808A6C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1551238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2</a:t>
              </a: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934FAF27-82B2-4A89-88EA-989F3D578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1605144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D3C9A20-B32C-707F-466E-D8E73DACFD9D}"/>
              </a:ext>
            </a:extLst>
          </p:cNvPr>
          <p:cNvGrpSpPr/>
          <p:nvPr/>
        </p:nvGrpSpPr>
        <p:grpSpPr>
          <a:xfrm>
            <a:off x="517900" y="3701215"/>
            <a:ext cx="9862738" cy="360000"/>
            <a:chOff x="517900" y="2500572"/>
            <a:chExt cx="9862738" cy="360000"/>
          </a:xfrm>
        </p:grpSpPr>
        <p:sp>
          <p:nvSpPr>
            <p:cNvPr id="36" name="Textfeld 62">
              <a:extLst>
                <a:ext uri="{FF2B5EF4-FFF2-40B4-BE49-F238E27FC236}">
                  <a16:creationId xmlns:a16="http://schemas.microsoft.com/office/drawing/2014/main" id="{87F6E1BC-9240-4085-8F3D-5B74167AF972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2500572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>
                  <a:latin typeface="+mj-lt"/>
                  <a:cs typeface="Segoe UI Semibold" panose="020B0702040204020203" pitchFamily="34" charset="0"/>
                </a:rPr>
                <a:t>Introduction to Hybrid Architecture Concept</a:t>
              </a:r>
            </a:p>
          </p:txBody>
        </p:sp>
        <p:sp>
          <p:nvSpPr>
            <p:cNvPr id="37" name="Rectangle 1276">
              <a:extLst>
                <a:ext uri="{FF2B5EF4-FFF2-40B4-BE49-F238E27FC236}">
                  <a16:creationId xmlns:a16="http://schemas.microsoft.com/office/drawing/2014/main" id="{195F8945-19E3-41FC-A83D-0A0281CC5439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2500666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3</a:t>
              </a:r>
            </a:p>
          </p:txBody>
        </p: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839EA111-559F-4014-AEDD-5BCE838DD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2554572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FACE1E9-213D-C7CF-7340-1D88EAAFDABE}"/>
              </a:ext>
            </a:extLst>
          </p:cNvPr>
          <p:cNvGrpSpPr/>
          <p:nvPr/>
        </p:nvGrpSpPr>
        <p:grpSpPr>
          <a:xfrm>
            <a:off x="517900" y="4533772"/>
            <a:ext cx="9862738" cy="360000"/>
            <a:chOff x="517900" y="3450000"/>
            <a:chExt cx="9862738" cy="360000"/>
          </a:xfrm>
        </p:grpSpPr>
        <p:sp>
          <p:nvSpPr>
            <p:cNvPr id="41" name="Textfeld 62">
              <a:extLst>
                <a:ext uri="{FF2B5EF4-FFF2-40B4-BE49-F238E27FC236}">
                  <a16:creationId xmlns:a16="http://schemas.microsoft.com/office/drawing/2014/main" id="{878969A8-2ECE-4A56-9F38-EF222D6C5DA7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3450000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defRPr/>
              </a:pPr>
              <a:r>
                <a:rPr lang="en-US" sz="1600" b="1">
                  <a:latin typeface="+mj-lt"/>
                  <a:cs typeface="Segoe UI Semibold" panose="020B0702040204020203" pitchFamily="34" charset="0"/>
                </a:rPr>
                <a:t>Project Ambition Fiscal Year 2024</a:t>
              </a:r>
            </a:p>
          </p:txBody>
        </p:sp>
        <p:sp>
          <p:nvSpPr>
            <p:cNvPr id="42" name="Rectangle 1276">
              <a:extLst>
                <a:ext uri="{FF2B5EF4-FFF2-40B4-BE49-F238E27FC236}">
                  <a16:creationId xmlns:a16="http://schemas.microsoft.com/office/drawing/2014/main" id="{DC9C4AB3-F7AA-4950-B479-83167D57637E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3450094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4</a:t>
              </a:r>
            </a:p>
          </p:txBody>
        </p: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F38A2C1A-FBCE-4546-98CD-1BA78B18BA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3504000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923D8CD-4364-F92C-265C-63FD39D708ED}"/>
              </a:ext>
            </a:extLst>
          </p:cNvPr>
          <p:cNvGrpSpPr/>
          <p:nvPr/>
        </p:nvGrpSpPr>
        <p:grpSpPr>
          <a:xfrm>
            <a:off x="517900" y="2036101"/>
            <a:ext cx="9862738" cy="360000"/>
            <a:chOff x="517900" y="1551144"/>
            <a:chExt cx="9862738" cy="360000"/>
          </a:xfrm>
        </p:grpSpPr>
        <p:sp>
          <p:nvSpPr>
            <p:cNvPr id="17" name="Textfeld 62">
              <a:extLst>
                <a:ext uri="{FF2B5EF4-FFF2-40B4-BE49-F238E27FC236}">
                  <a16:creationId xmlns:a16="http://schemas.microsoft.com/office/drawing/2014/main" id="{B5743862-7809-86FF-D3CA-2F8BAF758FEC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1551144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>
                  <a:solidFill>
                    <a:prstClr val="white"/>
                  </a:solidFill>
                  <a:latin typeface="Arial"/>
                </a:rPr>
                <a:t>Status Update LDF Data Platform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Rectangle 1276">
              <a:extLst>
                <a:ext uri="{FF2B5EF4-FFF2-40B4-BE49-F238E27FC236}">
                  <a16:creationId xmlns:a16="http://schemas.microsoft.com/office/drawing/2014/main" id="{C598E224-8417-EDB5-45DA-A7948C228635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1551238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1</a:t>
              </a:r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967B95A-4441-910A-5FA9-9FD67F52A7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1605144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10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61EF739-A413-4797-A548-05DA775739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61EF739-A413-4797-A548-05DA7757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317344A-4228-48BC-84B2-D538290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D595A9-84F3-4F4A-AB23-2DF3CCB8E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AA02293-84DC-6B93-5996-E6F61CA3F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7" name="Textfeld 62">
            <a:extLst>
              <a:ext uri="{FF2B5EF4-FFF2-40B4-BE49-F238E27FC236}">
                <a16:creationId xmlns:a16="http://schemas.microsoft.com/office/drawing/2014/main" id="{92C27DB3-4FB7-4514-863F-61CA8D1589EC}"/>
              </a:ext>
            </a:extLst>
          </p:cNvPr>
          <p:cNvSpPr txBox="1">
            <a:spLocks/>
          </p:cNvSpPr>
          <p:nvPr/>
        </p:nvSpPr>
        <p:spPr>
          <a:xfrm>
            <a:off x="1164641" y="2868658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Synergies of LDF Data Platform within SDC</a:t>
            </a:r>
          </a:p>
        </p:txBody>
      </p:sp>
      <p:sp>
        <p:nvSpPr>
          <p:cNvPr id="29" name="Rectangle 1276">
            <a:extLst>
              <a:ext uri="{FF2B5EF4-FFF2-40B4-BE49-F238E27FC236}">
                <a16:creationId xmlns:a16="http://schemas.microsoft.com/office/drawing/2014/main" id="{B64AA73B-0E17-4EAE-A6E8-D88A90808A6C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868752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2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34FAF27-82B2-4A89-88EA-989F3D578D53}"/>
              </a:ext>
            </a:extLst>
          </p:cNvPr>
          <p:cNvCxnSpPr>
            <a:cxnSpLocks/>
          </p:cNvCxnSpPr>
          <p:nvPr/>
        </p:nvCxnSpPr>
        <p:spPr>
          <a:xfrm flipH="1">
            <a:off x="983432" y="2922658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62">
            <a:extLst>
              <a:ext uri="{FF2B5EF4-FFF2-40B4-BE49-F238E27FC236}">
                <a16:creationId xmlns:a16="http://schemas.microsoft.com/office/drawing/2014/main" id="{87F6E1BC-9240-4085-8F3D-5B74167AF972}"/>
              </a:ext>
            </a:extLst>
          </p:cNvPr>
          <p:cNvSpPr txBox="1">
            <a:spLocks/>
          </p:cNvSpPr>
          <p:nvPr/>
        </p:nvSpPr>
        <p:spPr>
          <a:xfrm>
            <a:off x="1164641" y="3701215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Introduction to Hybrid Architecture Concept</a:t>
            </a:r>
          </a:p>
        </p:txBody>
      </p:sp>
      <p:sp>
        <p:nvSpPr>
          <p:cNvPr id="37" name="Rectangle 1276">
            <a:extLst>
              <a:ext uri="{FF2B5EF4-FFF2-40B4-BE49-F238E27FC236}">
                <a16:creationId xmlns:a16="http://schemas.microsoft.com/office/drawing/2014/main" id="{195F8945-19E3-41FC-A83D-0A0281CC5439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3701309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3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39EA111-559F-4014-AEDD-5BCE838DDA36}"/>
              </a:ext>
            </a:extLst>
          </p:cNvPr>
          <p:cNvCxnSpPr>
            <a:cxnSpLocks/>
          </p:cNvCxnSpPr>
          <p:nvPr/>
        </p:nvCxnSpPr>
        <p:spPr>
          <a:xfrm flipH="1">
            <a:off x="983432" y="3755215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62">
            <a:extLst>
              <a:ext uri="{FF2B5EF4-FFF2-40B4-BE49-F238E27FC236}">
                <a16:creationId xmlns:a16="http://schemas.microsoft.com/office/drawing/2014/main" id="{878969A8-2ECE-4A56-9F38-EF222D6C5DA7}"/>
              </a:ext>
            </a:extLst>
          </p:cNvPr>
          <p:cNvSpPr txBox="1">
            <a:spLocks/>
          </p:cNvSpPr>
          <p:nvPr/>
        </p:nvSpPr>
        <p:spPr>
          <a:xfrm>
            <a:off x="1164641" y="4533772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Project Ambition Fiscal Year 2024</a:t>
            </a:r>
          </a:p>
        </p:txBody>
      </p:sp>
      <p:sp>
        <p:nvSpPr>
          <p:cNvPr id="42" name="Rectangle 1276">
            <a:extLst>
              <a:ext uri="{FF2B5EF4-FFF2-40B4-BE49-F238E27FC236}">
                <a16:creationId xmlns:a16="http://schemas.microsoft.com/office/drawing/2014/main" id="{DC9C4AB3-F7AA-4950-B479-83167D57637E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4533866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4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38A2C1A-FBCE-4546-98CD-1BA78B18BAFE}"/>
              </a:ext>
            </a:extLst>
          </p:cNvPr>
          <p:cNvCxnSpPr>
            <a:cxnSpLocks/>
          </p:cNvCxnSpPr>
          <p:nvPr/>
        </p:nvCxnSpPr>
        <p:spPr>
          <a:xfrm flipH="1">
            <a:off x="983432" y="4587772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312AFB0-E900-5E64-0EBF-7B4E305EBF36}"/>
              </a:ext>
            </a:extLst>
          </p:cNvPr>
          <p:cNvGrpSpPr/>
          <p:nvPr/>
        </p:nvGrpSpPr>
        <p:grpSpPr>
          <a:xfrm>
            <a:off x="517900" y="2036101"/>
            <a:ext cx="9862738" cy="360000"/>
            <a:chOff x="517900" y="2036101"/>
            <a:chExt cx="9862738" cy="360000"/>
          </a:xfrm>
        </p:grpSpPr>
        <p:sp>
          <p:nvSpPr>
            <p:cNvPr id="17" name="Textfeld 62">
              <a:extLst>
                <a:ext uri="{FF2B5EF4-FFF2-40B4-BE49-F238E27FC236}">
                  <a16:creationId xmlns:a16="http://schemas.microsoft.com/office/drawing/2014/main" id="{B5743862-7809-86FF-D3CA-2F8BAF758FEC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2036101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>
                  <a:solidFill>
                    <a:prstClr val="white"/>
                  </a:solidFill>
                  <a:latin typeface="Arial"/>
                </a:rPr>
                <a:t>Status Update LDF Data Platform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Rectangle 1276">
              <a:extLst>
                <a:ext uri="{FF2B5EF4-FFF2-40B4-BE49-F238E27FC236}">
                  <a16:creationId xmlns:a16="http://schemas.microsoft.com/office/drawing/2014/main" id="{C598E224-8417-EDB5-45DA-A7948C228635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2036195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1</a:t>
              </a:r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967B95A-4441-910A-5FA9-9FD67F52A7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2090101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74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F45C839-36FF-E8C8-A3C5-1CEA7395E472}"/>
              </a:ext>
            </a:extLst>
          </p:cNvPr>
          <p:cNvSpPr/>
          <p:nvPr/>
        </p:nvSpPr>
        <p:spPr>
          <a:xfrm>
            <a:off x="0" y="1401813"/>
            <a:ext cx="12192000" cy="2531187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11" descr="New Macbook Silver.png">
            <a:extLst>
              <a:ext uri="{FF2B5EF4-FFF2-40B4-BE49-F238E27FC236}">
                <a16:creationId xmlns:a16="http://schemas.microsoft.com/office/drawing/2014/main" id="{4EB4511E-A059-858F-B563-156A6460409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028" y="3232613"/>
            <a:ext cx="4863944" cy="2848067"/>
          </a:xfrm>
          <a:prstGeom prst="rect">
            <a:avLst/>
          </a:prstGeom>
        </p:spPr>
      </p:pic>
      <p:sp>
        <p:nvSpPr>
          <p:cNvPr id="362" name="Rechteck 361">
            <a:extLst>
              <a:ext uri="{FF2B5EF4-FFF2-40B4-BE49-F238E27FC236}">
                <a16:creationId xmlns:a16="http://schemas.microsoft.com/office/drawing/2014/main" id="{B320E18F-7908-0E99-8241-1A6D0056CC71}"/>
              </a:ext>
            </a:extLst>
          </p:cNvPr>
          <p:cNvSpPr/>
          <p:nvPr/>
        </p:nvSpPr>
        <p:spPr>
          <a:xfrm>
            <a:off x="4208760" y="3429000"/>
            <a:ext cx="3744000" cy="2376000"/>
          </a:xfrm>
          <a:prstGeom prst="rect">
            <a:avLst/>
          </a:prstGeom>
          <a:solidFill>
            <a:srgbClr val="001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13" name="Grafik 412" descr="Ein Bild, das Screenshot, Schaltung enthält.&#10;&#10;Automatisch generierte Beschreibung">
            <a:extLst>
              <a:ext uri="{FF2B5EF4-FFF2-40B4-BE49-F238E27FC236}">
                <a16:creationId xmlns:a16="http://schemas.microsoft.com/office/drawing/2014/main" id="{1C89B054-9358-9207-4530-D33ED1EB1F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r="11431"/>
          <a:stretch/>
        </p:blipFill>
        <p:spPr>
          <a:xfrm>
            <a:off x="4210860" y="3429000"/>
            <a:ext cx="3739801" cy="2376000"/>
          </a:xfrm>
          <a:prstGeom prst="rect">
            <a:avLst/>
          </a:prstGeom>
        </p:spPr>
      </p:pic>
      <p:pic>
        <p:nvPicPr>
          <p:cNvPr id="414" name="Grafik 413">
            <a:extLst>
              <a:ext uri="{FF2B5EF4-FFF2-40B4-BE49-F238E27FC236}">
                <a16:creationId xmlns:a16="http://schemas.microsoft.com/office/drawing/2014/main" id="{79782813-5456-F5FF-EAEC-7600AB685EFF}"/>
              </a:ext>
            </a:extLst>
          </p:cNvPr>
          <p:cNvPicPr>
            <a:picLocks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4208760" y="3429000"/>
            <a:ext cx="3744000" cy="2376000"/>
          </a:xfrm>
          <a:prstGeom prst="rect">
            <a:avLst/>
          </a:prstGeom>
        </p:spPr>
      </p:pic>
      <p:pic>
        <p:nvPicPr>
          <p:cNvPr id="415" name="Grafik 414">
            <a:extLst>
              <a:ext uri="{FF2B5EF4-FFF2-40B4-BE49-F238E27FC236}">
                <a16:creationId xmlns:a16="http://schemas.microsoft.com/office/drawing/2014/main" id="{5044E422-96A3-C0E6-1D07-1AF4DB9D2AB7}"/>
              </a:ext>
            </a:extLst>
          </p:cNvPr>
          <p:cNvPicPr>
            <a:picLocks/>
          </p:cNvPicPr>
          <p:nvPr/>
        </p:nvPicPr>
        <p:blipFill>
          <a:blip r:embed="rId5">
            <a:alphaModFix amt="16000"/>
          </a:blip>
          <a:srcRect t="20064" b="20064"/>
          <a:stretch>
            <a:fillRect/>
          </a:stretch>
        </p:blipFill>
        <p:spPr>
          <a:xfrm>
            <a:off x="4208761" y="3905718"/>
            <a:ext cx="3743999" cy="1422564"/>
          </a:xfrm>
          <a:custGeom>
            <a:avLst/>
            <a:gdLst>
              <a:gd name="connsiteX0" fmla="*/ 1871999 w 3743999"/>
              <a:gd name="connsiteY0" fmla="*/ 0 h 1422564"/>
              <a:gd name="connsiteX1" fmla="*/ 3743999 w 3743999"/>
              <a:gd name="connsiteY1" fmla="*/ 711282 h 1422564"/>
              <a:gd name="connsiteX2" fmla="*/ 1871999 w 3743999"/>
              <a:gd name="connsiteY2" fmla="*/ 1422564 h 1422564"/>
              <a:gd name="connsiteX3" fmla="*/ 9664 w 3743999"/>
              <a:gd name="connsiteY3" fmla="*/ 784007 h 1422564"/>
              <a:gd name="connsiteX4" fmla="*/ 0 w 3743999"/>
              <a:gd name="connsiteY4" fmla="*/ 711289 h 1422564"/>
              <a:gd name="connsiteX5" fmla="*/ 0 w 3743999"/>
              <a:gd name="connsiteY5" fmla="*/ 711275 h 1422564"/>
              <a:gd name="connsiteX6" fmla="*/ 9664 w 3743999"/>
              <a:gd name="connsiteY6" fmla="*/ 638558 h 1422564"/>
              <a:gd name="connsiteX7" fmla="*/ 1871999 w 3743999"/>
              <a:gd name="connsiteY7" fmla="*/ 0 h 142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3999" h="1422564">
                <a:moveTo>
                  <a:pt x="1871999" y="0"/>
                </a:moveTo>
                <a:cubicBezTo>
                  <a:pt x="2905876" y="0"/>
                  <a:pt x="3743999" y="318452"/>
                  <a:pt x="3743999" y="711282"/>
                </a:cubicBezTo>
                <a:cubicBezTo>
                  <a:pt x="3743999" y="1104112"/>
                  <a:pt x="2905876" y="1422564"/>
                  <a:pt x="1871999" y="1422564"/>
                </a:cubicBezTo>
                <a:cubicBezTo>
                  <a:pt x="902740" y="1422564"/>
                  <a:pt x="105529" y="1142675"/>
                  <a:pt x="9664" y="784007"/>
                </a:cubicBezTo>
                <a:lnTo>
                  <a:pt x="0" y="711289"/>
                </a:lnTo>
                <a:lnTo>
                  <a:pt x="0" y="711275"/>
                </a:lnTo>
                <a:lnTo>
                  <a:pt x="9664" y="638558"/>
                </a:lnTo>
                <a:cubicBezTo>
                  <a:pt x="105529" y="279890"/>
                  <a:pt x="902740" y="0"/>
                  <a:pt x="1871999" y="0"/>
                </a:cubicBezTo>
                <a:close/>
              </a:path>
            </a:pathLst>
          </a:custGeom>
        </p:spPr>
      </p:pic>
      <p:pic>
        <p:nvPicPr>
          <p:cNvPr id="416" name="Grafik 415">
            <a:extLst>
              <a:ext uri="{FF2B5EF4-FFF2-40B4-BE49-F238E27FC236}">
                <a16:creationId xmlns:a16="http://schemas.microsoft.com/office/drawing/2014/main" id="{BD5F5703-6BE5-94FA-A042-7C584E452F52}"/>
              </a:ext>
            </a:extLst>
          </p:cNvPr>
          <p:cNvPicPr>
            <a:picLocks/>
          </p:cNvPicPr>
          <p:nvPr/>
        </p:nvPicPr>
        <p:blipFill>
          <a:blip r:embed="rId5">
            <a:alphaModFix amt="16000"/>
          </a:blip>
          <a:srcRect t="20064" b="20064"/>
          <a:stretch>
            <a:fillRect/>
          </a:stretch>
        </p:blipFill>
        <p:spPr>
          <a:xfrm>
            <a:off x="4208761" y="3905718"/>
            <a:ext cx="3743999" cy="1422564"/>
          </a:xfrm>
          <a:custGeom>
            <a:avLst/>
            <a:gdLst>
              <a:gd name="connsiteX0" fmla="*/ 1871999 w 3743999"/>
              <a:gd name="connsiteY0" fmla="*/ 0 h 1422564"/>
              <a:gd name="connsiteX1" fmla="*/ 3743999 w 3743999"/>
              <a:gd name="connsiteY1" fmla="*/ 711282 h 1422564"/>
              <a:gd name="connsiteX2" fmla="*/ 1871999 w 3743999"/>
              <a:gd name="connsiteY2" fmla="*/ 1422564 h 1422564"/>
              <a:gd name="connsiteX3" fmla="*/ 9664 w 3743999"/>
              <a:gd name="connsiteY3" fmla="*/ 784007 h 1422564"/>
              <a:gd name="connsiteX4" fmla="*/ 0 w 3743999"/>
              <a:gd name="connsiteY4" fmla="*/ 711289 h 1422564"/>
              <a:gd name="connsiteX5" fmla="*/ 0 w 3743999"/>
              <a:gd name="connsiteY5" fmla="*/ 711275 h 1422564"/>
              <a:gd name="connsiteX6" fmla="*/ 9664 w 3743999"/>
              <a:gd name="connsiteY6" fmla="*/ 638558 h 1422564"/>
              <a:gd name="connsiteX7" fmla="*/ 1871999 w 3743999"/>
              <a:gd name="connsiteY7" fmla="*/ 0 h 1422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43999" h="1422564">
                <a:moveTo>
                  <a:pt x="1871999" y="0"/>
                </a:moveTo>
                <a:cubicBezTo>
                  <a:pt x="2905876" y="0"/>
                  <a:pt x="3743999" y="318452"/>
                  <a:pt x="3743999" y="711282"/>
                </a:cubicBezTo>
                <a:cubicBezTo>
                  <a:pt x="3743999" y="1104112"/>
                  <a:pt x="2905876" y="1422564"/>
                  <a:pt x="1871999" y="1422564"/>
                </a:cubicBezTo>
                <a:cubicBezTo>
                  <a:pt x="902740" y="1422564"/>
                  <a:pt x="105529" y="1142675"/>
                  <a:pt x="9664" y="784007"/>
                </a:cubicBezTo>
                <a:lnTo>
                  <a:pt x="0" y="711289"/>
                </a:lnTo>
                <a:lnTo>
                  <a:pt x="0" y="711275"/>
                </a:lnTo>
                <a:lnTo>
                  <a:pt x="9664" y="638558"/>
                </a:lnTo>
                <a:cubicBezTo>
                  <a:pt x="105529" y="279890"/>
                  <a:pt x="902740" y="0"/>
                  <a:pt x="1871999" y="0"/>
                </a:cubicBez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72E8C9-4341-D820-4F2F-1CE0252A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de-DE" sz="1400" b="0">
                <a:solidFill>
                  <a:prstClr val="white"/>
                </a:solidFill>
                <a:latin typeface="Arial"/>
              </a:rPr>
              <a:t>1 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| </a:t>
            </a:r>
            <a:r>
              <a:rPr kumimoji="0" lang="nn-NO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Status Update LDF Data Platform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/>
              <a:t>Becoming a Data Driven Company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4F1D95-E3E2-9BAE-3865-AF47D40222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LDF Data Platform | 2023-09-07</a:t>
            </a:r>
          </a:p>
        </p:txBody>
      </p:sp>
      <p:sp>
        <p:nvSpPr>
          <p:cNvPr id="717" name="Foliennummernplatzhalter 716">
            <a:extLst>
              <a:ext uri="{FF2B5EF4-FFF2-40B4-BE49-F238E27FC236}">
                <a16:creationId xmlns:a16="http://schemas.microsoft.com/office/drawing/2014/main" id="{079174AA-804C-D319-C3D3-F2C244CFF7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D8D35EA-2C61-3239-C051-BB429640D72F}"/>
              </a:ext>
            </a:extLst>
          </p:cNvPr>
          <p:cNvSpPr txBox="1"/>
          <p:nvPr/>
        </p:nvSpPr>
        <p:spPr>
          <a:xfrm>
            <a:off x="4494220" y="1845000"/>
            <a:ext cx="3203569" cy="261610"/>
          </a:xfrm>
          <a:prstGeom prst="rect">
            <a:avLst/>
          </a:prstGeom>
          <a:noFill/>
        </p:spPr>
        <p:txBody>
          <a:bodyPr wrap="none" lIns="45720" tIns="22860" rIns="45720" bIns="2286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Montserrat Semi" charset="0"/>
                <a:cs typeface="Montserrat Semi" charset="0"/>
              </a:rPr>
              <a:t>THE LDF DATA PLATFORM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36EEEFB-E094-B941-48DB-99037563D002}"/>
              </a:ext>
            </a:extLst>
          </p:cNvPr>
          <p:cNvSpPr txBox="1"/>
          <p:nvPr/>
        </p:nvSpPr>
        <p:spPr>
          <a:xfrm>
            <a:off x="2283592" y="2174843"/>
            <a:ext cx="7624843" cy="1031051"/>
          </a:xfrm>
          <a:prstGeom prst="rect">
            <a:avLst/>
          </a:prstGeom>
          <a:noFill/>
        </p:spPr>
        <p:txBody>
          <a:bodyPr wrap="none" lIns="45720" tIns="22860" rIns="45720" bIns="2286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3F3F0"/>
                </a:solidFill>
                <a:effectLst/>
                <a:uLnTx/>
                <a:uFillTx/>
                <a:latin typeface="Arial"/>
                <a:ea typeface="Montserrat Semi" charset="0"/>
                <a:cs typeface="Montserrat Semi" charset="0"/>
              </a:rPr>
              <a:t>Brings together what belongs together</a:t>
            </a:r>
            <a:b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ontserrat Semi" charset="0"/>
                <a:cs typeface="Montserrat Semi" charset="0"/>
              </a:rPr>
            </a:b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3F3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a seamless user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B03E0CB-2D0F-542C-278B-816FB9CEAFCE}"/>
              </a:ext>
            </a:extLst>
          </p:cNvPr>
          <p:cNvCxnSpPr>
            <a:cxnSpLocks/>
          </p:cNvCxnSpPr>
          <p:nvPr/>
        </p:nvCxnSpPr>
        <p:spPr>
          <a:xfrm flipV="1">
            <a:off x="0" y="6165000"/>
            <a:ext cx="12168000" cy="11187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213A46BA-4475-CABB-5F99-4177EB85DA8B}"/>
              </a:ext>
            </a:extLst>
          </p:cNvPr>
          <p:cNvSpPr/>
          <p:nvPr/>
        </p:nvSpPr>
        <p:spPr>
          <a:xfrm>
            <a:off x="82560" y="414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ENSURE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Fit-for-Purpose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6069E3F-31ED-CB97-5220-FC86E01EC55E}"/>
              </a:ext>
            </a:extLst>
          </p:cNvPr>
          <p:cNvSpPr/>
          <p:nvPr/>
        </p:nvSpPr>
        <p:spPr>
          <a:xfrm>
            <a:off x="1957723" y="414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FASTER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Time-to-Market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E196BF-65F5-5B9E-B8F6-6B297E8BC717}"/>
              </a:ext>
            </a:extLst>
          </p:cNvPr>
          <p:cNvSpPr/>
          <p:nvPr/>
        </p:nvSpPr>
        <p:spPr>
          <a:xfrm>
            <a:off x="82560" y="513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PUSH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Start-up Collab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3B595DF-BFE0-596F-33E4-8BFC5B08628B}"/>
              </a:ext>
            </a:extLst>
          </p:cNvPr>
          <p:cNvSpPr/>
          <p:nvPr/>
        </p:nvSpPr>
        <p:spPr>
          <a:xfrm>
            <a:off x="1957723" y="513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SDC Interoperability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0B181CA-A42D-9DB0-F04F-E1994FDF05CD}"/>
              </a:ext>
            </a:extLst>
          </p:cNvPr>
          <p:cNvSpPr/>
          <p:nvPr/>
        </p:nvSpPr>
        <p:spPr>
          <a:xfrm>
            <a:off x="8164560" y="414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+mn-cs"/>
              </a:rPr>
              <a:t>CLOSE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+mn-cs"/>
              </a:rPr>
              <a:t>White Spots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+mn-cs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2315DBC-2B0E-E94F-5547-4277DFBF510D}"/>
              </a:ext>
            </a:extLst>
          </p:cNvPr>
          <p:cNvSpPr/>
          <p:nvPr/>
        </p:nvSpPr>
        <p:spPr>
          <a:xfrm>
            <a:off x="10018560" y="414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Cost Savings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6C85262-8199-4B20-C53A-073690BDC91F}"/>
              </a:ext>
            </a:extLst>
          </p:cNvPr>
          <p:cNvSpPr/>
          <p:nvPr/>
        </p:nvSpPr>
        <p:spPr>
          <a:xfrm>
            <a:off x="8164560" y="513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FOLLOW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SaaS first Approach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555E179-BFCB-833F-5FFC-E654A20C8D93}"/>
              </a:ext>
            </a:extLst>
          </p:cNvPr>
          <p:cNvSpPr/>
          <p:nvPr/>
        </p:nvSpPr>
        <p:spPr>
          <a:xfrm>
            <a:off x="10018560" y="5139000"/>
            <a:ext cx="209088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PREVENT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Vendor Lock-in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072697D8-A392-B9AF-358D-9FB431DAEA2D}"/>
              </a:ext>
            </a:extLst>
          </p:cNvPr>
          <p:cNvGrpSpPr/>
          <p:nvPr/>
        </p:nvGrpSpPr>
        <p:grpSpPr>
          <a:xfrm>
            <a:off x="1849581" y="4788000"/>
            <a:ext cx="432000" cy="432000"/>
            <a:chOff x="9921000" y="4806000"/>
            <a:chExt cx="432000" cy="43200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0BDD4D29-B635-0D16-2A95-0C468DCC3E7F}"/>
                </a:ext>
              </a:extLst>
            </p:cNvPr>
            <p:cNvCxnSpPr/>
            <p:nvPr/>
          </p:nvCxnSpPr>
          <p:spPr>
            <a:xfrm>
              <a:off x="10137001" y="4806000"/>
              <a:ext cx="0" cy="432000"/>
            </a:xfrm>
            <a:prstGeom prst="line">
              <a:avLst/>
            </a:prstGeom>
            <a:ln w="9525">
              <a:gradFill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CF23EFF-F6FF-B31B-47C3-528C92F60F74}"/>
                </a:ext>
              </a:extLst>
            </p:cNvPr>
            <p:cNvCxnSpPr>
              <a:cxnSpLocks/>
            </p:cNvCxnSpPr>
            <p:nvPr/>
          </p:nvCxnSpPr>
          <p:spPr>
            <a:xfrm>
              <a:off x="9921000" y="5022000"/>
              <a:ext cx="432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Rechteck 362">
            <a:extLst>
              <a:ext uri="{FF2B5EF4-FFF2-40B4-BE49-F238E27FC236}">
                <a16:creationId xmlns:a16="http://schemas.microsoft.com/office/drawing/2014/main" id="{DB13F935-065E-C51B-8A54-DC0B9F59C71A}"/>
              </a:ext>
            </a:extLst>
          </p:cNvPr>
          <p:cNvSpPr/>
          <p:nvPr/>
        </p:nvSpPr>
        <p:spPr>
          <a:xfrm>
            <a:off x="5902603" y="5896050"/>
            <a:ext cx="360212" cy="99789"/>
          </a:xfrm>
          <a:prstGeom prst="rect">
            <a:avLst/>
          </a:prstGeom>
          <a:solidFill>
            <a:srgbClr val="1D1E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06" name="Grafik 405">
            <a:extLst>
              <a:ext uri="{FF2B5EF4-FFF2-40B4-BE49-F238E27FC236}">
                <a16:creationId xmlns:a16="http://schemas.microsoft.com/office/drawing/2014/main" id="{B1A64CE7-4B22-3D8E-86EA-5C85EE4918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565"/>
          <a:stretch>
            <a:fillRect/>
          </a:stretch>
        </p:blipFill>
        <p:spPr>
          <a:xfrm>
            <a:off x="4208760" y="3429000"/>
            <a:ext cx="3744000" cy="114032"/>
          </a:xfrm>
          <a:custGeom>
            <a:avLst/>
            <a:gdLst>
              <a:gd name="connsiteX0" fmla="*/ 0 w 3744000"/>
              <a:gd name="connsiteY0" fmla="*/ 0 h 114032"/>
              <a:gd name="connsiteX1" fmla="*/ 3744000 w 3744000"/>
              <a:gd name="connsiteY1" fmla="*/ 0 h 114032"/>
              <a:gd name="connsiteX2" fmla="*/ 3744000 w 3744000"/>
              <a:gd name="connsiteY2" fmla="*/ 114032 h 114032"/>
              <a:gd name="connsiteX3" fmla="*/ 0 w 3744000"/>
              <a:gd name="connsiteY3" fmla="*/ 114032 h 11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4000" h="114032">
                <a:moveTo>
                  <a:pt x="0" y="0"/>
                </a:moveTo>
                <a:lnTo>
                  <a:pt x="3744000" y="0"/>
                </a:lnTo>
                <a:lnTo>
                  <a:pt x="3744000" y="114032"/>
                </a:lnTo>
                <a:lnTo>
                  <a:pt x="0" y="114032"/>
                </a:lnTo>
                <a:close/>
              </a:path>
            </a:pathLst>
          </a:custGeom>
        </p:spPr>
      </p:pic>
      <p:grpSp>
        <p:nvGrpSpPr>
          <p:cNvPr id="569" name="Gruppieren 568">
            <a:extLst>
              <a:ext uri="{FF2B5EF4-FFF2-40B4-BE49-F238E27FC236}">
                <a16:creationId xmlns:a16="http://schemas.microsoft.com/office/drawing/2014/main" id="{E311729C-806C-5601-BD57-4C00494FA324}"/>
              </a:ext>
            </a:extLst>
          </p:cNvPr>
          <p:cNvGrpSpPr/>
          <p:nvPr/>
        </p:nvGrpSpPr>
        <p:grpSpPr>
          <a:xfrm>
            <a:off x="9921000" y="4788000"/>
            <a:ext cx="432000" cy="432000"/>
            <a:chOff x="9921000" y="4806000"/>
            <a:chExt cx="432000" cy="432000"/>
          </a:xfrm>
        </p:grpSpPr>
        <p:cxnSp>
          <p:nvCxnSpPr>
            <p:cNvPr id="570" name="Gerader Verbinder 569">
              <a:extLst>
                <a:ext uri="{FF2B5EF4-FFF2-40B4-BE49-F238E27FC236}">
                  <a16:creationId xmlns:a16="http://schemas.microsoft.com/office/drawing/2014/main" id="{94CE3C55-42AA-9C6B-46B6-7B016737B49A}"/>
                </a:ext>
              </a:extLst>
            </p:cNvPr>
            <p:cNvCxnSpPr/>
            <p:nvPr/>
          </p:nvCxnSpPr>
          <p:spPr>
            <a:xfrm>
              <a:off x="10137001" y="4806000"/>
              <a:ext cx="0" cy="432000"/>
            </a:xfrm>
            <a:prstGeom prst="line">
              <a:avLst/>
            </a:prstGeom>
            <a:ln w="9525">
              <a:gradFill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Gerader Verbinder 570">
              <a:extLst>
                <a:ext uri="{FF2B5EF4-FFF2-40B4-BE49-F238E27FC236}">
                  <a16:creationId xmlns:a16="http://schemas.microsoft.com/office/drawing/2014/main" id="{666ED4AD-D879-00B0-D51B-C7E5F4DF4FAA}"/>
                </a:ext>
              </a:extLst>
            </p:cNvPr>
            <p:cNvCxnSpPr>
              <a:cxnSpLocks/>
            </p:cNvCxnSpPr>
            <p:nvPr/>
          </p:nvCxnSpPr>
          <p:spPr>
            <a:xfrm>
              <a:off x="9921000" y="5022000"/>
              <a:ext cx="432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/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530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FCA3B-05A1-7555-DB0A-5AD5A087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1 | Overall Project Status</a:t>
            </a:r>
            <a:b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Milestone and Deliverables Plan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ED0EFF-FCDF-3BFF-A3E7-612BC64DD8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LDF Data Platform | 2023-09-07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8915853-72BF-DD77-C35D-184C1FC9A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CAE688-5F20-5AB9-7484-94FABEFE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602" b="1050"/>
          <a:stretch/>
        </p:blipFill>
        <p:spPr bwMode="invGray">
          <a:xfrm>
            <a:off x="0" y="2997000"/>
            <a:ext cx="12192000" cy="504000"/>
          </a:xfrm>
          <a:custGeom>
            <a:avLst/>
            <a:gdLst>
              <a:gd name="connsiteX0" fmla="*/ 0 w 12192000"/>
              <a:gd name="connsiteY0" fmla="*/ 0 h 576000"/>
              <a:gd name="connsiteX1" fmla="*/ 12192000 w 12192000"/>
              <a:gd name="connsiteY1" fmla="*/ 0 h 576000"/>
              <a:gd name="connsiteX2" fmla="*/ 12192000 w 12192000"/>
              <a:gd name="connsiteY2" fmla="*/ 576000 h 576000"/>
              <a:gd name="connsiteX3" fmla="*/ 0 w 12192000"/>
              <a:gd name="connsiteY3" fmla="*/ 576000 h 5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76000">
                <a:moveTo>
                  <a:pt x="0" y="0"/>
                </a:moveTo>
                <a:lnTo>
                  <a:pt x="12192000" y="0"/>
                </a:lnTo>
                <a:lnTo>
                  <a:pt x="12192000" y="576000"/>
                </a:lnTo>
                <a:lnTo>
                  <a:pt x="0" y="576000"/>
                </a:lnTo>
                <a:close/>
              </a:path>
            </a:pathLst>
          </a:cu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D0A970B-CEA1-5AA2-BF16-A31F2E385808}"/>
              </a:ext>
            </a:extLst>
          </p:cNvPr>
          <p:cNvSpPr/>
          <p:nvPr/>
        </p:nvSpPr>
        <p:spPr>
          <a:xfrm>
            <a:off x="0" y="2997000"/>
            <a:ext cx="12192000" cy="504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A007E20-B2B5-797A-B745-DFDEE9F7C04D}"/>
              </a:ext>
            </a:extLst>
          </p:cNvPr>
          <p:cNvSpPr/>
          <p:nvPr/>
        </p:nvSpPr>
        <p:spPr>
          <a:xfrm>
            <a:off x="0" y="2997000"/>
            <a:ext cx="12192000" cy="504000"/>
          </a:xfrm>
          <a:prstGeom prst="rect">
            <a:avLst/>
          </a:prstGeom>
          <a:solidFill>
            <a:srgbClr val="00002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128ECD5-B8E6-F313-D836-32B51A1B6E7B}"/>
              </a:ext>
            </a:extLst>
          </p:cNvPr>
          <p:cNvCxnSpPr/>
          <p:nvPr/>
        </p:nvCxnSpPr>
        <p:spPr>
          <a:xfrm>
            <a:off x="0" y="2997000"/>
            <a:ext cx="1219200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67FDD4F-E541-1A8B-A3E3-CE97B9132AD4}"/>
              </a:ext>
            </a:extLst>
          </p:cNvPr>
          <p:cNvCxnSpPr/>
          <p:nvPr/>
        </p:nvCxnSpPr>
        <p:spPr>
          <a:xfrm>
            <a:off x="0" y="3501000"/>
            <a:ext cx="12192000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EA0055C5-BBC2-1402-EA69-33DA485A9717}"/>
              </a:ext>
            </a:extLst>
          </p:cNvPr>
          <p:cNvSpPr/>
          <p:nvPr/>
        </p:nvSpPr>
        <p:spPr>
          <a:xfrm>
            <a:off x="411163" y="306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May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7EFB529-3CAE-1C8E-9128-40C99BD24E80}"/>
              </a:ext>
            </a:extLst>
          </p:cNvPr>
          <p:cNvSpPr/>
          <p:nvPr/>
        </p:nvSpPr>
        <p:spPr>
          <a:xfrm>
            <a:off x="2700768" y="306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June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825220A-A27A-6C52-42B3-FEF76A132CBF}"/>
              </a:ext>
            </a:extLst>
          </p:cNvPr>
          <p:cNvSpPr/>
          <p:nvPr/>
        </p:nvSpPr>
        <p:spPr>
          <a:xfrm>
            <a:off x="4990373" y="306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July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ED78918-89E0-CD31-8C72-F2293AC34E4D}"/>
              </a:ext>
            </a:extLst>
          </p:cNvPr>
          <p:cNvSpPr/>
          <p:nvPr/>
        </p:nvSpPr>
        <p:spPr>
          <a:xfrm>
            <a:off x="7279978" y="306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August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F754B10-4E4C-9E59-EF3B-E1350CD01D5E}"/>
              </a:ext>
            </a:extLst>
          </p:cNvPr>
          <p:cNvSpPr/>
          <p:nvPr/>
        </p:nvSpPr>
        <p:spPr>
          <a:xfrm>
            <a:off x="9569583" y="306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September</a:t>
            </a:r>
          </a:p>
        </p:txBody>
      </p:sp>
      <p:sp>
        <p:nvSpPr>
          <p:cNvPr id="20" name="Pfeil: Chevron 19">
            <a:extLst>
              <a:ext uri="{FF2B5EF4-FFF2-40B4-BE49-F238E27FC236}">
                <a16:creationId xmlns:a16="http://schemas.microsoft.com/office/drawing/2014/main" id="{092E40C9-83B0-DD15-4130-2C39C84D0BE4}"/>
              </a:ext>
            </a:extLst>
          </p:cNvPr>
          <p:cNvSpPr/>
          <p:nvPr/>
        </p:nvSpPr>
        <p:spPr>
          <a:xfrm>
            <a:off x="2592768" y="3105000"/>
            <a:ext cx="144000" cy="288000"/>
          </a:xfrm>
          <a:prstGeom prst="chevron">
            <a:avLst/>
          </a:prstGeom>
          <a:solidFill>
            <a:schemeClr val="tx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Pfeil: Chevron 20">
            <a:extLst>
              <a:ext uri="{FF2B5EF4-FFF2-40B4-BE49-F238E27FC236}">
                <a16:creationId xmlns:a16="http://schemas.microsoft.com/office/drawing/2014/main" id="{5C73D596-1EA2-6DA7-CC8E-E7F034F5F9B7}"/>
              </a:ext>
            </a:extLst>
          </p:cNvPr>
          <p:cNvSpPr/>
          <p:nvPr/>
        </p:nvSpPr>
        <p:spPr>
          <a:xfrm>
            <a:off x="4882373" y="3105000"/>
            <a:ext cx="144000" cy="288000"/>
          </a:xfrm>
          <a:prstGeom prst="chevron">
            <a:avLst/>
          </a:prstGeom>
          <a:solidFill>
            <a:schemeClr val="tx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Pfeil: Chevron 21">
            <a:extLst>
              <a:ext uri="{FF2B5EF4-FFF2-40B4-BE49-F238E27FC236}">
                <a16:creationId xmlns:a16="http://schemas.microsoft.com/office/drawing/2014/main" id="{D194BE9F-3641-D991-ECFF-FC82D94A406F}"/>
              </a:ext>
            </a:extLst>
          </p:cNvPr>
          <p:cNvSpPr/>
          <p:nvPr/>
        </p:nvSpPr>
        <p:spPr>
          <a:xfrm>
            <a:off x="7171978" y="3105000"/>
            <a:ext cx="144000" cy="288000"/>
          </a:xfrm>
          <a:prstGeom prst="chevron">
            <a:avLst/>
          </a:prstGeom>
          <a:solidFill>
            <a:schemeClr val="tx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476613B6-523E-24C6-1B1F-761912E6EC4A}"/>
              </a:ext>
            </a:extLst>
          </p:cNvPr>
          <p:cNvSpPr/>
          <p:nvPr/>
        </p:nvSpPr>
        <p:spPr>
          <a:xfrm>
            <a:off x="9461583" y="3105000"/>
            <a:ext cx="144000" cy="288000"/>
          </a:xfrm>
          <a:prstGeom prst="chevron">
            <a:avLst/>
          </a:prstGeom>
          <a:solidFill>
            <a:schemeClr val="tx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E85C1A0-57B6-26D2-3FF1-D536E568508E}"/>
              </a:ext>
            </a:extLst>
          </p:cNvPr>
          <p:cNvSpPr/>
          <p:nvPr/>
        </p:nvSpPr>
        <p:spPr>
          <a:xfrm>
            <a:off x="411163" y="3645000"/>
            <a:ext cx="221760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Conceptual Design tool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Plan for self-service tool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sharing with externals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03219EA-0BC4-EA46-D928-65933AF8757C}"/>
              </a:ext>
            </a:extLst>
          </p:cNvPr>
          <p:cNvSpPr/>
          <p:nvPr/>
        </p:nvSpPr>
        <p:spPr>
          <a:xfrm>
            <a:off x="2700768" y="3645000"/>
            <a:ext cx="221760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1st Conceptual Design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Plan for SnapLogic PoC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Plan for Data Catalog PoC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Plan for Data Observability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Design for self-service tool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FA859C-73A2-4047-F243-CA2F76452622}"/>
              </a:ext>
            </a:extLst>
          </p:cNvPr>
          <p:cNvSpPr/>
          <p:nvPr/>
        </p:nvSpPr>
        <p:spPr>
          <a:xfrm>
            <a:off x="4990373" y="3645000"/>
            <a:ext cx="221760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Catalog Workshop with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Atlan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POC with SnapLogic  (Data ingestion)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Self-service</a:t>
            </a:r>
          </a:p>
          <a:p>
            <a:pPr marL="36000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S3 buckets</a:t>
            </a:r>
          </a:p>
          <a:p>
            <a:pPr marL="36000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Monitoring (Datadog)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D6A7A4B-99D5-80F3-FFAF-DFC5F5361CC5}"/>
              </a:ext>
            </a:extLst>
          </p:cNvPr>
          <p:cNvSpPr/>
          <p:nvPr/>
        </p:nvSpPr>
        <p:spPr>
          <a:xfrm>
            <a:off x="7279978" y="3645000"/>
            <a:ext cx="221760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Conceptual Design Workshop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Self-service enhancements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Manage business logic in Step functions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Siemens look &amp; feel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CE13CE1-1016-EAA8-032B-476EB2E07684}"/>
              </a:ext>
            </a:extLst>
          </p:cNvPr>
          <p:cNvSpPr/>
          <p:nvPr/>
        </p:nvSpPr>
        <p:spPr>
          <a:xfrm>
            <a:off x="9569583" y="3645000"/>
            <a:ext cx="2217605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Continue Conceptual Design + Logical Design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Self-service enhancements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---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POC - Data catalog (</a:t>
            </a:r>
            <a:r>
              <a:rPr kumimoji="0" lang="en-US" sz="1200" b="0" i="1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Atlan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1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DataVault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POC - Data observability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67F614B-E605-142E-95E1-5403CDE87D6B}"/>
              </a:ext>
            </a:extLst>
          </p:cNvPr>
          <p:cNvCxnSpPr>
            <a:cxnSpLocks/>
          </p:cNvCxnSpPr>
          <p:nvPr/>
        </p:nvCxnSpPr>
        <p:spPr>
          <a:xfrm>
            <a:off x="2664768" y="3645000"/>
            <a:ext cx="0" cy="2160000"/>
          </a:xfrm>
          <a:prstGeom prst="line">
            <a:avLst/>
          </a:prstGeom>
          <a:ln w="9525">
            <a:solidFill>
              <a:schemeClr val="tx1">
                <a:alpha val="60000"/>
              </a:schemeClr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4C4937A-5544-9A5C-3901-919A7A1DD58C}"/>
              </a:ext>
            </a:extLst>
          </p:cNvPr>
          <p:cNvCxnSpPr>
            <a:cxnSpLocks/>
          </p:cNvCxnSpPr>
          <p:nvPr/>
        </p:nvCxnSpPr>
        <p:spPr>
          <a:xfrm>
            <a:off x="4954373" y="3645000"/>
            <a:ext cx="0" cy="2160000"/>
          </a:xfrm>
          <a:prstGeom prst="line">
            <a:avLst/>
          </a:prstGeom>
          <a:ln w="9525">
            <a:solidFill>
              <a:schemeClr val="tx1">
                <a:alpha val="60000"/>
              </a:schemeClr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B1758441-041E-81ED-8E53-E96C7478BE8E}"/>
              </a:ext>
            </a:extLst>
          </p:cNvPr>
          <p:cNvCxnSpPr>
            <a:cxnSpLocks/>
          </p:cNvCxnSpPr>
          <p:nvPr/>
        </p:nvCxnSpPr>
        <p:spPr>
          <a:xfrm>
            <a:off x="7243978" y="3645000"/>
            <a:ext cx="0" cy="2160000"/>
          </a:xfrm>
          <a:prstGeom prst="line">
            <a:avLst/>
          </a:prstGeom>
          <a:ln w="9525">
            <a:solidFill>
              <a:schemeClr val="tx1">
                <a:alpha val="60000"/>
              </a:schemeClr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47355EA-7262-4DDC-8F3C-DDD56E4536C1}"/>
              </a:ext>
            </a:extLst>
          </p:cNvPr>
          <p:cNvCxnSpPr>
            <a:cxnSpLocks/>
          </p:cNvCxnSpPr>
          <p:nvPr/>
        </p:nvCxnSpPr>
        <p:spPr>
          <a:xfrm>
            <a:off x="9533583" y="3645000"/>
            <a:ext cx="0" cy="2160000"/>
          </a:xfrm>
          <a:prstGeom prst="line">
            <a:avLst/>
          </a:prstGeom>
          <a:ln w="9525">
            <a:solidFill>
              <a:schemeClr val="tx1">
                <a:alpha val="60000"/>
              </a:schemeClr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C4A551DD-2C5F-628A-9D7E-7B81A91081AC}"/>
              </a:ext>
            </a:extLst>
          </p:cNvPr>
          <p:cNvSpPr/>
          <p:nvPr/>
        </p:nvSpPr>
        <p:spPr>
          <a:xfrm>
            <a:off x="411163" y="234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Sprint 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C012A2BD-BB69-E0E3-7801-F3ACEE0E06CC}"/>
              </a:ext>
            </a:extLst>
          </p:cNvPr>
          <p:cNvSpPr/>
          <p:nvPr/>
        </p:nvSpPr>
        <p:spPr>
          <a:xfrm>
            <a:off x="2700768" y="234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Sprint 2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53B5C30-FCD8-CCAF-DE51-E103F36A2722}"/>
              </a:ext>
            </a:extLst>
          </p:cNvPr>
          <p:cNvSpPr/>
          <p:nvPr/>
        </p:nvSpPr>
        <p:spPr>
          <a:xfrm>
            <a:off x="4990373" y="234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Sprint 3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7D6C55B-2982-B0D1-E591-213A83456FD0}"/>
              </a:ext>
            </a:extLst>
          </p:cNvPr>
          <p:cNvSpPr/>
          <p:nvPr/>
        </p:nvSpPr>
        <p:spPr>
          <a:xfrm>
            <a:off x="7279978" y="234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Sprint 4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EB52486-47F0-20B7-044F-808454C4D9AA}"/>
              </a:ext>
            </a:extLst>
          </p:cNvPr>
          <p:cNvSpPr/>
          <p:nvPr/>
        </p:nvSpPr>
        <p:spPr>
          <a:xfrm>
            <a:off x="9569583" y="2349000"/>
            <a:ext cx="2217605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Sprint 5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2B35A326-0A79-4D06-BFA4-1AC8885EE947}"/>
              </a:ext>
            </a:extLst>
          </p:cNvPr>
          <p:cNvSpPr/>
          <p:nvPr/>
        </p:nvSpPr>
        <p:spPr>
          <a:xfrm>
            <a:off x="1176972" y="1466008"/>
            <a:ext cx="685986" cy="685986"/>
          </a:xfrm>
          <a:custGeom>
            <a:avLst/>
            <a:gdLst>
              <a:gd name="connsiteX0" fmla="*/ 432000 w 864000"/>
              <a:gd name="connsiteY0" fmla="*/ 54000 h 864000"/>
              <a:gd name="connsiteX1" fmla="*/ 54000 w 864000"/>
              <a:gd name="connsiteY1" fmla="*/ 432000 h 864000"/>
              <a:gd name="connsiteX2" fmla="*/ 432000 w 864000"/>
              <a:gd name="connsiteY2" fmla="*/ 810000 h 864000"/>
              <a:gd name="connsiteX3" fmla="*/ 810000 w 864000"/>
              <a:gd name="connsiteY3" fmla="*/ 432000 h 864000"/>
              <a:gd name="connsiteX4" fmla="*/ 432000 w 864000"/>
              <a:gd name="connsiteY4" fmla="*/ 54000 h 864000"/>
              <a:gd name="connsiteX5" fmla="*/ 432000 w 864000"/>
              <a:gd name="connsiteY5" fmla="*/ 0 h 864000"/>
              <a:gd name="connsiteX6" fmla="*/ 864000 w 864000"/>
              <a:gd name="connsiteY6" fmla="*/ 432000 h 864000"/>
              <a:gd name="connsiteX7" fmla="*/ 432000 w 864000"/>
              <a:gd name="connsiteY7" fmla="*/ 864000 h 864000"/>
              <a:gd name="connsiteX8" fmla="*/ 0 w 864000"/>
              <a:gd name="connsiteY8" fmla="*/ 432000 h 864000"/>
              <a:gd name="connsiteX9" fmla="*/ 432000 w 864000"/>
              <a:gd name="connsiteY9" fmla="*/ 0 h 8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4000" h="864000">
                <a:moveTo>
                  <a:pt x="432000" y="54000"/>
                </a:moveTo>
                <a:cubicBezTo>
                  <a:pt x="223236" y="54000"/>
                  <a:pt x="54000" y="223236"/>
                  <a:pt x="54000" y="432000"/>
                </a:cubicBezTo>
                <a:cubicBezTo>
                  <a:pt x="54000" y="640764"/>
                  <a:pt x="223236" y="810000"/>
                  <a:pt x="432000" y="810000"/>
                </a:cubicBezTo>
                <a:cubicBezTo>
                  <a:pt x="640764" y="810000"/>
                  <a:pt x="810000" y="640764"/>
                  <a:pt x="810000" y="432000"/>
                </a:cubicBezTo>
                <a:cubicBezTo>
                  <a:pt x="810000" y="223236"/>
                  <a:pt x="640764" y="54000"/>
                  <a:pt x="432000" y="54000"/>
                </a:cubicBezTo>
                <a:close/>
                <a:moveTo>
                  <a:pt x="432000" y="0"/>
                </a:moveTo>
                <a:cubicBezTo>
                  <a:pt x="670587" y="0"/>
                  <a:pt x="864000" y="193413"/>
                  <a:pt x="864000" y="432000"/>
                </a:cubicBezTo>
                <a:cubicBezTo>
                  <a:pt x="864000" y="670587"/>
                  <a:pt x="670587" y="864000"/>
                  <a:pt x="432000" y="864000"/>
                </a:cubicBezTo>
                <a:cubicBezTo>
                  <a:pt x="193413" y="864000"/>
                  <a:pt x="0" y="670587"/>
                  <a:pt x="0" y="432000"/>
                </a:cubicBezTo>
                <a:cubicBezTo>
                  <a:pt x="0" y="193413"/>
                  <a:pt x="193413" y="0"/>
                  <a:pt x="432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Freihandform: Form 58">
            <a:extLst>
              <a:ext uri="{FF2B5EF4-FFF2-40B4-BE49-F238E27FC236}">
                <a16:creationId xmlns:a16="http://schemas.microsoft.com/office/drawing/2014/main" id="{ADCFF391-5C5B-E86A-C0F6-2F9832B90C95}"/>
              </a:ext>
            </a:extLst>
          </p:cNvPr>
          <p:cNvSpPr/>
          <p:nvPr/>
        </p:nvSpPr>
        <p:spPr>
          <a:xfrm>
            <a:off x="3466577" y="1466008"/>
            <a:ext cx="685986" cy="685986"/>
          </a:xfrm>
          <a:custGeom>
            <a:avLst/>
            <a:gdLst>
              <a:gd name="connsiteX0" fmla="*/ 432000 w 864000"/>
              <a:gd name="connsiteY0" fmla="*/ 54000 h 864000"/>
              <a:gd name="connsiteX1" fmla="*/ 54000 w 864000"/>
              <a:gd name="connsiteY1" fmla="*/ 432000 h 864000"/>
              <a:gd name="connsiteX2" fmla="*/ 432000 w 864000"/>
              <a:gd name="connsiteY2" fmla="*/ 810000 h 864000"/>
              <a:gd name="connsiteX3" fmla="*/ 810000 w 864000"/>
              <a:gd name="connsiteY3" fmla="*/ 432000 h 864000"/>
              <a:gd name="connsiteX4" fmla="*/ 432000 w 864000"/>
              <a:gd name="connsiteY4" fmla="*/ 54000 h 864000"/>
              <a:gd name="connsiteX5" fmla="*/ 432000 w 864000"/>
              <a:gd name="connsiteY5" fmla="*/ 0 h 864000"/>
              <a:gd name="connsiteX6" fmla="*/ 864000 w 864000"/>
              <a:gd name="connsiteY6" fmla="*/ 432000 h 864000"/>
              <a:gd name="connsiteX7" fmla="*/ 432000 w 864000"/>
              <a:gd name="connsiteY7" fmla="*/ 864000 h 864000"/>
              <a:gd name="connsiteX8" fmla="*/ 0 w 864000"/>
              <a:gd name="connsiteY8" fmla="*/ 432000 h 864000"/>
              <a:gd name="connsiteX9" fmla="*/ 432000 w 864000"/>
              <a:gd name="connsiteY9" fmla="*/ 0 h 8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4000" h="864000">
                <a:moveTo>
                  <a:pt x="432000" y="54000"/>
                </a:moveTo>
                <a:cubicBezTo>
                  <a:pt x="223236" y="54000"/>
                  <a:pt x="54000" y="223236"/>
                  <a:pt x="54000" y="432000"/>
                </a:cubicBezTo>
                <a:cubicBezTo>
                  <a:pt x="54000" y="640764"/>
                  <a:pt x="223236" y="810000"/>
                  <a:pt x="432000" y="810000"/>
                </a:cubicBezTo>
                <a:cubicBezTo>
                  <a:pt x="640764" y="810000"/>
                  <a:pt x="810000" y="640764"/>
                  <a:pt x="810000" y="432000"/>
                </a:cubicBezTo>
                <a:cubicBezTo>
                  <a:pt x="810000" y="223236"/>
                  <a:pt x="640764" y="54000"/>
                  <a:pt x="432000" y="54000"/>
                </a:cubicBezTo>
                <a:close/>
                <a:moveTo>
                  <a:pt x="432000" y="0"/>
                </a:moveTo>
                <a:cubicBezTo>
                  <a:pt x="670587" y="0"/>
                  <a:pt x="864000" y="193413"/>
                  <a:pt x="864000" y="432000"/>
                </a:cubicBezTo>
                <a:cubicBezTo>
                  <a:pt x="864000" y="670587"/>
                  <a:pt x="670587" y="864000"/>
                  <a:pt x="432000" y="864000"/>
                </a:cubicBezTo>
                <a:cubicBezTo>
                  <a:pt x="193413" y="864000"/>
                  <a:pt x="0" y="670587"/>
                  <a:pt x="0" y="432000"/>
                </a:cubicBezTo>
                <a:cubicBezTo>
                  <a:pt x="0" y="193413"/>
                  <a:pt x="193413" y="0"/>
                  <a:pt x="432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281A7D3-3BD9-10F6-B183-0D5E4A4E6123}"/>
              </a:ext>
            </a:extLst>
          </p:cNvPr>
          <p:cNvGrpSpPr/>
          <p:nvPr/>
        </p:nvGrpSpPr>
        <p:grpSpPr>
          <a:xfrm>
            <a:off x="5703174" y="1413000"/>
            <a:ext cx="792002" cy="792002"/>
            <a:chOff x="3565969" y="1565400"/>
            <a:chExt cx="792002" cy="792002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BFED2B4-9C39-B131-1437-352DF7A5BA03}"/>
                </a:ext>
              </a:extLst>
            </p:cNvPr>
            <p:cNvSpPr/>
            <p:nvPr/>
          </p:nvSpPr>
          <p:spPr>
            <a:xfrm>
              <a:off x="3618977" y="1618408"/>
              <a:ext cx="685986" cy="685986"/>
            </a:xfrm>
            <a:custGeom>
              <a:avLst/>
              <a:gdLst>
                <a:gd name="connsiteX0" fmla="*/ 432000 w 864000"/>
                <a:gd name="connsiteY0" fmla="*/ 54000 h 864000"/>
                <a:gd name="connsiteX1" fmla="*/ 54000 w 864000"/>
                <a:gd name="connsiteY1" fmla="*/ 432000 h 864000"/>
                <a:gd name="connsiteX2" fmla="*/ 432000 w 864000"/>
                <a:gd name="connsiteY2" fmla="*/ 810000 h 864000"/>
                <a:gd name="connsiteX3" fmla="*/ 810000 w 864000"/>
                <a:gd name="connsiteY3" fmla="*/ 432000 h 864000"/>
                <a:gd name="connsiteX4" fmla="*/ 432000 w 864000"/>
                <a:gd name="connsiteY4" fmla="*/ 54000 h 864000"/>
                <a:gd name="connsiteX5" fmla="*/ 432000 w 864000"/>
                <a:gd name="connsiteY5" fmla="*/ 0 h 864000"/>
                <a:gd name="connsiteX6" fmla="*/ 864000 w 864000"/>
                <a:gd name="connsiteY6" fmla="*/ 432000 h 864000"/>
                <a:gd name="connsiteX7" fmla="*/ 432000 w 864000"/>
                <a:gd name="connsiteY7" fmla="*/ 864000 h 864000"/>
                <a:gd name="connsiteX8" fmla="*/ 0 w 864000"/>
                <a:gd name="connsiteY8" fmla="*/ 432000 h 864000"/>
                <a:gd name="connsiteX9" fmla="*/ 432000 w 864000"/>
                <a:gd name="connsiteY9" fmla="*/ 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4000" h="864000">
                  <a:moveTo>
                    <a:pt x="432000" y="54000"/>
                  </a:moveTo>
                  <a:cubicBezTo>
                    <a:pt x="223236" y="54000"/>
                    <a:pt x="54000" y="223236"/>
                    <a:pt x="54000" y="432000"/>
                  </a:cubicBezTo>
                  <a:cubicBezTo>
                    <a:pt x="54000" y="640764"/>
                    <a:pt x="223236" y="810000"/>
                    <a:pt x="432000" y="810000"/>
                  </a:cubicBezTo>
                  <a:cubicBezTo>
                    <a:pt x="640764" y="810000"/>
                    <a:pt x="810000" y="640764"/>
                    <a:pt x="810000" y="432000"/>
                  </a:cubicBezTo>
                  <a:cubicBezTo>
                    <a:pt x="810000" y="223236"/>
                    <a:pt x="640764" y="54000"/>
                    <a:pt x="432000" y="54000"/>
                  </a:cubicBezTo>
                  <a:close/>
                  <a:moveTo>
                    <a:pt x="432000" y="0"/>
                  </a:moveTo>
                  <a:cubicBezTo>
                    <a:pt x="670587" y="0"/>
                    <a:pt x="864000" y="193413"/>
                    <a:pt x="864000" y="432000"/>
                  </a:cubicBezTo>
                  <a:cubicBezTo>
                    <a:pt x="864000" y="670587"/>
                    <a:pt x="670587" y="864000"/>
                    <a:pt x="432000" y="864000"/>
                  </a:cubicBezTo>
                  <a:cubicBezTo>
                    <a:pt x="193413" y="864000"/>
                    <a:pt x="0" y="670587"/>
                    <a:pt x="0" y="432000"/>
                  </a:cubicBezTo>
                  <a:cubicBezTo>
                    <a:pt x="0" y="193413"/>
                    <a:pt x="193413" y="0"/>
                    <a:pt x="432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DD7FD1-F47A-5C23-91EC-345BCEEFE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65969" y="1565400"/>
              <a:ext cx="792002" cy="792002"/>
            </a:xfrm>
            <a:prstGeom prst="rect">
              <a:avLst/>
            </a:prstGeom>
          </p:spPr>
        </p:pic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275817-3F90-31AE-CAFF-CA444B557916}"/>
              </a:ext>
            </a:extLst>
          </p:cNvPr>
          <p:cNvGrpSpPr/>
          <p:nvPr/>
        </p:nvGrpSpPr>
        <p:grpSpPr>
          <a:xfrm>
            <a:off x="7992779" y="1413000"/>
            <a:ext cx="792002" cy="792002"/>
            <a:chOff x="3565969" y="1565400"/>
            <a:chExt cx="792002" cy="792002"/>
          </a:xfrm>
        </p:grpSpPr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B3352508-C6EA-4686-F6E4-DEDDEFA5D310}"/>
                </a:ext>
              </a:extLst>
            </p:cNvPr>
            <p:cNvSpPr/>
            <p:nvPr/>
          </p:nvSpPr>
          <p:spPr>
            <a:xfrm>
              <a:off x="3618977" y="1618408"/>
              <a:ext cx="685986" cy="685986"/>
            </a:xfrm>
            <a:custGeom>
              <a:avLst/>
              <a:gdLst>
                <a:gd name="connsiteX0" fmla="*/ 432000 w 864000"/>
                <a:gd name="connsiteY0" fmla="*/ 54000 h 864000"/>
                <a:gd name="connsiteX1" fmla="*/ 54000 w 864000"/>
                <a:gd name="connsiteY1" fmla="*/ 432000 h 864000"/>
                <a:gd name="connsiteX2" fmla="*/ 432000 w 864000"/>
                <a:gd name="connsiteY2" fmla="*/ 810000 h 864000"/>
                <a:gd name="connsiteX3" fmla="*/ 810000 w 864000"/>
                <a:gd name="connsiteY3" fmla="*/ 432000 h 864000"/>
                <a:gd name="connsiteX4" fmla="*/ 432000 w 864000"/>
                <a:gd name="connsiteY4" fmla="*/ 54000 h 864000"/>
                <a:gd name="connsiteX5" fmla="*/ 432000 w 864000"/>
                <a:gd name="connsiteY5" fmla="*/ 0 h 864000"/>
                <a:gd name="connsiteX6" fmla="*/ 864000 w 864000"/>
                <a:gd name="connsiteY6" fmla="*/ 432000 h 864000"/>
                <a:gd name="connsiteX7" fmla="*/ 432000 w 864000"/>
                <a:gd name="connsiteY7" fmla="*/ 864000 h 864000"/>
                <a:gd name="connsiteX8" fmla="*/ 0 w 864000"/>
                <a:gd name="connsiteY8" fmla="*/ 432000 h 864000"/>
                <a:gd name="connsiteX9" fmla="*/ 432000 w 864000"/>
                <a:gd name="connsiteY9" fmla="*/ 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4000" h="864000">
                  <a:moveTo>
                    <a:pt x="432000" y="54000"/>
                  </a:moveTo>
                  <a:cubicBezTo>
                    <a:pt x="223236" y="54000"/>
                    <a:pt x="54000" y="223236"/>
                    <a:pt x="54000" y="432000"/>
                  </a:cubicBezTo>
                  <a:cubicBezTo>
                    <a:pt x="54000" y="640764"/>
                    <a:pt x="223236" y="810000"/>
                    <a:pt x="432000" y="810000"/>
                  </a:cubicBezTo>
                  <a:cubicBezTo>
                    <a:pt x="640764" y="810000"/>
                    <a:pt x="810000" y="640764"/>
                    <a:pt x="810000" y="432000"/>
                  </a:cubicBezTo>
                  <a:cubicBezTo>
                    <a:pt x="810000" y="223236"/>
                    <a:pt x="640764" y="54000"/>
                    <a:pt x="432000" y="54000"/>
                  </a:cubicBezTo>
                  <a:close/>
                  <a:moveTo>
                    <a:pt x="432000" y="0"/>
                  </a:moveTo>
                  <a:cubicBezTo>
                    <a:pt x="670587" y="0"/>
                    <a:pt x="864000" y="193413"/>
                    <a:pt x="864000" y="432000"/>
                  </a:cubicBezTo>
                  <a:cubicBezTo>
                    <a:pt x="864000" y="670587"/>
                    <a:pt x="670587" y="864000"/>
                    <a:pt x="432000" y="864000"/>
                  </a:cubicBezTo>
                  <a:cubicBezTo>
                    <a:pt x="193413" y="864000"/>
                    <a:pt x="0" y="670587"/>
                    <a:pt x="0" y="432000"/>
                  </a:cubicBezTo>
                  <a:cubicBezTo>
                    <a:pt x="0" y="193413"/>
                    <a:pt x="193413" y="0"/>
                    <a:pt x="432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80972A3B-C109-7CED-0EE8-57C0BF46A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65969" y="1565400"/>
              <a:ext cx="792002" cy="792002"/>
            </a:xfrm>
            <a:prstGeom prst="rect">
              <a:avLst/>
            </a:prstGeom>
          </p:spPr>
        </p:pic>
      </p:grp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37A383D7-8345-F503-9EFE-05E186D6C6DC}"/>
              </a:ext>
            </a:extLst>
          </p:cNvPr>
          <p:cNvSpPr/>
          <p:nvPr/>
        </p:nvSpPr>
        <p:spPr>
          <a:xfrm>
            <a:off x="10531272" y="1661888"/>
            <a:ext cx="294226" cy="294226"/>
          </a:xfrm>
          <a:custGeom>
            <a:avLst/>
            <a:gdLst>
              <a:gd name="connsiteX0" fmla="*/ 432000 w 864000"/>
              <a:gd name="connsiteY0" fmla="*/ 54000 h 864000"/>
              <a:gd name="connsiteX1" fmla="*/ 54000 w 864000"/>
              <a:gd name="connsiteY1" fmla="*/ 432000 h 864000"/>
              <a:gd name="connsiteX2" fmla="*/ 432000 w 864000"/>
              <a:gd name="connsiteY2" fmla="*/ 810000 h 864000"/>
              <a:gd name="connsiteX3" fmla="*/ 810000 w 864000"/>
              <a:gd name="connsiteY3" fmla="*/ 432000 h 864000"/>
              <a:gd name="connsiteX4" fmla="*/ 432000 w 864000"/>
              <a:gd name="connsiteY4" fmla="*/ 54000 h 864000"/>
              <a:gd name="connsiteX5" fmla="*/ 432000 w 864000"/>
              <a:gd name="connsiteY5" fmla="*/ 0 h 864000"/>
              <a:gd name="connsiteX6" fmla="*/ 864000 w 864000"/>
              <a:gd name="connsiteY6" fmla="*/ 432000 h 864000"/>
              <a:gd name="connsiteX7" fmla="*/ 432000 w 864000"/>
              <a:gd name="connsiteY7" fmla="*/ 864000 h 864000"/>
              <a:gd name="connsiteX8" fmla="*/ 0 w 864000"/>
              <a:gd name="connsiteY8" fmla="*/ 432000 h 864000"/>
              <a:gd name="connsiteX9" fmla="*/ 432000 w 864000"/>
              <a:gd name="connsiteY9" fmla="*/ 0 h 8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4000" h="864000">
                <a:moveTo>
                  <a:pt x="432000" y="54000"/>
                </a:moveTo>
                <a:cubicBezTo>
                  <a:pt x="223236" y="54000"/>
                  <a:pt x="54000" y="223236"/>
                  <a:pt x="54000" y="432000"/>
                </a:cubicBezTo>
                <a:cubicBezTo>
                  <a:pt x="54000" y="640764"/>
                  <a:pt x="223236" y="810000"/>
                  <a:pt x="432000" y="810000"/>
                </a:cubicBezTo>
                <a:cubicBezTo>
                  <a:pt x="640764" y="810000"/>
                  <a:pt x="810000" y="640764"/>
                  <a:pt x="810000" y="432000"/>
                </a:cubicBezTo>
                <a:cubicBezTo>
                  <a:pt x="810000" y="223236"/>
                  <a:pt x="640764" y="54000"/>
                  <a:pt x="432000" y="54000"/>
                </a:cubicBezTo>
                <a:close/>
                <a:moveTo>
                  <a:pt x="432000" y="0"/>
                </a:moveTo>
                <a:cubicBezTo>
                  <a:pt x="670587" y="0"/>
                  <a:pt x="864000" y="193413"/>
                  <a:pt x="864000" y="432000"/>
                </a:cubicBezTo>
                <a:cubicBezTo>
                  <a:pt x="864000" y="670587"/>
                  <a:pt x="670587" y="864000"/>
                  <a:pt x="432000" y="864000"/>
                </a:cubicBezTo>
                <a:cubicBezTo>
                  <a:pt x="193413" y="864000"/>
                  <a:pt x="0" y="670587"/>
                  <a:pt x="0" y="432000"/>
                </a:cubicBezTo>
                <a:cubicBezTo>
                  <a:pt x="0" y="193413"/>
                  <a:pt x="193413" y="0"/>
                  <a:pt x="432000" y="0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3" name="Grafik 62">
            <a:extLst>
              <a:ext uri="{FF2B5EF4-FFF2-40B4-BE49-F238E27FC236}">
                <a16:creationId xmlns:a16="http://schemas.microsoft.com/office/drawing/2014/main" id="{9AC7D95A-F119-B983-DB21-790F87DE7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64" y="1413000"/>
            <a:ext cx="792002" cy="792002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C1B81C5D-2E1D-DD08-2CDC-FBBA5F96F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3569" y="1413000"/>
            <a:ext cx="792002" cy="79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2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61EF739-A413-4797-A548-05DA775739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61EF739-A413-4797-A548-05DA7757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317344A-4228-48BC-84B2-D538290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D595A9-84F3-4F4A-AB23-2DF3CCB8E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AA02293-84DC-6B93-5996-E6F61CA3F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DC37C85-2D8A-C3C5-2CE8-DC5A5664F940}"/>
              </a:ext>
            </a:extLst>
          </p:cNvPr>
          <p:cNvGrpSpPr/>
          <p:nvPr/>
        </p:nvGrpSpPr>
        <p:grpSpPr>
          <a:xfrm>
            <a:off x="517900" y="2868658"/>
            <a:ext cx="9862738" cy="360000"/>
            <a:chOff x="517900" y="2750744"/>
            <a:chExt cx="9862738" cy="360000"/>
          </a:xfrm>
        </p:grpSpPr>
        <p:sp>
          <p:nvSpPr>
            <p:cNvPr id="27" name="Textfeld 62">
              <a:extLst>
                <a:ext uri="{FF2B5EF4-FFF2-40B4-BE49-F238E27FC236}">
                  <a16:creationId xmlns:a16="http://schemas.microsoft.com/office/drawing/2014/main" id="{92C27DB3-4FB7-4514-863F-61CA8D1589EC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2750744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Synergies of LDF Data Platform within SDC</a:t>
              </a:r>
            </a:p>
          </p:txBody>
        </p:sp>
        <p:sp>
          <p:nvSpPr>
            <p:cNvPr id="29" name="Rectangle 1276">
              <a:extLst>
                <a:ext uri="{FF2B5EF4-FFF2-40B4-BE49-F238E27FC236}">
                  <a16:creationId xmlns:a16="http://schemas.microsoft.com/office/drawing/2014/main" id="{B64AA73B-0E17-4EAE-A6E8-D88A90808A6C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2750838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2</a:t>
              </a: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934FAF27-82B2-4A89-88EA-989F3D578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2804744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feld 62">
            <a:extLst>
              <a:ext uri="{FF2B5EF4-FFF2-40B4-BE49-F238E27FC236}">
                <a16:creationId xmlns:a16="http://schemas.microsoft.com/office/drawing/2014/main" id="{87F6E1BC-9240-4085-8F3D-5B74167AF972}"/>
              </a:ext>
            </a:extLst>
          </p:cNvPr>
          <p:cNvSpPr txBox="1">
            <a:spLocks/>
          </p:cNvSpPr>
          <p:nvPr/>
        </p:nvSpPr>
        <p:spPr>
          <a:xfrm>
            <a:off x="1164641" y="3701215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Introduction to Hybrid Architecture Concept</a:t>
            </a:r>
          </a:p>
        </p:txBody>
      </p:sp>
      <p:sp>
        <p:nvSpPr>
          <p:cNvPr id="37" name="Rectangle 1276">
            <a:extLst>
              <a:ext uri="{FF2B5EF4-FFF2-40B4-BE49-F238E27FC236}">
                <a16:creationId xmlns:a16="http://schemas.microsoft.com/office/drawing/2014/main" id="{195F8945-19E3-41FC-A83D-0A0281CC5439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3701309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3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39EA111-559F-4014-AEDD-5BCE838DDA36}"/>
              </a:ext>
            </a:extLst>
          </p:cNvPr>
          <p:cNvCxnSpPr>
            <a:cxnSpLocks/>
          </p:cNvCxnSpPr>
          <p:nvPr/>
        </p:nvCxnSpPr>
        <p:spPr>
          <a:xfrm flipH="1">
            <a:off x="983432" y="3755215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62">
            <a:extLst>
              <a:ext uri="{FF2B5EF4-FFF2-40B4-BE49-F238E27FC236}">
                <a16:creationId xmlns:a16="http://schemas.microsoft.com/office/drawing/2014/main" id="{878969A8-2ECE-4A56-9F38-EF222D6C5DA7}"/>
              </a:ext>
            </a:extLst>
          </p:cNvPr>
          <p:cNvSpPr txBox="1">
            <a:spLocks/>
          </p:cNvSpPr>
          <p:nvPr/>
        </p:nvSpPr>
        <p:spPr>
          <a:xfrm>
            <a:off x="1164641" y="4533772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Project Ambition Fiscal Year 2024</a:t>
            </a:r>
          </a:p>
        </p:txBody>
      </p:sp>
      <p:sp>
        <p:nvSpPr>
          <p:cNvPr id="42" name="Rectangle 1276">
            <a:extLst>
              <a:ext uri="{FF2B5EF4-FFF2-40B4-BE49-F238E27FC236}">
                <a16:creationId xmlns:a16="http://schemas.microsoft.com/office/drawing/2014/main" id="{DC9C4AB3-F7AA-4950-B479-83167D57637E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4533866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4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38A2C1A-FBCE-4546-98CD-1BA78B18BAFE}"/>
              </a:ext>
            </a:extLst>
          </p:cNvPr>
          <p:cNvCxnSpPr>
            <a:cxnSpLocks/>
          </p:cNvCxnSpPr>
          <p:nvPr/>
        </p:nvCxnSpPr>
        <p:spPr>
          <a:xfrm flipH="1">
            <a:off x="983432" y="4587772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62">
            <a:extLst>
              <a:ext uri="{FF2B5EF4-FFF2-40B4-BE49-F238E27FC236}">
                <a16:creationId xmlns:a16="http://schemas.microsoft.com/office/drawing/2014/main" id="{B5743862-7809-86FF-D3CA-2F8BAF758FEC}"/>
              </a:ext>
            </a:extLst>
          </p:cNvPr>
          <p:cNvSpPr txBox="1">
            <a:spLocks/>
          </p:cNvSpPr>
          <p:nvPr/>
        </p:nvSpPr>
        <p:spPr>
          <a:xfrm>
            <a:off x="1164641" y="2036101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Status Update LDF Data Platform</a:t>
            </a:r>
          </a:p>
        </p:txBody>
      </p:sp>
      <p:sp>
        <p:nvSpPr>
          <p:cNvPr id="18" name="Rectangle 1276">
            <a:extLst>
              <a:ext uri="{FF2B5EF4-FFF2-40B4-BE49-F238E27FC236}">
                <a16:creationId xmlns:a16="http://schemas.microsoft.com/office/drawing/2014/main" id="{C598E224-8417-EDB5-45DA-A7948C228635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036195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40000"/>
                    </a:srgbClr>
                  </a:outerShdw>
                </a:effectLst>
                <a:latin typeface="+mj-lt"/>
                <a:cs typeface="Segoe UI" pitchFamily="34" charset="0"/>
              </a:rPr>
              <a:t>1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967B95A-4441-910A-5FA9-9FD67F52A7B3}"/>
              </a:ext>
            </a:extLst>
          </p:cNvPr>
          <p:cNvCxnSpPr>
            <a:cxnSpLocks/>
          </p:cNvCxnSpPr>
          <p:nvPr/>
        </p:nvCxnSpPr>
        <p:spPr>
          <a:xfrm flipH="1">
            <a:off x="983432" y="2090101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21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uppieren 256">
            <a:extLst>
              <a:ext uri="{FF2B5EF4-FFF2-40B4-BE49-F238E27FC236}">
                <a16:creationId xmlns:a16="http://schemas.microsoft.com/office/drawing/2014/main" id="{B84E56BA-7D90-D15E-6015-8090CB84F397}"/>
              </a:ext>
            </a:extLst>
          </p:cNvPr>
          <p:cNvGrpSpPr/>
          <p:nvPr/>
        </p:nvGrpSpPr>
        <p:grpSpPr>
          <a:xfrm>
            <a:off x="423962" y="1917168"/>
            <a:ext cx="11360046" cy="3240000"/>
            <a:chOff x="-2824383" y="1958336"/>
            <a:chExt cx="11360046" cy="3024000"/>
          </a:xfrm>
        </p:grpSpPr>
        <p:pic>
          <p:nvPicPr>
            <p:cNvPr id="254" name="Grafik 253">
              <a:extLst>
                <a:ext uri="{FF2B5EF4-FFF2-40B4-BE49-F238E27FC236}">
                  <a16:creationId xmlns:a16="http://schemas.microsoft.com/office/drawing/2014/main" id="{989E391C-2B75-BF30-5D3A-D845F24303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24" t="55194" b="1050"/>
            <a:stretch/>
          </p:blipFill>
          <p:spPr bwMode="invGray">
            <a:xfrm>
              <a:off x="-2824383" y="1958336"/>
              <a:ext cx="11360046" cy="3024000"/>
            </a:xfrm>
            <a:custGeom>
              <a:avLst/>
              <a:gdLst>
                <a:gd name="connsiteX0" fmla="*/ 0 w 12192000"/>
                <a:gd name="connsiteY0" fmla="*/ 0 h 576000"/>
                <a:gd name="connsiteX1" fmla="*/ 12192000 w 12192000"/>
                <a:gd name="connsiteY1" fmla="*/ 0 h 576000"/>
                <a:gd name="connsiteX2" fmla="*/ 12192000 w 12192000"/>
                <a:gd name="connsiteY2" fmla="*/ 576000 h 576000"/>
                <a:gd name="connsiteX3" fmla="*/ 0 w 12192000"/>
                <a:gd name="connsiteY3" fmla="*/ 57600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76000">
                  <a:moveTo>
                    <a:pt x="0" y="0"/>
                  </a:moveTo>
                  <a:lnTo>
                    <a:pt x="12192000" y="0"/>
                  </a:lnTo>
                  <a:lnTo>
                    <a:pt x="12192000" y="576000"/>
                  </a:lnTo>
                  <a:lnTo>
                    <a:pt x="0" y="576000"/>
                  </a:lnTo>
                  <a:close/>
                </a:path>
              </a:pathLst>
            </a:custGeom>
          </p:spPr>
        </p:pic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BE783BC1-6CE0-8401-6ABF-A84AAD3BF031}"/>
                </a:ext>
              </a:extLst>
            </p:cNvPr>
            <p:cNvSpPr/>
            <p:nvPr/>
          </p:nvSpPr>
          <p:spPr>
            <a:xfrm>
              <a:off x="-2824383" y="1958336"/>
              <a:ext cx="11360046" cy="3024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6" name="Rechteck 255">
              <a:extLst>
                <a:ext uri="{FF2B5EF4-FFF2-40B4-BE49-F238E27FC236}">
                  <a16:creationId xmlns:a16="http://schemas.microsoft.com/office/drawing/2014/main" id="{3DFB8929-0B74-3607-3E14-13EEBADD1D34}"/>
                </a:ext>
              </a:extLst>
            </p:cNvPr>
            <p:cNvSpPr/>
            <p:nvPr/>
          </p:nvSpPr>
          <p:spPr>
            <a:xfrm>
              <a:off x="-2824383" y="1958336"/>
              <a:ext cx="11360046" cy="3024000"/>
            </a:xfrm>
            <a:prstGeom prst="rect">
              <a:avLst/>
            </a:prstGeom>
            <a:solidFill>
              <a:srgbClr val="000028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4C487B27-03B4-2253-D465-4ED1426B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400" b="0">
                <a:solidFill>
                  <a:prstClr val="white"/>
                </a:solidFill>
                <a:latin typeface="Arial"/>
              </a:rPr>
              <a:t>2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Synergies of LDF Data Platform within SDC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/>
              <a:t>Full integration of IoT Data Lake into open data ecosystem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1702F8-D65E-0099-99E4-FF850E98AB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LDF Data Platform | 2023-09-07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FFAC0-6140-C4F1-3D14-0E92C643C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A0AA4084-F5EA-96B2-73B8-ECE6B0785C0E}"/>
              </a:ext>
            </a:extLst>
          </p:cNvPr>
          <p:cNvSpPr/>
          <p:nvPr/>
        </p:nvSpPr>
        <p:spPr>
          <a:xfrm>
            <a:off x="410400" y="1917168"/>
            <a:ext cx="11373608" cy="3240000"/>
          </a:xfrm>
          <a:custGeom>
            <a:avLst/>
            <a:gdLst>
              <a:gd name="connsiteX0" fmla="*/ 5757608 w 11373608"/>
              <a:gd name="connsiteY0" fmla="*/ 0 h 3024000"/>
              <a:gd name="connsiteX1" fmla="*/ 11373608 w 11373608"/>
              <a:gd name="connsiteY1" fmla="*/ 0 h 3024000"/>
              <a:gd name="connsiteX2" fmla="*/ 11373608 w 11373608"/>
              <a:gd name="connsiteY2" fmla="*/ 3024000 h 3024000"/>
              <a:gd name="connsiteX3" fmla="*/ 5757608 w 11373608"/>
              <a:gd name="connsiteY3" fmla="*/ 3024000 h 3024000"/>
              <a:gd name="connsiteX4" fmla="*/ 5757608 w 11373608"/>
              <a:gd name="connsiteY4" fmla="*/ 2664000 h 3024000"/>
              <a:gd name="connsiteX5" fmla="*/ 5829608 w 11373608"/>
              <a:gd name="connsiteY5" fmla="*/ 2664000 h 3024000"/>
              <a:gd name="connsiteX6" fmla="*/ 5829608 w 11373608"/>
              <a:gd name="connsiteY6" fmla="*/ 2950640 h 3024000"/>
              <a:gd name="connsiteX7" fmla="*/ 11301608 w 11373608"/>
              <a:gd name="connsiteY7" fmla="*/ 2950640 h 3024000"/>
              <a:gd name="connsiteX8" fmla="*/ 11301608 w 11373608"/>
              <a:gd name="connsiteY8" fmla="*/ 71999 h 3024000"/>
              <a:gd name="connsiteX9" fmla="*/ 5829608 w 11373608"/>
              <a:gd name="connsiteY9" fmla="*/ 71999 h 3024000"/>
              <a:gd name="connsiteX10" fmla="*/ 5829608 w 11373608"/>
              <a:gd name="connsiteY10" fmla="*/ 360000 h 3024000"/>
              <a:gd name="connsiteX11" fmla="*/ 5757608 w 11373608"/>
              <a:gd name="connsiteY11" fmla="*/ 360000 h 3024000"/>
              <a:gd name="connsiteX12" fmla="*/ 0 w 11373608"/>
              <a:gd name="connsiteY12" fmla="*/ 0 h 3024000"/>
              <a:gd name="connsiteX13" fmla="*/ 5616000 w 11373608"/>
              <a:gd name="connsiteY13" fmla="*/ 0 h 3024000"/>
              <a:gd name="connsiteX14" fmla="*/ 5616000 w 11373608"/>
              <a:gd name="connsiteY14" fmla="*/ 360000 h 3024000"/>
              <a:gd name="connsiteX15" fmla="*/ 5544000 w 11373608"/>
              <a:gd name="connsiteY15" fmla="*/ 360000 h 3024000"/>
              <a:gd name="connsiteX16" fmla="*/ 5544000 w 11373608"/>
              <a:gd name="connsiteY16" fmla="*/ 71999 h 3024000"/>
              <a:gd name="connsiteX17" fmla="*/ 72000 w 11373608"/>
              <a:gd name="connsiteY17" fmla="*/ 71999 h 3024000"/>
              <a:gd name="connsiteX18" fmla="*/ 72000 w 11373608"/>
              <a:gd name="connsiteY18" fmla="*/ 2950640 h 3024000"/>
              <a:gd name="connsiteX19" fmla="*/ 5544000 w 11373608"/>
              <a:gd name="connsiteY19" fmla="*/ 2950640 h 3024000"/>
              <a:gd name="connsiteX20" fmla="*/ 5544000 w 11373608"/>
              <a:gd name="connsiteY20" fmla="*/ 2664000 h 3024000"/>
              <a:gd name="connsiteX21" fmla="*/ 5616000 w 11373608"/>
              <a:gd name="connsiteY21" fmla="*/ 2664000 h 3024000"/>
              <a:gd name="connsiteX22" fmla="*/ 5616000 w 11373608"/>
              <a:gd name="connsiteY22" fmla="*/ 3024000 h 3024000"/>
              <a:gd name="connsiteX23" fmla="*/ 0 w 11373608"/>
              <a:gd name="connsiteY23" fmla="*/ 3024000 h 30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373608" h="3024000">
                <a:moveTo>
                  <a:pt x="5757608" y="0"/>
                </a:moveTo>
                <a:lnTo>
                  <a:pt x="11373608" y="0"/>
                </a:lnTo>
                <a:lnTo>
                  <a:pt x="11373608" y="3024000"/>
                </a:lnTo>
                <a:lnTo>
                  <a:pt x="5757608" y="3024000"/>
                </a:lnTo>
                <a:lnTo>
                  <a:pt x="5757608" y="2664000"/>
                </a:lnTo>
                <a:lnTo>
                  <a:pt x="5829608" y="2664000"/>
                </a:lnTo>
                <a:lnTo>
                  <a:pt x="5829608" y="2950640"/>
                </a:lnTo>
                <a:lnTo>
                  <a:pt x="11301608" y="2950640"/>
                </a:lnTo>
                <a:lnTo>
                  <a:pt x="11301608" y="71999"/>
                </a:lnTo>
                <a:lnTo>
                  <a:pt x="5829608" y="71999"/>
                </a:lnTo>
                <a:lnTo>
                  <a:pt x="5829608" y="360000"/>
                </a:lnTo>
                <a:lnTo>
                  <a:pt x="5757608" y="360000"/>
                </a:lnTo>
                <a:close/>
                <a:moveTo>
                  <a:pt x="0" y="0"/>
                </a:moveTo>
                <a:lnTo>
                  <a:pt x="5616000" y="0"/>
                </a:lnTo>
                <a:lnTo>
                  <a:pt x="5616000" y="360000"/>
                </a:lnTo>
                <a:lnTo>
                  <a:pt x="5544000" y="360000"/>
                </a:lnTo>
                <a:lnTo>
                  <a:pt x="5544000" y="71999"/>
                </a:lnTo>
                <a:lnTo>
                  <a:pt x="72000" y="71999"/>
                </a:lnTo>
                <a:lnTo>
                  <a:pt x="72000" y="2950640"/>
                </a:lnTo>
                <a:lnTo>
                  <a:pt x="5544000" y="2950640"/>
                </a:lnTo>
                <a:lnTo>
                  <a:pt x="5544000" y="2664000"/>
                </a:lnTo>
                <a:lnTo>
                  <a:pt x="5616000" y="2664000"/>
                </a:lnTo>
                <a:lnTo>
                  <a:pt x="5616000" y="3024000"/>
                </a:lnTo>
                <a:lnTo>
                  <a:pt x="0" y="3024000"/>
                </a:lnTo>
                <a:close/>
              </a:path>
            </a:pathLst>
          </a:custGeom>
          <a:gradFill flip="none" rotWithShape="1">
            <a:gsLst>
              <a:gs pos="33000">
                <a:schemeClr val="accent2"/>
              </a:gs>
              <a:gs pos="100000">
                <a:schemeClr val="accent4"/>
              </a:gs>
              <a:gs pos="0">
                <a:schemeClr val="accent1"/>
              </a:gs>
              <a:gs pos="72000">
                <a:schemeClr val="accent3">
                  <a:lumMod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1C41D21-FEFB-6939-8EAF-0A6EEF436C41}"/>
              </a:ext>
            </a:extLst>
          </p:cNvPr>
          <p:cNvSpPr/>
          <p:nvPr/>
        </p:nvSpPr>
        <p:spPr>
          <a:xfrm>
            <a:off x="587388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Sources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F02F33E-5E42-C333-A9FB-28250C064974}"/>
              </a:ext>
            </a:extLst>
          </p:cNvPr>
          <p:cNvSpPr/>
          <p:nvPr/>
        </p:nvSpPr>
        <p:spPr>
          <a:xfrm>
            <a:off x="2819636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(Pre-) Processing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A9753FE2-83D5-E34A-B3FC-B5088ED0283D}"/>
              </a:ext>
            </a:extLst>
          </p:cNvPr>
          <p:cNvSpPr/>
          <p:nvPr/>
        </p:nvSpPr>
        <p:spPr>
          <a:xfrm>
            <a:off x="5052004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Storage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E603494A-B97D-E0E3-4329-AB128F78F9CE}"/>
              </a:ext>
            </a:extLst>
          </p:cNvPr>
          <p:cNvSpPr/>
          <p:nvPr/>
        </p:nvSpPr>
        <p:spPr>
          <a:xfrm>
            <a:off x="7284364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Federated Query Engine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FA4A8AA-E4B2-0536-2054-468BF2DD0BEC}"/>
              </a:ext>
            </a:extLst>
          </p:cNvPr>
          <p:cNvSpPr/>
          <p:nvPr/>
        </p:nvSpPr>
        <p:spPr>
          <a:xfrm>
            <a:off x="9516612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Consumption</a:t>
            </a:r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F330ADDE-9EE0-EEAA-8206-D17A63318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815" y="3069384"/>
            <a:ext cx="553846" cy="288000"/>
          </a:xfrm>
          <a:prstGeom prst="rect">
            <a:avLst/>
          </a:prstGeom>
        </p:spPr>
      </p:pic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A5F2941E-1BA0-22E2-83CA-952E09801387}"/>
              </a:ext>
            </a:extLst>
          </p:cNvPr>
          <p:cNvGrpSpPr/>
          <p:nvPr/>
        </p:nvGrpSpPr>
        <p:grpSpPr>
          <a:xfrm>
            <a:off x="623392" y="3451139"/>
            <a:ext cx="594000" cy="626554"/>
            <a:chOff x="708778" y="3090762"/>
            <a:chExt cx="594000" cy="626554"/>
          </a:xfrm>
        </p:grpSpPr>
        <p:sp>
          <p:nvSpPr>
            <p:cNvPr id="106" name="TextBox 25">
              <a:extLst>
                <a:ext uri="{FF2B5EF4-FFF2-40B4-BE49-F238E27FC236}">
                  <a16:creationId xmlns:a16="http://schemas.microsoft.com/office/drawing/2014/main" id="{1234BDE3-808F-61AD-DE6D-A93DA90AA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778" y="3378762"/>
              <a:ext cx="5940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Machine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2" name="Grafik 251" descr="Roboterhand Silhouette">
              <a:extLst>
                <a:ext uri="{FF2B5EF4-FFF2-40B4-BE49-F238E27FC236}">
                  <a16:creationId xmlns:a16="http://schemas.microsoft.com/office/drawing/2014/main" id="{F0C793DF-0102-132C-0208-D328E2206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1424" y="3090762"/>
              <a:ext cx="288000" cy="288000"/>
            </a:xfrm>
            <a:prstGeom prst="rect">
              <a:avLst/>
            </a:prstGeom>
          </p:spPr>
        </p:pic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F79152D2-D8FC-F680-A0F7-AD62BA1D5C06}"/>
              </a:ext>
            </a:extLst>
          </p:cNvPr>
          <p:cNvGrpSpPr/>
          <p:nvPr/>
        </p:nvGrpSpPr>
        <p:grpSpPr>
          <a:xfrm>
            <a:off x="1163512" y="2996952"/>
            <a:ext cx="540000" cy="503444"/>
            <a:chOff x="704559" y="2714825"/>
            <a:chExt cx="540000" cy="503444"/>
          </a:xfrm>
        </p:grpSpPr>
        <p:sp>
          <p:nvSpPr>
            <p:cNvPr id="109" name="TextBox 25">
              <a:extLst>
                <a:ext uri="{FF2B5EF4-FFF2-40B4-BE49-F238E27FC236}">
                  <a16:creationId xmlns:a16="http://schemas.microsoft.com/office/drawing/2014/main" id="{57438015-8F03-74E5-1363-71C0C2B67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559" y="3002825"/>
              <a:ext cx="5400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Tester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0" name="Graphic 12">
              <a:extLst>
                <a:ext uri="{FF2B5EF4-FFF2-40B4-BE49-F238E27FC236}">
                  <a16:creationId xmlns:a16="http://schemas.microsoft.com/office/drawing/2014/main" id="{2CD4C2EE-FDA9-A29B-30E7-1950492A8D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830559" y="2714825"/>
              <a:ext cx="288000" cy="288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0" name="Rechteck 139">
            <a:extLst>
              <a:ext uri="{FF2B5EF4-FFF2-40B4-BE49-F238E27FC236}">
                <a16:creationId xmlns:a16="http://schemas.microsoft.com/office/drawing/2014/main" id="{E98CD44C-C27C-32B9-7ACC-8F687618F42B}"/>
              </a:ext>
            </a:extLst>
          </p:cNvPr>
          <p:cNvSpPr/>
          <p:nvPr/>
        </p:nvSpPr>
        <p:spPr bwMode="gray">
          <a:xfrm>
            <a:off x="3776902" y="3592971"/>
            <a:ext cx="36000" cy="36422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69E431AE-BA38-8C82-5A8B-F59F042DD86F}"/>
              </a:ext>
            </a:extLst>
          </p:cNvPr>
          <p:cNvSpPr/>
          <p:nvPr/>
        </p:nvSpPr>
        <p:spPr bwMode="gray">
          <a:xfrm>
            <a:off x="3776902" y="3897226"/>
            <a:ext cx="36000" cy="38982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0AEB2738-74C4-01EE-C826-6B72503E5FC2}"/>
              </a:ext>
            </a:extLst>
          </p:cNvPr>
          <p:cNvCxnSpPr/>
          <p:nvPr/>
        </p:nvCxnSpPr>
        <p:spPr>
          <a:xfrm flipH="1">
            <a:off x="3857697" y="3357384"/>
            <a:ext cx="81" cy="144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B0221728-4FE8-87D6-425B-EEEC6C9610ED}"/>
              </a:ext>
            </a:extLst>
          </p:cNvPr>
          <p:cNvGrpSpPr/>
          <p:nvPr/>
        </p:nvGrpSpPr>
        <p:grpSpPr>
          <a:xfrm>
            <a:off x="1537988" y="3632900"/>
            <a:ext cx="2304000" cy="263031"/>
            <a:chOff x="1501984" y="3212976"/>
            <a:chExt cx="2304000" cy="263031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6C916946-762E-89A1-7A80-9543078E98E2}"/>
                </a:ext>
              </a:extLst>
            </p:cNvPr>
            <p:cNvCxnSpPr/>
            <p:nvPr/>
          </p:nvCxnSpPr>
          <p:spPr>
            <a:xfrm flipV="1">
              <a:off x="1501984" y="3212976"/>
              <a:ext cx="2304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D8901AA0-424B-E8D1-5621-31B054A0BC45}"/>
                </a:ext>
              </a:extLst>
            </p:cNvPr>
            <p:cNvCxnSpPr/>
            <p:nvPr/>
          </p:nvCxnSpPr>
          <p:spPr>
            <a:xfrm flipV="1">
              <a:off x="1501984" y="3476007"/>
              <a:ext cx="2304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Gleichschenkliges Dreieck 138">
            <a:extLst>
              <a:ext uri="{FF2B5EF4-FFF2-40B4-BE49-F238E27FC236}">
                <a16:creationId xmlns:a16="http://schemas.microsoft.com/office/drawing/2014/main" id="{A5CFBD45-973A-4CCB-7697-DE71F0A07C61}"/>
              </a:ext>
            </a:extLst>
          </p:cNvPr>
          <p:cNvSpPr/>
          <p:nvPr/>
        </p:nvSpPr>
        <p:spPr bwMode="gray">
          <a:xfrm>
            <a:off x="3776902" y="3548415"/>
            <a:ext cx="108000" cy="44556"/>
          </a:xfrm>
          <a:prstGeom prst="triangle">
            <a:avLst/>
          </a:prstGeom>
          <a:solidFill>
            <a:srgbClr val="953A0D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1" name="Gleichschenkliges Dreieck 140">
            <a:extLst>
              <a:ext uri="{FF2B5EF4-FFF2-40B4-BE49-F238E27FC236}">
                <a16:creationId xmlns:a16="http://schemas.microsoft.com/office/drawing/2014/main" id="{E2452CC5-D1F1-450F-417C-F6345157E7D5}"/>
              </a:ext>
            </a:extLst>
          </p:cNvPr>
          <p:cNvSpPr/>
          <p:nvPr/>
        </p:nvSpPr>
        <p:spPr bwMode="gray">
          <a:xfrm flipV="1">
            <a:off x="3776902" y="3935859"/>
            <a:ext cx="108000" cy="44556"/>
          </a:xfrm>
          <a:prstGeom prst="triangle">
            <a:avLst/>
          </a:prstGeom>
          <a:solidFill>
            <a:srgbClr val="953A0D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648396BB-6605-D67F-4B92-AD09C45C111B}"/>
              </a:ext>
            </a:extLst>
          </p:cNvPr>
          <p:cNvGrpSpPr/>
          <p:nvPr/>
        </p:nvGrpSpPr>
        <p:grpSpPr>
          <a:xfrm>
            <a:off x="3899756" y="3692407"/>
            <a:ext cx="1260000" cy="144016"/>
            <a:chOff x="4010025" y="3356992"/>
            <a:chExt cx="1332373" cy="144016"/>
          </a:xfrm>
        </p:grpSpPr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081BA5B0-87CE-1411-02E4-3CFF164D360C}"/>
                </a:ext>
              </a:extLst>
            </p:cNvPr>
            <p:cNvCxnSpPr/>
            <p:nvPr/>
          </p:nvCxnSpPr>
          <p:spPr>
            <a:xfrm>
              <a:off x="4010025" y="3501008"/>
              <a:ext cx="1332373" cy="0"/>
            </a:xfrm>
            <a:prstGeom prst="line">
              <a:avLst/>
            </a:prstGeom>
            <a:ln w="95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5B10F145-34A1-F672-9620-5980ABB8D252}"/>
                </a:ext>
              </a:extLst>
            </p:cNvPr>
            <p:cNvCxnSpPr/>
            <p:nvPr/>
          </p:nvCxnSpPr>
          <p:spPr>
            <a:xfrm>
              <a:off x="4010025" y="3356992"/>
              <a:ext cx="1332373" cy="0"/>
            </a:xfrm>
            <a:prstGeom prst="line">
              <a:avLst/>
            </a:prstGeom>
            <a:ln w="95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hteck 142">
            <a:extLst>
              <a:ext uri="{FF2B5EF4-FFF2-40B4-BE49-F238E27FC236}">
                <a16:creationId xmlns:a16="http://schemas.microsoft.com/office/drawing/2014/main" id="{C47E60E1-19E3-B9A3-9353-FE7F0685904E}"/>
              </a:ext>
            </a:extLst>
          </p:cNvPr>
          <p:cNvSpPr/>
          <p:nvPr/>
        </p:nvSpPr>
        <p:spPr bwMode="gray">
          <a:xfrm>
            <a:off x="3830943" y="3548415"/>
            <a:ext cx="107631" cy="432000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7" name="Rechteck 166">
            <a:extLst>
              <a:ext uri="{FF2B5EF4-FFF2-40B4-BE49-F238E27FC236}">
                <a16:creationId xmlns:a16="http://schemas.microsoft.com/office/drawing/2014/main" id="{F4D06C8E-166A-C2D0-2ABB-909CDD53F382}"/>
              </a:ext>
            </a:extLst>
          </p:cNvPr>
          <p:cNvSpPr/>
          <p:nvPr/>
        </p:nvSpPr>
        <p:spPr>
          <a:xfrm>
            <a:off x="5011594" y="3859422"/>
            <a:ext cx="1052656" cy="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100100111001101</a:t>
            </a:r>
          </a:p>
        </p:txBody>
      </p:sp>
      <p:sp>
        <p:nvSpPr>
          <p:cNvPr id="168" name="Rechteck 167">
            <a:extLst>
              <a:ext uri="{FF2B5EF4-FFF2-40B4-BE49-F238E27FC236}">
                <a16:creationId xmlns:a16="http://schemas.microsoft.com/office/drawing/2014/main" id="{E3CD5897-A766-05CD-C9C0-9E10A26B72AB}"/>
              </a:ext>
            </a:extLst>
          </p:cNvPr>
          <p:cNvSpPr/>
          <p:nvPr/>
        </p:nvSpPr>
        <p:spPr>
          <a:xfrm>
            <a:off x="5011594" y="3643390"/>
            <a:ext cx="1052656" cy="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01011010101011101010</a:t>
            </a:r>
          </a:p>
        </p:txBody>
      </p:sp>
      <p:sp>
        <p:nvSpPr>
          <p:cNvPr id="266" name="Rechteck: abgerundete Ecken 265">
            <a:extLst>
              <a:ext uri="{FF2B5EF4-FFF2-40B4-BE49-F238E27FC236}">
                <a16:creationId xmlns:a16="http://schemas.microsoft.com/office/drawing/2014/main" id="{4963817F-8B4D-A4E0-C58C-7B7E90B73970}"/>
              </a:ext>
            </a:extLst>
          </p:cNvPr>
          <p:cNvSpPr/>
          <p:nvPr/>
        </p:nvSpPr>
        <p:spPr>
          <a:xfrm>
            <a:off x="5160004" y="3116415"/>
            <a:ext cx="1872000" cy="1152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Rechteck 272">
            <a:extLst>
              <a:ext uri="{FF2B5EF4-FFF2-40B4-BE49-F238E27FC236}">
                <a16:creationId xmlns:a16="http://schemas.microsoft.com/office/drawing/2014/main" id="{A746793F-386A-4733-4358-F7D425804AE3}"/>
              </a:ext>
            </a:extLst>
          </p:cNvPr>
          <p:cNvSpPr/>
          <p:nvPr/>
        </p:nvSpPr>
        <p:spPr>
          <a:xfrm>
            <a:off x="6996092" y="3746415"/>
            <a:ext cx="612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1" name="Rechteck 350">
            <a:extLst>
              <a:ext uri="{FF2B5EF4-FFF2-40B4-BE49-F238E27FC236}">
                <a16:creationId xmlns:a16="http://schemas.microsoft.com/office/drawing/2014/main" id="{41E8F0AF-5ED8-0862-AEED-F3FC6AB7B79E}"/>
              </a:ext>
            </a:extLst>
          </p:cNvPr>
          <p:cNvSpPr/>
          <p:nvPr/>
        </p:nvSpPr>
        <p:spPr>
          <a:xfrm>
            <a:off x="9228400" y="3209149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2" name="Rechteck 351">
            <a:extLst>
              <a:ext uri="{FF2B5EF4-FFF2-40B4-BE49-F238E27FC236}">
                <a16:creationId xmlns:a16="http://schemas.microsoft.com/office/drawing/2014/main" id="{6F52EA6F-CEC7-5405-AC5F-F20C36C49940}"/>
              </a:ext>
            </a:extLst>
          </p:cNvPr>
          <p:cNvSpPr/>
          <p:nvPr/>
        </p:nvSpPr>
        <p:spPr>
          <a:xfrm>
            <a:off x="9228352" y="4365615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2" name="Gruppieren 261">
            <a:extLst>
              <a:ext uri="{FF2B5EF4-FFF2-40B4-BE49-F238E27FC236}">
                <a16:creationId xmlns:a16="http://schemas.microsoft.com/office/drawing/2014/main" id="{D4657972-625C-BD37-4BDC-D734A4083935}"/>
              </a:ext>
            </a:extLst>
          </p:cNvPr>
          <p:cNvGrpSpPr/>
          <p:nvPr/>
        </p:nvGrpSpPr>
        <p:grpSpPr>
          <a:xfrm>
            <a:off x="5603563" y="3124709"/>
            <a:ext cx="1056881" cy="288000"/>
            <a:chOff x="6834098" y="5638764"/>
            <a:chExt cx="1056881" cy="288000"/>
          </a:xfrm>
        </p:grpSpPr>
        <p:pic>
          <p:nvPicPr>
            <p:cNvPr id="260" name="Picture 2">
              <a:extLst>
                <a:ext uri="{FF2B5EF4-FFF2-40B4-BE49-F238E27FC236}">
                  <a16:creationId xmlns:a16="http://schemas.microsoft.com/office/drawing/2014/main" id="{E789C2CA-6654-BFF6-9320-FA14DBD98C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759"/>
            <a:stretch/>
          </p:blipFill>
          <p:spPr bwMode="auto">
            <a:xfrm>
              <a:off x="6834098" y="5638764"/>
              <a:ext cx="77407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" name="Picture 2">
              <a:extLst>
                <a:ext uri="{FF2B5EF4-FFF2-40B4-BE49-F238E27FC236}">
                  <a16:creationId xmlns:a16="http://schemas.microsoft.com/office/drawing/2014/main" id="{77F81ADC-9E95-7B25-F09C-27C3A61893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241"/>
            <a:stretch/>
          </p:blipFill>
          <p:spPr bwMode="auto">
            <a:xfrm>
              <a:off x="7608168" y="5638764"/>
              <a:ext cx="282811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5" name="Gruppieren 274">
            <a:extLst>
              <a:ext uri="{FF2B5EF4-FFF2-40B4-BE49-F238E27FC236}">
                <a16:creationId xmlns:a16="http://schemas.microsoft.com/office/drawing/2014/main" id="{7342E38E-36D3-942B-22D4-8011C1B6B1D7}"/>
              </a:ext>
            </a:extLst>
          </p:cNvPr>
          <p:cNvGrpSpPr/>
          <p:nvPr/>
        </p:nvGrpSpPr>
        <p:grpSpPr>
          <a:xfrm>
            <a:off x="5224478" y="3511591"/>
            <a:ext cx="722945" cy="504000"/>
            <a:chOff x="5123632" y="3151175"/>
            <a:chExt cx="722945" cy="504000"/>
          </a:xfrm>
        </p:grpSpPr>
        <p:sp>
          <p:nvSpPr>
            <p:cNvPr id="160" name="Freeform 22">
              <a:extLst>
                <a:ext uri="{FF2B5EF4-FFF2-40B4-BE49-F238E27FC236}">
                  <a16:creationId xmlns:a16="http://schemas.microsoft.com/office/drawing/2014/main" id="{99C3A428-D6B9-0FB6-5619-EEF50B1D0F19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5241079" y="3537609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Freeform 22">
              <a:extLst>
                <a:ext uri="{FF2B5EF4-FFF2-40B4-BE49-F238E27FC236}">
                  <a16:creationId xmlns:a16="http://schemas.microsoft.com/office/drawing/2014/main" id="{ED6BA758-02FC-22E1-E596-B45B6797A08B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5241079" y="3151175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Freeform 22">
              <a:extLst>
                <a:ext uri="{FF2B5EF4-FFF2-40B4-BE49-F238E27FC236}">
                  <a16:creationId xmlns:a16="http://schemas.microsoft.com/office/drawing/2014/main" id="{35394B65-0A56-6B9F-C97F-35745C9D7C9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632881" y="3537609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D7DAA051-05FA-C8DE-AEF4-A80887ACA233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5632881" y="3151175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Rechteck 164">
              <a:extLst>
                <a:ext uri="{FF2B5EF4-FFF2-40B4-BE49-F238E27FC236}">
                  <a16:creationId xmlns:a16="http://schemas.microsoft.com/office/drawing/2014/main" id="{A707F400-8E17-A82C-A691-F0144BAF7A57}"/>
                </a:ext>
              </a:extLst>
            </p:cNvPr>
            <p:cNvSpPr/>
            <p:nvPr/>
          </p:nvSpPr>
          <p:spPr>
            <a:xfrm>
              <a:off x="5135511" y="3426990"/>
              <a:ext cx="711066" cy="7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0101010101010101010111</a:t>
              </a:r>
            </a:p>
          </p:txBody>
        </p:sp>
        <p:sp>
          <p:nvSpPr>
            <p:cNvPr id="166" name="Rechteck 165">
              <a:extLst>
                <a:ext uri="{FF2B5EF4-FFF2-40B4-BE49-F238E27FC236}">
                  <a16:creationId xmlns:a16="http://schemas.microsoft.com/office/drawing/2014/main" id="{AC35A9FC-CD7E-CEC2-140F-5C39EC221582}"/>
                </a:ext>
              </a:extLst>
            </p:cNvPr>
            <p:cNvSpPr/>
            <p:nvPr/>
          </p:nvSpPr>
          <p:spPr>
            <a:xfrm>
              <a:off x="5123632" y="3354982"/>
              <a:ext cx="656872" cy="7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11010101011101001</a:t>
              </a:r>
            </a:p>
          </p:txBody>
        </p:sp>
      </p:grp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4A85068E-A55D-77E3-33CB-25F7CF4FFF97}"/>
              </a:ext>
            </a:extLst>
          </p:cNvPr>
          <p:cNvGrpSpPr/>
          <p:nvPr/>
        </p:nvGrpSpPr>
        <p:grpSpPr>
          <a:xfrm>
            <a:off x="6420036" y="3507162"/>
            <a:ext cx="513126" cy="504056"/>
            <a:chOff x="1476502" y="5167963"/>
            <a:chExt cx="513126" cy="504056"/>
          </a:xfrm>
        </p:grpSpPr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85890439-208D-A81B-507B-ECFA858A3DBD}"/>
                </a:ext>
              </a:extLst>
            </p:cNvPr>
            <p:cNvGrpSpPr/>
            <p:nvPr/>
          </p:nvGrpSpPr>
          <p:grpSpPr>
            <a:xfrm>
              <a:off x="1476502" y="5167963"/>
              <a:ext cx="504000" cy="504000"/>
              <a:chOff x="3878994" y="1419622"/>
              <a:chExt cx="936000" cy="936000"/>
            </a:xfrm>
          </p:grpSpPr>
          <p:sp>
            <p:nvSpPr>
              <p:cNvPr id="222" name="Rechteck 221">
                <a:extLst>
                  <a:ext uri="{FF2B5EF4-FFF2-40B4-BE49-F238E27FC236}">
                    <a16:creationId xmlns:a16="http://schemas.microsoft.com/office/drawing/2014/main" id="{46C1E10A-4219-2842-B7EA-9A7EBCE52C2A}"/>
                  </a:ext>
                </a:extLst>
              </p:cNvPr>
              <p:cNvSpPr/>
              <p:nvPr/>
            </p:nvSpPr>
            <p:spPr>
              <a:xfrm>
                <a:off x="3878994" y="1419622"/>
                <a:ext cx="936000" cy="936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cxnSp>
            <p:nvCxnSpPr>
              <p:cNvPr id="223" name="Gerader Verbinder 222">
                <a:extLst>
                  <a:ext uri="{FF2B5EF4-FFF2-40B4-BE49-F238E27FC236}">
                    <a16:creationId xmlns:a16="http://schemas.microsoft.com/office/drawing/2014/main" id="{C7D4B6F7-F83D-AD2B-1631-7A7A04081F5E}"/>
                  </a:ext>
                </a:extLst>
              </p:cNvPr>
              <p:cNvCxnSpPr>
                <a:cxnSpLocks/>
                <a:stCxn id="222" idx="0"/>
                <a:endCxn id="222" idx="2"/>
              </p:cNvCxnSpPr>
              <p:nvPr/>
            </p:nvCxnSpPr>
            <p:spPr>
              <a:xfrm>
                <a:off x="4346994" y="1419622"/>
                <a:ext cx="0" cy="93600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</a:ln>
              <a:effectLst/>
            </p:spPr>
          </p:cxnSp>
        </p:grpSp>
        <p:sp>
          <p:nvSpPr>
            <p:cNvPr id="208" name="Rechteck 207">
              <a:extLst>
                <a:ext uri="{FF2B5EF4-FFF2-40B4-BE49-F238E27FC236}">
                  <a16:creationId xmlns:a16="http://schemas.microsoft.com/office/drawing/2014/main" id="{EAEE89EB-B522-DBCD-5DB1-F1DC59976E0F}"/>
                </a:ext>
              </a:extLst>
            </p:cNvPr>
            <p:cNvSpPr/>
            <p:nvPr/>
          </p:nvSpPr>
          <p:spPr>
            <a:xfrm>
              <a:off x="1476502" y="516796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100010</a:t>
              </a:r>
            </a:p>
          </p:txBody>
        </p:sp>
        <p:sp>
          <p:nvSpPr>
            <p:cNvPr id="209" name="Rechteck 208">
              <a:extLst>
                <a:ext uri="{FF2B5EF4-FFF2-40B4-BE49-F238E27FC236}">
                  <a16:creationId xmlns:a16="http://schemas.microsoft.com/office/drawing/2014/main" id="{A48A0065-D2EE-7ED6-ED0F-3C182459BB90}"/>
                </a:ext>
              </a:extLst>
            </p:cNvPr>
            <p:cNvSpPr/>
            <p:nvPr/>
          </p:nvSpPr>
          <p:spPr>
            <a:xfrm>
              <a:off x="1476502" y="523997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100101</a:t>
              </a:r>
            </a:p>
          </p:txBody>
        </p:sp>
        <p:sp>
          <p:nvSpPr>
            <p:cNvPr id="210" name="Rechteck 209">
              <a:extLst>
                <a:ext uri="{FF2B5EF4-FFF2-40B4-BE49-F238E27FC236}">
                  <a16:creationId xmlns:a16="http://schemas.microsoft.com/office/drawing/2014/main" id="{203BE373-0551-B4DD-BB3F-F86F0F292EF7}"/>
                </a:ext>
              </a:extLst>
            </p:cNvPr>
            <p:cNvSpPr/>
            <p:nvPr/>
          </p:nvSpPr>
          <p:spPr>
            <a:xfrm>
              <a:off x="1476502" y="5311987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1" name="Rechteck 210">
              <a:extLst>
                <a:ext uri="{FF2B5EF4-FFF2-40B4-BE49-F238E27FC236}">
                  <a16:creationId xmlns:a16="http://schemas.microsoft.com/office/drawing/2014/main" id="{9B3DAB1E-4C54-5328-06B7-866CAE03C205}"/>
                </a:ext>
              </a:extLst>
            </p:cNvPr>
            <p:cNvSpPr/>
            <p:nvPr/>
          </p:nvSpPr>
          <p:spPr>
            <a:xfrm>
              <a:off x="1476502" y="5383995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101010</a:t>
              </a:r>
            </a:p>
          </p:txBody>
        </p: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4B5A3249-C765-F18B-0AE5-99A7F83E7E76}"/>
                </a:ext>
              </a:extLst>
            </p:cNvPr>
            <p:cNvSpPr/>
            <p:nvPr/>
          </p:nvSpPr>
          <p:spPr>
            <a:xfrm>
              <a:off x="1476502" y="545600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3" name="Rechteck 212">
              <a:extLst>
                <a:ext uri="{FF2B5EF4-FFF2-40B4-BE49-F238E27FC236}">
                  <a16:creationId xmlns:a16="http://schemas.microsoft.com/office/drawing/2014/main" id="{8F6CC751-D51B-1FF1-7CC8-A0DB93AED8DC}"/>
                </a:ext>
              </a:extLst>
            </p:cNvPr>
            <p:cNvSpPr/>
            <p:nvPr/>
          </p:nvSpPr>
          <p:spPr>
            <a:xfrm>
              <a:off x="1476502" y="552801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101001</a:t>
              </a:r>
            </a:p>
          </p:txBody>
        </p:sp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EBC02FCD-DEA2-53E5-C5C3-D3489CAAE465}"/>
                </a:ext>
              </a:extLst>
            </p:cNvPr>
            <p:cNvSpPr/>
            <p:nvPr/>
          </p:nvSpPr>
          <p:spPr>
            <a:xfrm>
              <a:off x="1476502" y="560001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100110</a:t>
              </a:r>
            </a:p>
          </p:txBody>
        </p:sp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799063A0-FF12-3CC4-4E76-60DD4BDC8698}"/>
                </a:ext>
              </a:extLst>
            </p:cNvPr>
            <p:cNvSpPr/>
            <p:nvPr/>
          </p:nvSpPr>
          <p:spPr>
            <a:xfrm>
              <a:off x="1737632" y="531197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100010</a:t>
              </a:r>
            </a:p>
          </p:txBody>
        </p:sp>
        <p:sp>
          <p:nvSpPr>
            <p:cNvPr id="216" name="Rechteck 215">
              <a:extLst>
                <a:ext uri="{FF2B5EF4-FFF2-40B4-BE49-F238E27FC236}">
                  <a16:creationId xmlns:a16="http://schemas.microsoft.com/office/drawing/2014/main" id="{F729F913-8185-86C4-391B-D8B93806BAF0}"/>
                </a:ext>
              </a:extLst>
            </p:cNvPr>
            <p:cNvSpPr/>
            <p:nvPr/>
          </p:nvSpPr>
          <p:spPr>
            <a:xfrm>
              <a:off x="1737632" y="5383987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100101</a:t>
              </a:r>
            </a:p>
          </p:txBody>
        </p:sp>
        <p:sp>
          <p:nvSpPr>
            <p:cNvPr id="217" name="Rechteck 216">
              <a:extLst>
                <a:ext uri="{FF2B5EF4-FFF2-40B4-BE49-F238E27FC236}">
                  <a16:creationId xmlns:a16="http://schemas.microsoft.com/office/drawing/2014/main" id="{EE07686C-1821-DC0C-3635-7646F7B2E0A8}"/>
                </a:ext>
              </a:extLst>
            </p:cNvPr>
            <p:cNvSpPr/>
            <p:nvPr/>
          </p:nvSpPr>
          <p:spPr>
            <a:xfrm>
              <a:off x="1737632" y="545600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D7CC6D19-BB7B-9948-30C0-53D21D5D5F80}"/>
                </a:ext>
              </a:extLst>
            </p:cNvPr>
            <p:cNvSpPr/>
            <p:nvPr/>
          </p:nvSpPr>
          <p:spPr>
            <a:xfrm>
              <a:off x="1737632" y="552801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101010</a:t>
              </a:r>
            </a:p>
          </p:txBody>
        </p:sp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74FDC42C-FE3C-98C5-3E9D-144AE804ACE0}"/>
                </a:ext>
              </a:extLst>
            </p:cNvPr>
            <p:cNvSpPr/>
            <p:nvPr/>
          </p:nvSpPr>
          <p:spPr>
            <a:xfrm>
              <a:off x="1737632" y="560001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1568ABC0-1B87-AF2C-3830-5E98D6A3C972}"/>
                </a:ext>
              </a:extLst>
            </p:cNvPr>
            <p:cNvSpPr/>
            <p:nvPr/>
          </p:nvSpPr>
          <p:spPr>
            <a:xfrm>
              <a:off x="1737632" y="516796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101001</a:t>
              </a:r>
            </a:p>
          </p:txBody>
        </p:sp>
        <p:sp>
          <p:nvSpPr>
            <p:cNvPr id="221" name="Rechteck 220">
              <a:extLst>
                <a:ext uri="{FF2B5EF4-FFF2-40B4-BE49-F238E27FC236}">
                  <a16:creationId xmlns:a16="http://schemas.microsoft.com/office/drawing/2014/main" id="{2AEEE242-7023-B5E3-F9BD-D725DB432548}"/>
                </a:ext>
              </a:extLst>
            </p:cNvPr>
            <p:cNvSpPr/>
            <p:nvPr/>
          </p:nvSpPr>
          <p:spPr>
            <a:xfrm>
              <a:off x="1737632" y="523997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100110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A28EC745-93CD-8588-A463-953FA6253FC9}"/>
              </a:ext>
            </a:extLst>
          </p:cNvPr>
          <p:cNvGrpSpPr/>
          <p:nvPr/>
        </p:nvGrpSpPr>
        <p:grpSpPr>
          <a:xfrm>
            <a:off x="5987988" y="3615190"/>
            <a:ext cx="288032" cy="288000"/>
            <a:chOff x="5807968" y="3254774"/>
            <a:chExt cx="288032" cy="288000"/>
          </a:xfrm>
        </p:grpSpPr>
        <p:sp>
          <p:nvSpPr>
            <p:cNvPr id="245" name="Pfeil: Chevron 244">
              <a:extLst>
                <a:ext uri="{FF2B5EF4-FFF2-40B4-BE49-F238E27FC236}">
                  <a16:creationId xmlns:a16="http://schemas.microsoft.com/office/drawing/2014/main" id="{09F9A552-5D7F-EBCF-DDC2-3198E784AFC3}"/>
                </a:ext>
              </a:extLst>
            </p:cNvPr>
            <p:cNvSpPr/>
            <p:nvPr/>
          </p:nvSpPr>
          <p:spPr>
            <a:xfrm>
              <a:off x="5807968" y="3254774"/>
              <a:ext cx="144000" cy="288000"/>
            </a:xfrm>
            <a:prstGeom prst="chevron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6" name="Pfeil: Chevron 245">
              <a:extLst>
                <a:ext uri="{FF2B5EF4-FFF2-40B4-BE49-F238E27FC236}">
                  <a16:creationId xmlns:a16="http://schemas.microsoft.com/office/drawing/2014/main" id="{AE752702-CAA9-94D4-1AEC-C9C61D678297}"/>
                </a:ext>
              </a:extLst>
            </p:cNvPr>
            <p:cNvSpPr/>
            <p:nvPr/>
          </p:nvSpPr>
          <p:spPr>
            <a:xfrm>
              <a:off x="5952000" y="3254774"/>
              <a:ext cx="144000" cy="288000"/>
            </a:xfrm>
            <a:prstGeom prst="chevron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137B06E9-1ABE-78BE-5753-127BB7DA124E}"/>
              </a:ext>
            </a:extLst>
          </p:cNvPr>
          <p:cNvCxnSpPr/>
          <p:nvPr/>
        </p:nvCxnSpPr>
        <p:spPr>
          <a:xfrm flipH="1">
            <a:off x="6131964" y="3357384"/>
            <a:ext cx="81" cy="144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echteck 271">
            <a:extLst>
              <a:ext uri="{FF2B5EF4-FFF2-40B4-BE49-F238E27FC236}">
                <a16:creationId xmlns:a16="http://schemas.microsoft.com/office/drawing/2014/main" id="{D7D291EB-8731-9BAC-3F19-BA60503F6F30}"/>
              </a:ext>
            </a:extLst>
          </p:cNvPr>
          <p:cNvSpPr/>
          <p:nvPr/>
        </p:nvSpPr>
        <p:spPr>
          <a:xfrm>
            <a:off x="6924092" y="3692415"/>
            <a:ext cx="36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4" name="Rechteck 273">
            <a:extLst>
              <a:ext uri="{FF2B5EF4-FFF2-40B4-BE49-F238E27FC236}">
                <a16:creationId xmlns:a16="http://schemas.microsoft.com/office/drawing/2014/main" id="{CA6AD2B2-4558-EF5F-CCD7-B44CC24130B4}"/>
              </a:ext>
            </a:extLst>
          </p:cNvPr>
          <p:cNvSpPr/>
          <p:nvPr/>
        </p:nvSpPr>
        <p:spPr>
          <a:xfrm>
            <a:off x="6960092" y="3728415"/>
            <a:ext cx="3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0" name="Rechteck 319">
            <a:extLst>
              <a:ext uri="{FF2B5EF4-FFF2-40B4-BE49-F238E27FC236}">
                <a16:creationId xmlns:a16="http://schemas.microsoft.com/office/drawing/2014/main" id="{C4E3CA9D-69BA-7502-10A2-FCEBE6D041B3}"/>
              </a:ext>
            </a:extLst>
          </p:cNvPr>
          <p:cNvSpPr/>
          <p:nvPr/>
        </p:nvSpPr>
        <p:spPr>
          <a:xfrm>
            <a:off x="5556004" y="4412415"/>
            <a:ext cx="108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IoT Data Lake</a:t>
            </a:r>
          </a:p>
        </p:txBody>
      </p:sp>
      <p:sp>
        <p:nvSpPr>
          <p:cNvPr id="321" name="Rechteck: abgerundete Ecken 320">
            <a:extLst>
              <a:ext uri="{FF2B5EF4-FFF2-40B4-BE49-F238E27FC236}">
                <a16:creationId xmlns:a16="http://schemas.microsoft.com/office/drawing/2014/main" id="{C72D2437-4E0A-F537-38B8-43A2AC32016E}"/>
              </a:ext>
            </a:extLst>
          </p:cNvPr>
          <p:cNvSpPr/>
          <p:nvPr/>
        </p:nvSpPr>
        <p:spPr>
          <a:xfrm>
            <a:off x="9624392" y="3543186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Services</a:t>
            </a:r>
          </a:p>
        </p:txBody>
      </p:sp>
      <p:grpSp>
        <p:nvGrpSpPr>
          <p:cNvPr id="333" name="Gruppieren 332">
            <a:extLst>
              <a:ext uri="{FF2B5EF4-FFF2-40B4-BE49-F238E27FC236}">
                <a16:creationId xmlns:a16="http://schemas.microsoft.com/office/drawing/2014/main" id="{A9C15F41-D3BC-08A5-4400-EC4818359353}"/>
              </a:ext>
            </a:extLst>
          </p:cNvPr>
          <p:cNvGrpSpPr>
            <a:grpSpLocks noChangeAspect="1"/>
          </p:cNvGrpSpPr>
          <p:nvPr/>
        </p:nvGrpSpPr>
        <p:grpSpPr>
          <a:xfrm>
            <a:off x="9779884" y="3797127"/>
            <a:ext cx="485025" cy="226864"/>
            <a:chOff x="4898814" y="2439286"/>
            <a:chExt cx="3693520" cy="1727594"/>
          </a:xfrm>
        </p:grpSpPr>
        <p:pic>
          <p:nvPicPr>
            <p:cNvPr id="334" name="Grafik 333">
              <a:extLst>
                <a:ext uri="{FF2B5EF4-FFF2-40B4-BE49-F238E27FC236}">
                  <a16:creationId xmlns:a16="http://schemas.microsoft.com/office/drawing/2014/main" id="{0BF5B3D9-E5F8-7540-116C-090AEBA2AC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43941"/>
            <a:stretch/>
          </p:blipFill>
          <p:spPr>
            <a:xfrm>
              <a:off x="6455999" y="2439286"/>
              <a:ext cx="2136335" cy="1727594"/>
            </a:xfrm>
            <a:prstGeom prst="rect">
              <a:avLst/>
            </a:prstGeom>
          </p:spPr>
        </p:pic>
        <p:pic>
          <p:nvPicPr>
            <p:cNvPr id="335" name="Grafik 334">
              <a:extLst>
                <a:ext uri="{FF2B5EF4-FFF2-40B4-BE49-F238E27FC236}">
                  <a16:creationId xmlns:a16="http://schemas.microsoft.com/office/drawing/2014/main" id="{0921FBB1-6B20-8D4F-FBEB-BD763AB980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4642" r="41776"/>
                      </a14:imgEffect>
                    </a14:imgLayer>
                  </a14:imgProps>
                </a:ext>
              </a:extLst>
            </a:blip>
            <a:srcRect t="23677" r="53582" b="24746"/>
            <a:stretch/>
          </p:blipFill>
          <p:spPr>
            <a:xfrm>
              <a:off x="4898814" y="2654408"/>
              <a:ext cx="1770956" cy="1350590"/>
            </a:xfrm>
            <a:prstGeom prst="rect">
              <a:avLst/>
            </a:prstGeom>
          </p:spPr>
        </p:pic>
      </p:grpSp>
      <p:grpSp>
        <p:nvGrpSpPr>
          <p:cNvPr id="345" name="Gruppieren 344">
            <a:extLst>
              <a:ext uri="{FF2B5EF4-FFF2-40B4-BE49-F238E27FC236}">
                <a16:creationId xmlns:a16="http://schemas.microsoft.com/office/drawing/2014/main" id="{3E487323-F027-0A12-96E9-AB3E9E5919FA}"/>
              </a:ext>
            </a:extLst>
          </p:cNvPr>
          <p:cNvGrpSpPr/>
          <p:nvPr/>
        </p:nvGrpSpPr>
        <p:grpSpPr>
          <a:xfrm>
            <a:off x="10620623" y="3831218"/>
            <a:ext cx="508422" cy="158682"/>
            <a:chOff x="10511005" y="672214"/>
            <a:chExt cx="726115" cy="226627"/>
          </a:xfrm>
        </p:grpSpPr>
        <p:pic>
          <p:nvPicPr>
            <p:cNvPr id="343" name="Picture 16">
              <a:extLst>
                <a:ext uri="{FF2B5EF4-FFF2-40B4-BE49-F238E27FC236}">
                  <a16:creationId xmlns:a16="http://schemas.microsoft.com/office/drawing/2014/main" id="{444E4A71-7AC8-54B7-7318-C2E076739C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67"/>
            <a:stretch/>
          </p:blipFill>
          <p:spPr bwMode="auto">
            <a:xfrm>
              <a:off x="10776520" y="672214"/>
              <a:ext cx="460600" cy="226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4" name="Picture 16">
              <a:extLst>
                <a:ext uri="{FF2B5EF4-FFF2-40B4-BE49-F238E27FC236}">
                  <a16:creationId xmlns:a16="http://schemas.microsoft.com/office/drawing/2014/main" id="{900A53CC-29FF-5D1C-EE61-192A8EEA3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433"/>
            <a:stretch/>
          </p:blipFill>
          <p:spPr bwMode="auto">
            <a:xfrm>
              <a:off x="10511005" y="672214"/>
              <a:ext cx="265515" cy="226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0" name="Gruppieren 359">
            <a:extLst>
              <a:ext uri="{FF2B5EF4-FFF2-40B4-BE49-F238E27FC236}">
                <a16:creationId xmlns:a16="http://schemas.microsoft.com/office/drawing/2014/main" id="{0E8D65F0-3FD2-1527-ED01-564BFFE1EC26}"/>
              </a:ext>
            </a:extLst>
          </p:cNvPr>
          <p:cNvGrpSpPr/>
          <p:nvPr/>
        </p:nvGrpSpPr>
        <p:grpSpPr>
          <a:xfrm>
            <a:off x="5952004" y="4124415"/>
            <a:ext cx="288000" cy="288000"/>
            <a:chOff x="6411005" y="3885424"/>
            <a:chExt cx="288000" cy="288000"/>
          </a:xfrm>
        </p:grpSpPr>
        <p:sp>
          <p:nvSpPr>
            <p:cNvPr id="357" name="Ellipse 356">
              <a:extLst>
                <a:ext uri="{FF2B5EF4-FFF2-40B4-BE49-F238E27FC236}">
                  <a16:creationId xmlns:a16="http://schemas.microsoft.com/office/drawing/2014/main" id="{9A18FAA2-6679-3091-6BC3-0CFC2D37C174}"/>
                </a:ext>
              </a:extLst>
            </p:cNvPr>
            <p:cNvSpPr/>
            <p:nvPr/>
          </p:nvSpPr>
          <p:spPr>
            <a:xfrm>
              <a:off x="6411005" y="3885424"/>
              <a:ext cx="288000" cy="288000"/>
            </a:xfrm>
            <a:prstGeom prst="ellipse">
              <a:avLst/>
            </a:prstGeom>
            <a:solidFill>
              <a:srgbClr val="27496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55" name="Grafik 354">
              <a:extLst>
                <a:ext uri="{FF2B5EF4-FFF2-40B4-BE49-F238E27FC236}">
                  <a16:creationId xmlns:a16="http://schemas.microsoft.com/office/drawing/2014/main" id="{5965E88E-3727-F1F3-C69F-CE509EB31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58706" y="3914224"/>
              <a:ext cx="192599" cy="230400"/>
            </a:xfrm>
            <a:prstGeom prst="rect">
              <a:avLst/>
            </a:prstGeom>
            <a:noFill/>
          </p:spPr>
        </p:pic>
      </p:grpSp>
      <p:sp>
        <p:nvSpPr>
          <p:cNvPr id="364" name="Rechteck 363">
            <a:extLst>
              <a:ext uri="{FF2B5EF4-FFF2-40B4-BE49-F238E27FC236}">
                <a16:creationId xmlns:a16="http://schemas.microsoft.com/office/drawing/2014/main" id="{64206CF4-9956-17CC-D9F8-C3A1F0E20B81}"/>
              </a:ext>
            </a:extLst>
          </p:cNvPr>
          <p:cNvSpPr/>
          <p:nvPr/>
        </p:nvSpPr>
        <p:spPr>
          <a:xfrm>
            <a:off x="1824623" y="5229240"/>
            <a:ext cx="854516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>
                <a:ln>
                  <a:noFill/>
                </a:ln>
                <a:solidFill>
                  <a:srgbClr val="00BED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Snowflake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the platform of choice to create synergies by:</a:t>
            </a:r>
          </a:p>
        </p:txBody>
      </p:sp>
      <p:sp>
        <p:nvSpPr>
          <p:cNvPr id="362" name="Rechteck 361">
            <a:extLst>
              <a:ext uri="{FF2B5EF4-FFF2-40B4-BE49-F238E27FC236}">
                <a16:creationId xmlns:a16="http://schemas.microsoft.com/office/drawing/2014/main" id="{8AC862CE-9C6D-0EAE-477D-1B37BFB5520D}"/>
              </a:ext>
            </a:extLst>
          </p:cNvPr>
          <p:cNvSpPr/>
          <p:nvPr/>
        </p:nvSpPr>
        <p:spPr>
          <a:xfrm>
            <a:off x="1491419" y="5661304"/>
            <a:ext cx="2736000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Native support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for Iceberg tables in Snowflake</a:t>
            </a:r>
          </a:p>
        </p:txBody>
      </p:sp>
      <p:sp>
        <p:nvSpPr>
          <p:cNvPr id="363" name="Rechteck 362">
            <a:extLst>
              <a:ext uri="{FF2B5EF4-FFF2-40B4-BE49-F238E27FC236}">
                <a16:creationId xmlns:a16="http://schemas.microsoft.com/office/drawing/2014/main" id="{003FBD12-1A68-638E-14D8-331DCA480B3F}"/>
              </a:ext>
            </a:extLst>
          </p:cNvPr>
          <p:cNvSpPr/>
          <p:nvPr/>
        </p:nvSpPr>
        <p:spPr>
          <a:xfrm>
            <a:off x="4591200" y="5661304"/>
            <a:ext cx="3009600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Zero-ETL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– 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asy queries and joining multiple data sources inside Snowflake</a:t>
            </a:r>
          </a:p>
        </p:txBody>
      </p:sp>
      <p:sp>
        <p:nvSpPr>
          <p:cNvPr id="365" name="Rechteck 364">
            <a:extLst>
              <a:ext uri="{FF2B5EF4-FFF2-40B4-BE49-F238E27FC236}">
                <a16:creationId xmlns:a16="http://schemas.microsoft.com/office/drawing/2014/main" id="{804E79B8-B871-A262-67D1-A701E62EC911}"/>
              </a:ext>
            </a:extLst>
          </p:cNvPr>
          <p:cNvSpPr/>
          <p:nvPr/>
        </p:nvSpPr>
        <p:spPr>
          <a:xfrm>
            <a:off x="7964581" y="5661304"/>
            <a:ext cx="2736000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No data silos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Wingdings" panose="05000000000000000000" pitchFamily="2" charset="2"/>
              </a:rPr>
              <a:t> - Integrated data service and analytics platform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68" name="Gerader Verbinder 367">
            <a:extLst>
              <a:ext uri="{FF2B5EF4-FFF2-40B4-BE49-F238E27FC236}">
                <a16:creationId xmlns:a16="http://schemas.microsoft.com/office/drawing/2014/main" id="{DA04850F-72E4-0D4E-A69C-BEE4A536929E}"/>
              </a:ext>
            </a:extLst>
          </p:cNvPr>
          <p:cNvCxnSpPr/>
          <p:nvPr/>
        </p:nvCxnSpPr>
        <p:spPr>
          <a:xfrm>
            <a:off x="4970799" y="5625272"/>
            <a:ext cx="2252808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Rechteck 386">
            <a:extLst>
              <a:ext uri="{FF2B5EF4-FFF2-40B4-BE49-F238E27FC236}">
                <a16:creationId xmlns:a16="http://schemas.microsoft.com/office/drawing/2014/main" id="{480E53C0-C57B-DDA6-EC11-729FB7A13C4D}"/>
              </a:ext>
            </a:extLst>
          </p:cNvPr>
          <p:cNvSpPr/>
          <p:nvPr/>
        </p:nvSpPr>
        <p:spPr>
          <a:xfrm>
            <a:off x="1595294" y="3692151"/>
            <a:ext cx="1080094" cy="144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388" name="Rechteck 387">
            <a:extLst>
              <a:ext uri="{FF2B5EF4-FFF2-40B4-BE49-F238E27FC236}">
                <a16:creationId xmlns:a16="http://schemas.microsoft.com/office/drawing/2014/main" id="{F1389D08-1DA8-C4C6-69A4-BD3D89FF1A04}"/>
              </a:ext>
            </a:extLst>
          </p:cNvPr>
          <p:cNvSpPr/>
          <p:nvPr/>
        </p:nvSpPr>
        <p:spPr>
          <a:xfrm>
            <a:off x="2819636" y="3692151"/>
            <a:ext cx="1080094" cy="144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Pipelines</a:t>
            </a:r>
          </a:p>
        </p:txBody>
      </p:sp>
      <p:sp>
        <p:nvSpPr>
          <p:cNvPr id="395" name="Rechteck 394">
            <a:extLst>
              <a:ext uri="{FF2B5EF4-FFF2-40B4-BE49-F238E27FC236}">
                <a16:creationId xmlns:a16="http://schemas.microsoft.com/office/drawing/2014/main" id="{271DC625-220C-68CA-CFEA-852352E1568E}"/>
              </a:ext>
            </a:extLst>
          </p:cNvPr>
          <p:cNvSpPr/>
          <p:nvPr/>
        </p:nvSpPr>
        <p:spPr>
          <a:xfrm>
            <a:off x="5459865" y="1412776"/>
            <a:ext cx="1274679" cy="360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050C11D-1A8C-3B4E-6EDC-BD4A4B1C4D37}"/>
              </a:ext>
            </a:extLst>
          </p:cNvPr>
          <p:cNvSpPr/>
          <p:nvPr/>
        </p:nvSpPr>
        <p:spPr>
          <a:xfrm>
            <a:off x="9624392" y="4106781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Science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59DB284-FD93-7686-A74E-8B98102A17D1}"/>
              </a:ext>
            </a:extLst>
          </p:cNvPr>
          <p:cNvGrpSpPr>
            <a:grpSpLocks noChangeAspect="1"/>
          </p:cNvGrpSpPr>
          <p:nvPr/>
        </p:nvGrpSpPr>
        <p:grpSpPr>
          <a:xfrm>
            <a:off x="10560436" y="4258287"/>
            <a:ext cx="726489" cy="363853"/>
            <a:chOff x="7082362" y="3857619"/>
            <a:chExt cx="1403538" cy="702945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76EC1716-6620-657E-1A00-8FC85D668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biLevel thresh="25000"/>
            </a:blip>
            <a:stretch>
              <a:fillRect/>
            </a:stretch>
          </p:blipFill>
          <p:spPr>
            <a:xfrm>
              <a:off x="7608000" y="3857619"/>
              <a:ext cx="877900" cy="701101"/>
            </a:xfrm>
            <a:prstGeom prst="rect">
              <a:avLst/>
            </a:prstGeom>
          </p:spPr>
        </p:pic>
        <p:pic>
          <p:nvPicPr>
            <p:cNvPr id="13" name="Picture 30">
              <a:extLst>
                <a:ext uri="{FF2B5EF4-FFF2-40B4-BE49-F238E27FC236}">
                  <a16:creationId xmlns:a16="http://schemas.microsoft.com/office/drawing/2014/main" id="{6E7F46F8-E811-63C9-DC39-1E8E9DB87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612"/>
            <a:stretch/>
          </p:blipFill>
          <p:spPr bwMode="auto">
            <a:xfrm>
              <a:off x="7082362" y="3857619"/>
              <a:ext cx="525638" cy="702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reihandform: Form 390">
            <a:extLst>
              <a:ext uri="{FF2B5EF4-FFF2-40B4-BE49-F238E27FC236}">
                <a16:creationId xmlns:a16="http://schemas.microsoft.com/office/drawing/2014/main" id="{8C26C47C-699E-2307-D635-8FD79AC9261B}"/>
              </a:ext>
            </a:extLst>
          </p:cNvPr>
          <p:cNvSpPr/>
          <p:nvPr/>
        </p:nvSpPr>
        <p:spPr>
          <a:xfrm>
            <a:off x="750664" y="1523102"/>
            <a:ext cx="5212454" cy="200776"/>
          </a:xfrm>
          <a:custGeom>
            <a:avLst/>
            <a:gdLst>
              <a:gd name="connsiteX0" fmla="*/ 3764838 w 3764838"/>
              <a:gd name="connsiteY0" fmla="*/ 95295 h 242939"/>
              <a:gd name="connsiteX1" fmla="*/ 3567194 w 3764838"/>
              <a:gd name="connsiteY1" fmla="*/ 7188 h 242939"/>
              <a:gd name="connsiteX2" fmla="*/ 3348119 w 3764838"/>
              <a:gd name="connsiteY2" fmla="*/ 97676 h 242939"/>
              <a:gd name="connsiteX3" fmla="*/ 3243344 w 3764838"/>
              <a:gd name="connsiteY3" fmla="*/ 154826 h 242939"/>
              <a:gd name="connsiteX4" fmla="*/ 3021888 w 3764838"/>
              <a:gd name="connsiteY4" fmla="*/ 242932 h 242939"/>
              <a:gd name="connsiteX5" fmla="*/ 2809956 w 3764838"/>
              <a:gd name="connsiteY5" fmla="*/ 150063 h 242939"/>
              <a:gd name="connsiteX6" fmla="*/ 2702800 w 3764838"/>
              <a:gd name="connsiteY6" fmla="*/ 95295 h 242939"/>
              <a:gd name="connsiteX7" fmla="*/ 2483725 w 3764838"/>
              <a:gd name="connsiteY7" fmla="*/ 4807 h 242939"/>
              <a:gd name="connsiteX8" fmla="*/ 2257506 w 3764838"/>
              <a:gd name="connsiteY8" fmla="*/ 97676 h 242939"/>
              <a:gd name="connsiteX9" fmla="*/ 2167019 w 3764838"/>
              <a:gd name="connsiteY9" fmla="*/ 147682 h 242939"/>
              <a:gd name="connsiteX10" fmla="*/ 1945563 w 3764838"/>
              <a:gd name="connsiteY10" fmla="*/ 238170 h 242939"/>
              <a:gd name="connsiteX11" fmla="*/ 1726488 w 3764838"/>
              <a:gd name="connsiteY11" fmla="*/ 142920 h 242939"/>
              <a:gd name="connsiteX12" fmla="*/ 1621713 w 3764838"/>
              <a:gd name="connsiteY12" fmla="*/ 85770 h 242939"/>
              <a:gd name="connsiteX13" fmla="*/ 1402638 w 3764838"/>
              <a:gd name="connsiteY13" fmla="*/ 45 h 242939"/>
              <a:gd name="connsiteX14" fmla="*/ 1181181 w 3764838"/>
              <a:gd name="connsiteY14" fmla="*/ 97676 h 242939"/>
              <a:gd name="connsiteX15" fmla="*/ 1085931 w 3764838"/>
              <a:gd name="connsiteY15" fmla="*/ 145301 h 242939"/>
              <a:gd name="connsiteX16" fmla="*/ 864475 w 3764838"/>
              <a:gd name="connsiteY16" fmla="*/ 233407 h 242939"/>
              <a:gd name="connsiteX17" fmla="*/ 645400 w 3764838"/>
              <a:gd name="connsiteY17" fmla="*/ 142920 h 242939"/>
              <a:gd name="connsiteX18" fmla="*/ 540625 w 3764838"/>
              <a:gd name="connsiteY18" fmla="*/ 85770 h 242939"/>
              <a:gd name="connsiteX19" fmla="*/ 319169 w 3764838"/>
              <a:gd name="connsiteY19" fmla="*/ 2426 h 242939"/>
              <a:gd name="connsiteX20" fmla="*/ 85806 w 3764838"/>
              <a:gd name="connsiteY20" fmla="*/ 104820 h 242939"/>
              <a:gd name="connsiteX21" fmla="*/ 81 w 3764838"/>
              <a:gd name="connsiteY21" fmla="*/ 150063 h 24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4838" h="242939">
                <a:moveTo>
                  <a:pt x="3764838" y="95295"/>
                </a:moveTo>
                <a:cubicBezTo>
                  <a:pt x="3700742" y="51043"/>
                  <a:pt x="3636647" y="6791"/>
                  <a:pt x="3567194" y="7188"/>
                </a:cubicBezTo>
                <a:cubicBezTo>
                  <a:pt x="3497741" y="7585"/>
                  <a:pt x="3402094" y="73070"/>
                  <a:pt x="3348119" y="97676"/>
                </a:cubicBezTo>
                <a:cubicBezTo>
                  <a:pt x="3294144" y="122282"/>
                  <a:pt x="3297716" y="130617"/>
                  <a:pt x="3243344" y="154826"/>
                </a:cubicBezTo>
                <a:cubicBezTo>
                  <a:pt x="3188972" y="179035"/>
                  <a:pt x="3094119" y="243726"/>
                  <a:pt x="3021888" y="242932"/>
                </a:cubicBezTo>
                <a:cubicBezTo>
                  <a:pt x="2949657" y="242138"/>
                  <a:pt x="2863137" y="174669"/>
                  <a:pt x="2809956" y="150063"/>
                </a:cubicBezTo>
                <a:cubicBezTo>
                  <a:pt x="2756775" y="125457"/>
                  <a:pt x="2757172" y="119504"/>
                  <a:pt x="2702800" y="95295"/>
                </a:cubicBezTo>
                <a:cubicBezTo>
                  <a:pt x="2648428" y="71086"/>
                  <a:pt x="2557941" y="4410"/>
                  <a:pt x="2483725" y="4807"/>
                </a:cubicBezTo>
                <a:cubicBezTo>
                  <a:pt x="2409509" y="5204"/>
                  <a:pt x="2310290" y="73864"/>
                  <a:pt x="2257506" y="97676"/>
                </a:cubicBezTo>
                <a:cubicBezTo>
                  <a:pt x="2204722" y="121488"/>
                  <a:pt x="2219009" y="124266"/>
                  <a:pt x="2167019" y="147682"/>
                </a:cubicBezTo>
                <a:cubicBezTo>
                  <a:pt x="2115028" y="171098"/>
                  <a:pt x="2018985" y="238964"/>
                  <a:pt x="1945563" y="238170"/>
                </a:cubicBezTo>
                <a:cubicBezTo>
                  <a:pt x="1872141" y="237376"/>
                  <a:pt x="1780463" y="168320"/>
                  <a:pt x="1726488" y="142920"/>
                </a:cubicBezTo>
                <a:cubicBezTo>
                  <a:pt x="1672513" y="117520"/>
                  <a:pt x="1675688" y="109582"/>
                  <a:pt x="1621713" y="85770"/>
                </a:cubicBezTo>
                <a:cubicBezTo>
                  <a:pt x="1567738" y="61958"/>
                  <a:pt x="1476060" y="-1939"/>
                  <a:pt x="1402638" y="45"/>
                </a:cubicBezTo>
                <a:cubicBezTo>
                  <a:pt x="1329216" y="2029"/>
                  <a:pt x="1233966" y="73467"/>
                  <a:pt x="1181181" y="97676"/>
                </a:cubicBezTo>
                <a:cubicBezTo>
                  <a:pt x="1128396" y="121885"/>
                  <a:pt x="1138715" y="122679"/>
                  <a:pt x="1085931" y="145301"/>
                </a:cubicBezTo>
                <a:cubicBezTo>
                  <a:pt x="1033147" y="167923"/>
                  <a:pt x="937897" y="233804"/>
                  <a:pt x="864475" y="233407"/>
                </a:cubicBezTo>
                <a:cubicBezTo>
                  <a:pt x="791053" y="233010"/>
                  <a:pt x="699375" y="167526"/>
                  <a:pt x="645400" y="142920"/>
                </a:cubicBezTo>
                <a:cubicBezTo>
                  <a:pt x="591425" y="118314"/>
                  <a:pt x="594997" y="109186"/>
                  <a:pt x="540625" y="85770"/>
                </a:cubicBezTo>
                <a:cubicBezTo>
                  <a:pt x="486253" y="62354"/>
                  <a:pt x="394972" y="-749"/>
                  <a:pt x="319169" y="2426"/>
                </a:cubicBezTo>
                <a:cubicBezTo>
                  <a:pt x="243366" y="5601"/>
                  <a:pt x="138987" y="80214"/>
                  <a:pt x="85806" y="104820"/>
                </a:cubicBezTo>
                <a:cubicBezTo>
                  <a:pt x="32625" y="129426"/>
                  <a:pt x="-1904" y="90929"/>
                  <a:pt x="81" y="150063"/>
                </a:cubicBezTo>
              </a:path>
            </a:pathLst>
          </a:cu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Freihandform: Form 393">
            <a:extLst>
              <a:ext uri="{FF2B5EF4-FFF2-40B4-BE49-F238E27FC236}">
                <a16:creationId xmlns:a16="http://schemas.microsoft.com/office/drawing/2014/main" id="{31422A3C-8975-A8A2-220C-8A052B17FF45}"/>
              </a:ext>
            </a:extLst>
          </p:cNvPr>
          <p:cNvSpPr/>
          <p:nvPr/>
        </p:nvSpPr>
        <p:spPr>
          <a:xfrm flipH="1">
            <a:off x="6406826" y="1523102"/>
            <a:ext cx="5047676" cy="200776"/>
          </a:xfrm>
          <a:custGeom>
            <a:avLst/>
            <a:gdLst>
              <a:gd name="connsiteX0" fmla="*/ 3764838 w 3764838"/>
              <a:gd name="connsiteY0" fmla="*/ 95295 h 242939"/>
              <a:gd name="connsiteX1" fmla="*/ 3567194 w 3764838"/>
              <a:gd name="connsiteY1" fmla="*/ 7188 h 242939"/>
              <a:gd name="connsiteX2" fmla="*/ 3348119 w 3764838"/>
              <a:gd name="connsiteY2" fmla="*/ 97676 h 242939"/>
              <a:gd name="connsiteX3" fmla="*/ 3243344 w 3764838"/>
              <a:gd name="connsiteY3" fmla="*/ 154826 h 242939"/>
              <a:gd name="connsiteX4" fmla="*/ 3021888 w 3764838"/>
              <a:gd name="connsiteY4" fmla="*/ 242932 h 242939"/>
              <a:gd name="connsiteX5" fmla="*/ 2809956 w 3764838"/>
              <a:gd name="connsiteY5" fmla="*/ 150063 h 242939"/>
              <a:gd name="connsiteX6" fmla="*/ 2702800 w 3764838"/>
              <a:gd name="connsiteY6" fmla="*/ 95295 h 242939"/>
              <a:gd name="connsiteX7" fmla="*/ 2483725 w 3764838"/>
              <a:gd name="connsiteY7" fmla="*/ 4807 h 242939"/>
              <a:gd name="connsiteX8" fmla="*/ 2257506 w 3764838"/>
              <a:gd name="connsiteY8" fmla="*/ 97676 h 242939"/>
              <a:gd name="connsiteX9" fmla="*/ 2167019 w 3764838"/>
              <a:gd name="connsiteY9" fmla="*/ 147682 h 242939"/>
              <a:gd name="connsiteX10" fmla="*/ 1945563 w 3764838"/>
              <a:gd name="connsiteY10" fmla="*/ 238170 h 242939"/>
              <a:gd name="connsiteX11" fmla="*/ 1726488 w 3764838"/>
              <a:gd name="connsiteY11" fmla="*/ 142920 h 242939"/>
              <a:gd name="connsiteX12" fmla="*/ 1621713 w 3764838"/>
              <a:gd name="connsiteY12" fmla="*/ 85770 h 242939"/>
              <a:gd name="connsiteX13" fmla="*/ 1402638 w 3764838"/>
              <a:gd name="connsiteY13" fmla="*/ 45 h 242939"/>
              <a:gd name="connsiteX14" fmla="*/ 1181181 w 3764838"/>
              <a:gd name="connsiteY14" fmla="*/ 97676 h 242939"/>
              <a:gd name="connsiteX15" fmla="*/ 1085931 w 3764838"/>
              <a:gd name="connsiteY15" fmla="*/ 145301 h 242939"/>
              <a:gd name="connsiteX16" fmla="*/ 864475 w 3764838"/>
              <a:gd name="connsiteY16" fmla="*/ 233407 h 242939"/>
              <a:gd name="connsiteX17" fmla="*/ 645400 w 3764838"/>
              <a:gd name="connsiteY17" fmla="*/ 142920 h 242939"/>
              <a:gd name="connsiteX18" fmla="*/ 540625 w 3764838"/>
              <a:gd name="connsiteY18" fmla="*/ 85770 h 242939"/>
              <a:gd name="connsiteX19" fmla="*/ 319169 w 3764838"/>
              <a:gd name="connsiteY19" fmla="*/ 2426 h 242939"/>
              <a:gd name="connsiteX20" fmla="*/ 85806 w 3764838"/>
              <a:gd name="connsiteY20" fmla="*/ 104820 h 242939"/>
              <a:gd name="connsiteX21" fmla="*/ 81 w 3764838"/>
              <a:gd name="connsiteY21" fmla="*/ 150063 h 24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4838" h="242939">
                <a:moveTo>
                  <a:pt x="3764838" y="95295"/>
                </a:moveTo>
                <a:cubicBezTo>
                  <a:pt x="3700742" y="51043"/>
                  <a:pt x="3636647" y="6791"/>
                  <a:pt x="3567194" y="7188"/>
                </a:cubicBezTo>
                <a:cubicBezTo>
                  <a:pt x="3497741" y="7585"/>
                  <a:pt x="3402094" y="73070"/>
                  <a:pt x="3348119" y="97676"/>
                </a:cubicBezTo>
                <a:cubicBezTo>
                  <a:pt x="3294144" y="122282"/>
                  <a:pt x="3297716" y="130617"/>
                  <a:pt x="3243344" y="154826"/>
                </a:cubicBezTo>
                <a:cubicBezTo>
                  <a:pt x="3188972" y="179035"/>
                  <a:pt x="3094119" y="243726"/>
                  <a:pt x="3021888" y="242932"/>
                </a:cubicBezTo>
                <a:cubicBezTo>
                  <a:pt x="2949657" y="242138"/>
                  <a:pt x="2863137" y="174669"/>
                  <a:pt x="2809956" y="150063"/>
                </a:cubicBezTo>
                <a:cubicBezTo>
                  <a:pt x="2756775" y="125457"/>
                  <a:pt x="2757172" y="119504"/>
                  <a:pt x="2702800" y="95295"/>
                </a:cubicBezTo>
                <a:cubicBezTo>
                  <a:pt x="2648428" y="71086"/>
                  <a:pt x="2557941" y="4410"/>
                  <a:pt x="2483725" y="4807"/>
                </a:cubicBezTo>
                <a:cubicBezTo>
                  <a:pt x="2409509" y="5204"/>
                  <a:pt x="2310290" y="73864"/>
                  <a:pt x="2257506" y="97676"/>
                </a:cubicBezTo>
                <a:cubicBezTo>
                  <a:pt x="2204722" y="121488"/>
                  <a:pt x="2219009" y="124266"/>
                  <a:pt x="2167019" y="147682"/>
                </a:cubicBezTo>
                <a:cubicBezTo>
                  <a:pt x="2115028" y="171098"/>
                  <a:pt x="2018985" y="238964"/>
                  <a:pt x="1945563" y="238170"/>
                </a:cubicBezTo>
                <a:cubicBezTo>
                  <a:pt x="1872141" y="237376"/>
                  <a:pt x="1780463" y="168320"/>
                  <a:pt x="1726488" y="142920"/>
                </a:cubicBezTo>
                <a:cubicBezTo>
                  <a:pt x="1672513" y="117520"/>
                  <a:pt x="1675688" y="109582"/>
                  <a:pt x="1621713" y="85770"/>
                </a:cubicBezTo>
                <a:cubicBezTo>
                  <a:pt x="1567738" y="61958"/>
                  <a:pt x="1476060" y="-1939"/>
                  <a:pt x="1402638" y="45"/>
                </a:cubicBezTo>
                <a:cubicBezTo>
                  <a:pt x="1329216" y="2029"/>
                  <a:pt x="1233966" y="73467"/>
                  <a:pt x="1181181" y="97676"/>
                </a:cubicBezTo>
                <a:cubicBezTo>
                  <a:pt x="1128396" y="121885"/>
                  <a:pt x="1138715" y="122679"/>
                  <a:pt x="1085931" y="145301"/>
                </a:cubicBezTo>
                <a:cubicBezTo>
                  <a:pt x="1033147" y="167923"/>
                  <a:pt x="937897" y="233804"/>
                  <a:pt x="864475" y="233407"/>
                </a:cubicBezTo>
                <a:cubicBezTo>
                  <a:pt x="791053" y="233010"/>
                  <a:pt x="699375" y="167526"/>
                  <a:pt x="645400" y="142920"/>
                </a:cubicBezTo>
                <a:cubicBezTo>
                  <a:pt x="591425" y="118314"/>
                  <a:pt x="594997" y="109186"/>
                  <a:pt x="540625" y="85770"/>
                </a:cubicBezTo>
                <a:cubicBezTo>
                  <a:pt x="486253" y="62354"/>
                  <a:pt x="394972" y="-749"/>
                  <a:pt x="319169" y="2426"/>
                </a:cubicBezTo>
                <a:cubicBezTo>
                  <a:pt x="243366" y="5601"/>
                  <a:pt x="138987" y="80214"/>
                  <a:pt x="85806" y="104820"/>
                </a:cubicBezTo>
                <a:cubicBezTo>
                  <a:pt x="32625" y="129426"/>
                  <a:pt x="-1904" y="90929"/>
                  <a:pt x="81" y="150063"/>
                </a:cubicBezTo>
              </a:path>
            </a:pathLst>
          </a:custGeom>
          <a:noFill/>
          <a:ln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1802FD0A-89DC-D038-A702-475B498ED728}"/>
              </a:ext>
            </a:extLst>
          </p:cNvPr>
          <p:cNvGrpSpPr/>
          <p:nvPr/>
        </p:nvGrpSpPr>
        <p:grpSpPr>
          <a:xfrm>
            <a:off x="410400" y="1605493"/>
            <a:ext cx="11373609" cy="36000"/>
            <a:chOff x="410400" y="1605493"/>
            <a:chExt cx="11373609" cy="36000"/>
          </a:xfrm>
          <a:gradFill flip="none" rotWithShape="1">
            <a:gsLst>
              <a:gs pos="0">
                <a:schemeClr val="accent1">
                  <a:lumMod val="99000"/>
                  <a:alpha val="20000"/>
                </a:schemeClr>
              </a:gs>
              <a:gs pos="67000">
                <a:schemeClr val="accent3"/>
              </a:gs>
              <a:gs pos="38000">
                <a:schemeClr val="accent2"/>
              </a:gs>
              <a:gs pos="100000">
                <a:schemeClr val="accent4">
                  <a:lumMod val="99000"/>
                  <a:alpha val="20000"/>
                </a:schemeClr>
              </a:gs>
            </a:gsLst>
            <a:lin ang="0" scaled="1"/>
            <a:tileRect/>
          </a:gradFill>
        </p:grpSpPr>
        <p:sp>
          <p:nvSpPr>
            <p:cNvPr id="24" name="Rectangle 578">
              <a:extLst>
                <a:ext uri="{FF2B5EF4-FFF2-40B4-BE49-F238E27FC236}">
                  <a16:creationId xmlns:a16="http://schemas.microsoft.com/office/drawing/2014/main" id="{A53EC956-BB1E-2DA0-8291-9C2E626B4ECD}"/>
                </a:ext>
              </a:extLst>
            </p:cNvPr>
            <p:cNvSpPr/>
            <p:nvPr/>
          </p:nvSpPr>
          <p:spPr>
            <a:xfrm rot="16200000" flipH="1">
              <a:off x="3183926" y="-1168033"/>
              <a:ext cx="36000" cy="5583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9" name="Rectangle 578">
              <a:extLst>
                <a:ext uri="{FF2B5EF4-FFF2-40B4-BE49-F238E27FC236}">
                  <a16:creationId xmlns:a16="http://schemas.microsoft.com/office/drawing/2014/main" id="{2C371502-C76F-F26D-B4E2-2E3291ABC60C}"/>
                </a:ext>
              </a:extLst>
            </p:cNvPr>
            <p:cNvSpPr/>
            <p:nvPr/>
          </p:nvSpPr>
          <p:spPr>
            <a:xfrm rot="5400000">
              <a:off x="9062731" y="-1079786"/>
              <a:ext cx="36000" cy="5406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24" name="Rechteck 72">
            <a:extLst>
              <a:ext uri="{FF2B5EF4-FFF2-40B4-BE49-F238E27FC236}">
                <a16:creationId xmlns:a16="http://schemas.microsoft.com/office/drawing/2014/main" id="{2BA1A804-8942-6FE2-F526-8B720E392ACF}"/>
              </a:ext>
            </a:extLst>
          </p:cNvPr>
          <p:cNvSpPr/>
          <p:nvPr/>
        </p:nvSpPr>
        <p:spPr>
          <a:xfrm>
            <a:off x="423962" y="1412776"/>
            <a:ext cx="5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LDF</a:t>
            </a:r>
          </a:p>
        </p:txBody>
      </p:sp>
      <p:sp>
        <p:nvSpPr>
          <p:cNvPr id="225" name="Rechteck 73">
            <a:extLst>
              <a:ext uri="{FF2B5EF4-FFF2-40B4-BE49-F238E27FC236}">
                <a16:creationId xmlns:a16="http://schemas.microsoft.com/office/drawing/2014/main" id="{719E4D4E-0412-DA54-601D-89DAD8B288B3}"/>
              </a:ext>
            </a:extLst>
          </p:cNvPr>
          <p:cNvSpPr/>
          <p:nvPr/>
        </p:nvSpPr>
        <p:spPr>
          <a:xfrm>
            <a:off x="11273532" y="1429224"/>
            <a:ext cx="5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SDC</a:t>
            </a:r>
          </a:p>
        </p:txBody>
      </p:sp>
      <p:sp>
        <p:nvSpPr>
          <p:cNvPr id="229" name="Rechteck 394">
            <a:extLst>
              <a:ext uri="{FF2B5EF4-FFF2-40B4-BE49-F238E27FC236}">
                <a16:creationId xmlns:a16="http://schemas.microsoft.com/office/drawing/2014/main" id="{D3FD4B1A-AE71-FB66-8A0B-41B1AE3F27E5}"/>
              </a:ext>
            </a:extLst>
          </p:cNvPr>
          <p:cNvSpPr/>
          <p:nvPr/>
        </p:nvSpPr>
        <p:spPr>
          <a:xfrm>
            <a:off x="5459865" y="1412776"/>
            <a:ext cx="1274679" cy="360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31" name="Siemens Logo">
            <a:extLst>
              <a:ext uri="{FF2B5EF4-FFF2-40B4-BE49-F238E27FC236}">
                <a16:creationId xmlns:a16="http://schemas.microsoft.com/office/drawing/2014/main" id="{11C2E841-F013-B659-9936-5D263249B0B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black">
          <a:xfrm>
            <a:off x="5521204" y="1517640"/>
            <a:ext cx="1152000" cy="183168"/>
          </a:xfrm>
          <a:prstGeom prst="rect">
            <a:avLst/>
          </a:prstGeom>
        </p:spPr>
      </p:pic>
      <p:sp>
        <p:nvSpPr>
          <p:cNvPr id="234" name="Rechteck: abgerundete Ecken 321">
            <a:extLst>
              <a:ext uri="{FF2B5EF4-FFF2-40B4-BE49-F238E27FC236}">
                <a16:creationId xmlns:a16="http://schemas.microsoft.com/office/drawing/2014/main" id="{6FCB49E4-6ABA-6700-ACC1-4115D363380E}"/>
              </a:ext>
            </a:extLst>
          </p:cNvPr>
          <p:cNvSpPr/>
          <p:nvPr/>
        </p:nvSpPr>
        <p:spPr>
          <a:xfrm>
            <a:off x="9624392" y="2975149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Analytics</a:t>
            </a:r>
          </a:p>
        </p:txBody>
      </p:sp>
      <p:grpSp>
        <p:nvGrpSpPr>
          <p:cNvPr id="236" name="Gruppieren 335">
            <a:extLst>
              <a:ext uri="{FF2B5EF4-FFF2-40B4-BE49-F238E27FC236}">
                <a16:creationId xmlns:a16="http://schemas.microsoft.com/office/drawing/2014/main" id="{126F1B5A-8B32-3644-5065-0D8D7C07B6EA}"/>
              </a:ext>
            </a:extLst>
          </p:cNvPr>
          <p:cNvGrpSpPr>
            <a:grpSpLocks noChangeAspect="1"/>
          </p:cNvGrpSpPr>
          <p:nvPr/>
        </p:nvGrpSpPr>
        <p:grpSpPr>
          <a:xfrm>
            <a:off x="10594985" y="3273813"/>
            <a:ext cx="469815" cy="164436"/>
            <a:chOff x="1913398" y="1648883"/>
            <a:chExt cx="3429000" cy="1200150"/>
          </a:xfrm>
        </p:grpSpPr>
        <p:pic>
          <p:nvPicPr>
            <p:cNvPr id="239" name="Grafik 336">
              <a:extLst>
                <a:ext uri="{FF2B5EF4-FFF2-40B4-BE49-F238E27FC236}">
                  <a16:creationId xmlns:a16="http://schemas.microsoft.com/office/drawing/2014/main" id="{A5660A75-E7AC-68FF-8A37-58ABA366B4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l="63185"/>
            <a:stretch/>
          </p:blipFill>
          <p:spPr>
            <a:xfrm>
              <a:off x="4080000" y="1648883"/>
              <a:ext cx="1262398" cy="1200150"/>
            </a:xfrm>
            <a:prstGeom prst="rect">
              <a:avLst/>
            </a:prstGeom>
          </p:spPr>
        </p:pic>
        <p:pic>
          <p:nvPicPr>
            <p:cNvPr id="240" name="Grafik 337">
              <a:extLst>
                <a:ext uri="{FF2B5EF4-FFF2-40B4-BE49-F238E27FC236}">
                  <a16:creationId xmlns:a16="http://schemas.microsoft.com/office/drawing/2014/main" id="{A6DDB306-4E57-3C50-6D38-E3E1EBCAE2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r="36815"/>
            <a:stretch/>
          </p:blipFill>
          <p:spPr>
            <a:xfrm>
              <a:off x="1913398" y="1648883"/>
              <a:ext cx="2166602" cy="1200150"/>
            </a:xfrm>
            <a:prstGeom prst="rect">
              <a:avLst/>
            </a:prstGeom>
          </p:spPr>
        </p:pic>
        <p:sp>
          <p:nvSpPr>
            <p:cNvPr id="241" name="Ellipse 338">
              <a:extLst>
                <a:ext uri="{FF2B5EF4-FFF2-40B4-BE49-F238E27FC236}">
                  <a16:creationId xmlns:a16="http://schemas.microsoft.com/office/drawing/2014/main" id="{0CDDD54E-17F8-4B77-E226-215E2B81F745}"/>
                </a:ext>
              </a:extLst>
            </p:cNvPr>
            <p:cNvSpPr/>
            <p:nvPr/>
          </p:nvSpPr>
          <p:spPr>
            <a:xfrm>
              <a:off x="4465400" y="2065250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42" name="Gruppieren 339">
            <a:extLst>
              <a:ext uri="{FF2B5EF4-FFF2-40B4-BE49-F238E27FC236}">
                <a16:creationId xmlns:a16="http://schemas.microsoft.com/office/drawing/2014/main" id="{415E85AD-3F3B-652A-3736-7A7C5FF5B189}"/>
              </a:ext>
            </a:extLst>
          </p:cNvPr>
          <p:cNvGrpSpPr>
            <a:grpSpLocks noChangeAspect="1"/>
          </p:cNvGrpSpPr>
          <p:nvPr/>
        </p:nvGrpSpPr>
        <p:grpSpPr>
          <a:xfrm>
            <a:off x="9754246" y="3194715"/>
            <a:ext cx="627245" cy="352900"/>
            <a:chOff x="7404850" y="2407942"/>
            <a:chExt cx="986074" cy="554784"/>
          </a:xfrm>
        </p:grpSpPr>
        <p:pic>
          <p:nvPicPr>
            <p:cNvPr id="243" name="Grafik 340">
              <a:extLst>
                <a:ext uri="{FF2B5EF4-FFF2-40B4-BE49-F238E27FC236}">
                  <a16:creationId xmlns:a16="http://schemas.microsoft.com/office/drawing/2014/main" id="{E28F7E4A-4BEA-ABC6-A8E1-49EAD293C6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06"/>
            <a:stretch/>
          </p:blipFill>
          <p:spPr bwMode="auto">
            <a:xfrm>
              <a:off x="7404850" y="2408042"/>
              <a:ext cx="248395" cy="554585"/>
            </a:xfrm>
            <a:custGeom>
              <a:avLst/>
              <a:gdLst>
                <a:gd name="connsiteX0" fmla="*/ 0 w 248395"/>
                <a:gd name="connsiteY0" fmla="*/ 0 h 554585"/>
                <a:gd name="connsiteX1" fmla="*/ 248395 w 248395"/>
                <a:gd name="connsiteY1" fmla="*/ 0 h 554585"/>
                <a:gd name="connsiteX2" fmla="*/ 248395 w 248395"/>
                <a:gd name="connsiteY2" fmla="*/ 554585 h 554585"/>
                <a:gd name="connsiteX3" fmla="*/ 0 w 248395"/>
                <a:gd name="connsiteY3" fmla="*/ 554585 h 55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395" h="554585">
                  <a:moveTo>
                    <a:pt x="0" y="0"/>
                  </a:moveTo>
                  <a:lnTo>
                    <a:pt x="248395" y="0"/>
                  </a:lnTo>
                  <a:lnTo>
                    <a:pt x="248395" y="554585"/>
                  </a:lnTo>
                  <a:lnTo>
                    <a:pt x="0" y="55458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9" name="Grafik 341">
              <a:extLst>
                <a:ext uri="{FF2B5EF4-FFF2-40B4-BE49-F238E27FC236}">
                  <a16:creationId xmlns:a16="http://schemas.microsoft.com/office/drawing/2014/main" id="{11AC1740-E0E5-19D8-5B39-31F7E2A1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biLevel thresh="25000"/>
            </a:blip>
            <a:stretch>
              <a:fillRect/>
            </a:stretch>
          </p:blipFill>
          <p:spPr>
            <a:xfrm>
              <a:off x="7653244" y="2407942"/>
              <a:ext cx="737680" cy="554784"/>
            </a:xfrm>
            <a:prstGeom prst="rect">
              <a:avLst/>
            </a:prstGeom>
          </p:spPr>
        </p:pic>
      </p:grpSp>
      <p:sp>
        <p:nvSpPr>
          <p:cNvPr id="2" name="Rechteck 350">
            <a:extLst>
              <a:ext uri="{FF2B5EF4-FFF2-40B4-BE49-F238E27FC236}">
                <a16:creationId xmlns:a16="http://schemas.microsoft.com/office/drawing/2014/main" id="{A6F61FA5-9A61-4828-891D-F04EB626F1EE}"/>
              </a:ext>
            </a:extLst>
          </p:cNvPr>
          <p:cNvSpPr/>
          <p:nvPr/>
        </p:nvSpPr>
        <p:spPr>
          <a:xfrm>
            <a:off x="9228352" y="3745025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3CA05209-A3E2-A754-63D7-95FCFE8D1A89}"/>
              </a:ext>
            </a:extLst>
          </p:cNvPr>
          <p:cNvGrpSpPr/>
          <p:nvPr/>
        </p:nvGrpSpPr>
        <p:grpSpPr>
          <a:xfrm>
            <a:off x="1055440" y="4026582"/>
            <a:ext cx="594000" cy="626554"/>
            <a:chOff x="708778" y="3090762"/>
            <a:chExt cx="594000" cy="626554"/>
          </a:xfrm>
        </p:grpSpPr>
        <p:sp>
          <p:nvSpPr>
            <p:cNvPr id="259" name="TextBox 25">
              <a:extLst>
                <a:ext uri="{FF2B5EF4-FFF2-40B4-BE49-F238E27FC236}">
                  <a16:creationId xmlns:a16="http://schemas.microsoft.com/office/drawing/2014/main" id="{B423645A-1689-9915-263E-43BA3BD16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778" y="3378762"/>
              <a:ext cx="5940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Machine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3" name="Grafik 262" descr="Roboterhand Silhouette">
              <a:extLst>
                <a:ext uri="{FF2B5EF4-FFF2-40B4-BE49-F238E27FC236}">
                  <a16:creationId xmlns:a16="http://schemas.microsoft.com/office/drawing/2014/main" id="{7D46BEEE-A81D-11A3-4DFA-CB279167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1424" y="3090762"/>
              <a:ext cx="288000" cy="288000"/>
            </a:xfrm>
            <a:prstGeom prst="rect">
              <a:avLst/>
            </a:prstGeom>
          </p:spPr>
        </p:pic>
      </p:grpSp>
      <p:grpSp>
        <p:nvGrpSpPr>
          <p:cNvPr id="277" name="Gruppieren 276">
            <a:extLst>
              <a:ext uri="{FF2B5EF4-FFF2-40B4-BE49-F238E27FC236}">
                <a16:creationId xmlns:a16="http://schemas.microsoft.com/office/drawing/2014/main" id="{BE3A3975-C789-DCAE-3232-6FFD59914B2D}"/>
              </a:ext>
            </a:extLst>
          </p:cNvPr>
          <p:cNvGrpSpPr/>
          <p:nvPr/>
        </p:nvGrpSpPr>
        <p:grpSpPr>
          <a:xfrm>
            <a:off x="1876986" y="2996952"/>
            <a:ext cx="540000" cy="503444"/>
            <a:chOff x="1796629" y="2682867"/>
            <a:chExt cx="540000" cy="503444"/>
          </a:xfrm>
        </p:grpSpPr>
        <p:sp>
          <p:nvSpPr>
            <p:cNvPr id="265" name="TextBox 25">
              <a:extLst>
                <a:ext uri="{FF2B5EF4-FFF2-40B4-BE49-F238E27FC236}">
                  <a16:creationId xmlns:a16="http://schemas.microsoft.com/office/drawing/2014/main" id="{55E05CB7-F510-1BB9-233E-BBC4E1168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629" y="2970867"/>
              <a:ext cx="5400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Tester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7" name="Graphic 12">
              <a:extLst>
                <a:ext uri="{FF2B5EF4-FFF2-40B4-BE49-F238E27FC236}">
                  <a16:creationId xmlns:a16="http://schemas.microsoft.com/office/drawing/2014/main" id="{53C7B7A2-00B0-8F77-8554-C5EB480B64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1922629" y="2682867"/>
              <a:ext cx="288000" cy="288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uppieren 275">
            <a:extLst>
              <a:ext uri="{FF2B5EF4-FFF2-40B4-BE49-F238E27FC236}">
                <a16:creationId xmlns:a16="http://schemas.microsoft.com/office/drawing/2014/main" id="{E87A2D15-A3CD-A00E-0597-FCA69F1E40FA}"/>
              </a:ext>
            </a:extLst>
          </p:cNvPr>
          <p:cNvGrpSpPr/>
          <p:nvPr/>
        </p:nvGrpSpPr>
        <p:grpSpPr>
          <a:xfrm>
            <a:off x="1510340" y="4026582"/>
            <a:ext cx="1273292" cy="626554"/>
            <a:chOff x="1470280" y="3759194"/>
            <a:chExt cx="1273292" cy="626554"/>
          </a:xfrm>
        </p:grpSpPr>
        <p:pic>
          <p:nvPicPr>
            <p:cNvPr id="268" name="Grafik 267" descr="Drahtlosrouter Silhouette">
              <a:extLst>
                <a:ext uri="{FF2B5EF4-FFF2-40B4-BE49-F238E27FC236}">
                  <a16:creationId xmlns:a16="http://schemas.microsoft.com/office/drawing/2014/main" id="{04982F9C-1591-0740-A34C-22BB8C78E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962926" y="3759194"/>
              <a:ext cx="288000" cy="288000"/>
            </a:xfrm>
            <a:prstGeom prst="rect">
              <a:avLst/>
            </a:prstGeom>
          </p:spPr>
        </p:pic>
        <p:sp>
          <p:nvSpPr>
            <p:cNvPr id="271" name="TextBox 25">
              <a:extLst>
                <a:ext uri="{FF2B5EF4-FFF2-40B4-BE49-F238E27FC236}">
                  <a16:creationId xmlns:a16="http://schemas.microsoft.com/office/drawing/2014/main" id="{3DB767AE-F5F8-93B7-5655-3D1FAE24C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280" y="4047194"/>
              <a:ext cx="1273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Other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Shopfloor data</a:t>
              </a:r>
              <a:endParaRPr kumimoji="0" lang="en-US" altLang="en-US" sz="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8" name="Rechteck: abgerundete Ecken 277">
            <a:extLst>
              <a:ext uri="{FF2B5EF4-FFF2-40B4-BE49-F238E27FC236}">
                <a16:creationId xmlns:a16="http://schemas.microsoft.com/office/drawing/2014/main" id="{F49E2FE9-6E8D-0ACB-886B-49432B559926}"/>
              </a:ext>
            </a:extLst>
          </p:cNvPr>
          <p:cNvSpPr/>
          <p:nvPr/>
        </p:nvSpPr>
        <p:spPr>
          <a:xfrm>
            <a:off x="5160004" y="2801455"/>
            <a:ext cx="432000" cy="216000"/>
          </a:xfrm>
          <a:prstGeom prst="roundRect">
            <a:avLst>
              <a:gd name="adj" fmla="val 2585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ERP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95490DE-5BDE-02CC-029B-567AA850947C}"/>
              </a:ext>
            </a:extLst>
          </p:cNvPr>
          <p:cNvSpPr/>
          <p:nvPr/>
        </p:nvSpPr>
        <p:spPr>
          <a:xfrm>
            <a:off x="564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SCM</a:t>
            </a:r>
          </a:p>
        </p:txBody>
      </p:sp>
      <p:sp>
        <p:nvSpPr>
          <p:cNvPr id="233" name="Rechteck: abgerundete Ecken 232">
            <a:extLst>
              <a:ext uri="{FF2B5EF4-FFF2-40B4-BE49-F238E27FC236}">
                <a16:creationId xmlns:a16="http://schemas.microsoft.com/office/drawing/2014/main" id="{9BCE064E-A428-88D6-2937-6DF551BF9C88}"/>
              </a:ext>
            </a:extLst>
          </p:cNvPr>
          <p:cNvSpPr/>
          <p:nvPr/>
        </p:nvSpPr>
        <p:spPr>
          <a:xfrm>
            <a:off x="612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PLM</a:t>
            </a:r>
          </a:p>
        </p:txBody>
      </p:sp>
      <p:sp>
        <p:nvSpPr>
          <p:cNvPr id="250" name="Rechteck: abgerundete Ecken 249">
            <a:extLst>
              <a:ext uri="{FF2B5EF4-FFF2-40B4-BE49-F238E27FC236}">
                <a16:creationId xmlns:a16="http://schemas.microsoft.com/office/drawing/2014/main" id="{1D580DC2-25AC-EA20-0D1A-08A8A2B81799}"/>
              </a:ext>
            </a:extLst>
          </p:cNvPr>
          <p:cNvSpPr/>
          <p:nvPr/>
        </p:nvSpPr>
        <p:spPr>
          <a:xfrm>
            <a:off x="660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..</a:t>
            </a:r>
          </a:p>
        </p:txBody>
      </p: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BBBC1D32-7642-AFA6-E0B6-76E598ABC331}"/>
              </a:ext>
            </a:extLst>
          </p:cNvPr>
          <p:cNvGrpSpPr/>
          <p:nvPr/>
        </p:nvGrpSpPr>
        <p:grpSpPr>
          <a:xfrm>
            <a:off x="9818235" y="4383616"/>
            <a:ext cx="481332" cy="144304"/>
            <a:chOff x="9818235" y="4167592"/>
            <a:chExt cx="481332" cy="144304"/>
          </a:xfrm>
        </p:grpSpPr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42A3A53E-F2F2-8C87-40EB-F29DB799F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lum bright="70000" contrast="-70000"/>
            </a:blip>
            <a:stretch>
              <a:fillRect/>
            </a:stretch>
          </p:blipFill>
          <p:spPr>
            <a:xfrm>
              <a:off x="9984369" y="4169544"/>
              <a:ext cx="315198" cy="140400"/>
            </a:xfrm>
            <a:prstGeom prst="rect">
              <a:avLst/>
            </a:prstGeom>
          </p:spPr>
        </p:pic>
        <p:pic>
          <p:nvPicPr>
            <p:cNvPr id="18" name="Picture 17" descr="A black text on a black background&#10;&#10;Description automatically generated">
              <a:extLst>
                <a:ext uri="{FF2B5EF4-FFF2-40B4-BE49-F238E27FC236}">
                  <a16:creationId xmlns:a16="http://schemas.microsoft.com/office/drawing/2014/main" id="{3127C83B-995F-8B7C-C448-DC97BA7DD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r="67667"/>
            <a:stretch/>
          </p:blipFill>
          <p:spPr>
            <a:xfrm>
              <a:off x="9818235" y="4167592"/>
              <a:ext cx="158701" cy="144304"/>
            </a:xfrm>
            <a:prstGeom prst="rect">
              <a:avLst/>
            </a:prstGeom>
          </p:spPr>
        </p:pic>
      </p:grpSp>
      <p:sp>
        <p:nvSpPr>
          <p:cNvPr id="68" name="Rechteck 67">
            <a:extLst>
              <a:ext uri="{FF2B5EF4-FFF2-40B4-BE49-F238E27FC236}">
                <a16:creationId xmlns:a16="http://schemas.microsoft.com/office/drawing/2014/main" id="{34EF5FEA-BD94-F9C0-E142-5CE354455817}"/>
              </a:ext>
            </a:extLst>
          </p:cNvPr>
          <p:cNvSpPr/>
          <p:nvPr/>
        </p:nvSpPr>
        <p:spPr>
          <a:xfrm>
            <a:off x="9052453" y="3746415"/>
            <a:ext cx="54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4B38A73B-0B00-4555-A880-19D2EAF18335}"/>
              </a:ext>
            </a:extLst>
          </p:cNvPr>
          <p:cNvGrpSpPr/>
          <p:nvPr/>
        </p:nvGrpSpPr>
        <p:grpSpPr>
          <a:xfrm>
            <a:off x="7567595" y="3002745"/>
            <a:ext cx="1521537" cy="1523340"/>
            <a:chOff x="1878767" y="3039262"/>
            <a:chExt cx="1521537" cy="1523340"/>
          </a:xfrm>
        </p:grpSpPr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550B4D57-285B-925C-372E-1E1CD66D5F47}"/>
                </a:ext>
              </a:extLst>
            </p:cNvPr>
            <p:cNvSpPr/>
            <p:nvPr/>
          </p:nvSpPr>
          <p:spPr>
            <a:xfrm>
              <a:off x="1919536" y="3080030"/>
              <a:ext cx="1440000" cy="1440000"/>
            </a:xfrm>
            <a:prstGeom prst="ellipse">
              <a:avLst/>
            </a:prstGeom>
            <a:noFill/>
            <a:ln w="9525" cap="flat" cmpd="sng" algn="ctr">
              <a:solidFill>
                <a:schemeClr val="tx1">
                  <a:alpha val="6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cxnSp>
          <p:nvCxnSpPr>
            <p:cNvPr id="270" name="Straight Connector 109">
              <a:extLst>
                <a:ext uri="{FF2B5EF4-FFF2-40B4-BE49-F238E27FC236}">
                  <a16:creationId xmlns:a16="http://schemas.microsoft.com/office/drawing/2014/main" id="{E0B492DB-C125-B02D-0789-4574F8785BEA}"/>
                </a:ext>
              </a:extLst>
            </p:cNvPr>
            <p:cNvCxnSpPr/>
            <p:nvPr/>
          </p:nvCxnSpPr>
          <p:spPr>
            <a:xfrm flipV="1">
              <a:off x="1957771" y="3804016"/>
              <a:ext cx="290836" cy="54563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0" name="Straight Connector 110">
              <a:extLst>
                <a:ext uri="{FF2B5EF4-FFF2-40B4-BE49-F238E27FC236}">
                  <a16:creationId xmlns:a16="http://schemas.microsoft.com/office/drawing/2014/main" id="{C53CB7F3-265C-8A6B-E990-56886BFE539B}"/>
                </a:ext>
              </a:extLst>
            </p:cNvPr>
            <p:cNvCxnSpPr>
              <a:cxnSpLocks/>
              <a:stCxn id="269" idx="4"/>
            </p:cNvCxnSpPr>
            <p:nvPr/>
          </p:nvCxnSpPr>
          <p:spPr>
            <a:xfrm flipH="1" flipV="1">
              <a:off x="2512140" y="4050421"/>
              <a:ext cx="127396" cy="46960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2" name="Straight Connector 111">
              <a:extLst>
                <a:ext uri="{FF2B5EF4-FFF2-40B4-BE49-F238E27FC236}">
                  <a16:creationId xmlns:a16="http://schemas.microsoft.com/office/drawing/2014/main" id="{AFC116E9-C2B2-3422-DA85-E1CFED8B37B0}"/>
                </a:ext>
              </a:extLst>
            </p:cNvPr>
            <p:cNvCxnSpPr/>
            <p:nvPr/>
          </p:nvCxnSpPr>
          <p:spPr>
            <a:xfrm flipH="1">
              <a:off x="1957771" y="4041961"/>
              <a:ext cx="548622" cy="306743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3" name="Straight Connector 112">
              <a:extLst>
                <a:ext uri="{FF2B5EF4-FFF2-40B4-BE49-F238E27FC236}">
                  <a16:creationId xmlns:a16="http://schemas.microsoft.com/office/drawing/2014/main" id="{C42C3876-C6EA-5011-58FC-1399C7123886}"/>
                </a:ext>
              </a:extLst>
            </p:cNvPr>
            <p:cNvCxnSpPr/>
            <p:nvPr/>
          </p:nvCxnSpPr>
          <p:spPr>
            <a:xfrm>
              <a:off x="1928027" y="3804016"/>
              <a:ext cx="581672" cy="23384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6" name="Straight Connector 113">
              <a:extLst>
                <a:ext uri="{FF2B5EF4-FFF2-40B4-BE49-F238E27FC236}">
                  <a16:creationId xmlns:a16="http://schemas.microsoft.com/office/drawing/2014/main" id="{ACE2F929-49F1-996B-C419-B32635D7CFF8}"/>
                </a:ext>
              </a:extLst>
            </p:cNvPr>
            <p:cNvCxnSpPr/>
            <p:nvPr/>
          </p:nvCxnSpPr>
          <p:spPr>
            <a:xfrm flipV="1">
              <a:off x="1921417" y="3541457"/>
              <a:ext cx="789884" cy="26255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7" name="Straight Connector 114">
              <a:extLst>
                <a:ext uri="{FF2B5EF4-FFF2-40B4-BE49-F238E27FC236}">
                  <a16:creationId xmlns:a16="http://schemas.microsoft.com/office/drawing/2014/main" id="{1D8E3B30-0427-6106-158A-94582B5ED3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9153" y="3377093"/>
              <a:ext cx="343318" cy="16601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66" name="Straight Connector 115">
              <a:extLst>
                <a:ext uri="{FF2B5EF4-FFF2-40B4-BE49-F238E27FC236}">
                  <a16:creationId xmlns:a16="http://schemas.microsoft.com/office/drawing/2014/main" id="{88B965A6-85E3-7EA1-68F4-F79FCEDECC82}"/>
                </a:ext>
              </a:extLst>
            </p:cNvPr>
            <p:cNvCxnSpPr/>
            <p:nvPr/>
          </p:nvCxnSpPr>
          <p:spPr>
            <a:xfrm flipH="1">
              <a:off x="2248607" y="3364244"/>
              <a:ext cx="130546" cy="442930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0" name="Straight Connector 116">
              <a:extLst>
                <a:ext uri="{FF2B5EF4-FFF2-40B4-BE49-F238E27FC236}">
                  <a16:creationId xmlns:a16="http://schemas.microsoft.com/office/drawing/2014/main" id="{F80B8368-E83E-E766-C2A6-E1401A9561B4}"/>
                </a:ext>
              </a:extLst>
            </p:cNvPr>
            <p:cNvCxnSpPr>
              <a:cxnSpLocks/>
              <a:stCxn id="269" idx="4"/>
            </p:cNvCxnSpPr>
            <p:nvPr/>
          </p:nvCxnSpPr>
          <p:spPr>
            <a:xfrm flipV="1">
              <a:off x="2639536" y="4069641"/>
              <a:ext cx="374607" cy="45038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1" name="Straight Connector 117">
              <a:extLst>
                <a:ext uri="{FF2B5EF4-FFF2-40B4-BE49-F238E27FC236}">
                  <a16:creationId xmlns:a16="http://schemas.microsoft.com/office/drawing/2014/main" id="{CD989DF7-1C8D-B8D5-1766-1437FC73F7DD}"/>
                </a:ext>
              </a:extLst>
            </p:cNvPr>
            <p:cNvCxnSpPr>
              <a:cxnSpLocks/>
            </p:cNvCxnSpPr>
            <p:nvPr/>
          </p:nvCxnSpPr>
          <p:spPr>
            <a:xfrm>
              <a:off x="2509699" y="4034700"/>
              <a:ext cx="612793" cy="31400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2" name="Straight Connector 118">
              <a:extLst>
                <a:ext uri="{FF2B5EF4-FFF2-40B4-BE49-F238E27FC236}">
                  <a16:creationId xmlns:a16="http://schemas.microsoft.com/office/drawing/2014/main" id="{995D9221-B87C-7C65-B17E-C7AF20BEA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9604" y="3426587"/>
              <a:ext cx="228237" cy="644083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3" name="Straight Connector 119">
              <a:extLst>
                <a:ext uri="{FF2B5EF4-FFF2-40B4-BE49-F238E27FC236}">
                  <a16:creationId xmlns:a16="http://schemas.microsoft.com/office/drawing/2014/main" id="{7A52965A-1885-E2B9-8E47-DF401C826CE8}"/>
                </a:ext>
              </a:extLst>
            </p:cNvPr>
            <p:cNvCxnSpPr/>
            <p:nvPr/>
          </p:nvCxnSpPr>
          <p:spPr>
            <a:xfrm flipH="1">
              <a:off x="2506394" y="3426587"/>
              <a:ext cx="730921" cy="61537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4" name="Straight Connector 120">
              <a:extLst>
                <a:ext uri="{FF2B5EF4-FFF2-40B4-BE49-F238E27FC236}">
                  <a16:creationId xmlns:a16="http://schemas.microsoft.com/office/drawing/2014/main" id="{E5CFE188-05E3-AFE6-2873-A011014D8F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6343" y="3541457"/>
              <a:ext cx="451216" cy="732265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5" name="Straight Connector 121">
              <a:extLst>
                <a:ext uri="{FF2B5EF4-FFF2-40B4-BE49-F238E27FC236}">
                  <a16:creationId xmlns:a16="http://schemas.microsoft.com/office/drawing/2014/main" id="{D4BC5D5C-0F14-389A-A866-3617AAC4F439}"/>
                </a:ext>
              </a:extLst>
            </p:cNvPr>
            <p:cNvCxnSpPr/>
            <p:nvPr/>
          </p:nvCxnSpPr>
          <p:spPr>
            <a:xfrm flipV="1">
              <a:off x="2717513" y="3426587"/>
              <a:ext cx="525488" cy="114870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7" name="Straight Connector 122">
              <a:extLst>
                <a:ext uri="{FF2B5EF4-FFF2-40B4-BE49-F238E27FC236}">
                  <a16:creationId xmlns:a16="http://schemas.microsoft.com/office/drawing/2014/main" id="{FA2D587A-1F28-F462-6708-7A4707373ECD}"/>
                </a:ext>
              </a:extLst>
            </p:cNvPr>
            <p:cNvCxnSpPr/>
            <p:nvPr/>
          </p:nvCxnSpPr>
          <p:spPr>
            <a:xfrm flipV="1">
              <a:off x="2379153" y="3076652"/>
              <a:ext cx="255152" cy="28759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123">
              <a:extLst>
                <a:ext uri="{FF2B5EF4-FFF2-40B4-BE49-F238E27FC236}">
                  <a16:creationId xmlns:a16="http://schemas.microsoft.com/office/drawing/2014/main" id="{C5B6FA37-7825-C646-79F7-0F07998FACB4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80" y="3076652"/>
              <a:ext cx="82226" cy="47530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0" name="Straight Connector 124">
              <a:extLst>
                <a:ext uri="{FF2B5EF4-FFF2-40B4-BE49-F238E27FC236}">
                  <a16:creationId xmlns:a16="http://schemas.microsoft.com/office/drawing/2014/main" id="{6D0875EB-4CD2-4413-6C19-E1FBC4655FC5}"/>
                </a:ext>
              </a:extLst>
            </p:cNvPr>
            <p:cNvCxnSpPr/>
            <p:nvPr/>
          </p:nvCxnSpPr>
          <p:spPr>
            <a:xfrm flipH="1">
              <a:off x="2500708" y="3564810"/>
              <a:ext cx="205109" cy="485611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2" name="Straight Connector 125">
              <a:extLst>
                <a:ext uri="{FF2B5EF4-FFF2-40B4-BE49-F238E27FC236}">
                  <a16:creationId xmlns:a16="http://schemas.microsoft.com/office/drawing/2014/main" id="{CC22C7E9-5F54-2A65-54C9-4804AEE7C189}"/>
                </a:ext>
              </a:extLst>
            </p:cNvPr>
            <p:cNvCxnSpPr/>
            <p:nvPr/>
          </p:nvCxnSpPr>
          <p:spPr>
            <a:xfrm>
              <a:off x="2375848" y="3372991"/>
              <a:ext cx="127966" cy="68317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3577379F-CF9C-C093-DAF4-01B515131B34}"/>
                </a:ext>
              </a:extLst>
            </p:cNvPr>
            <p:cNvGrpSpPr/>
            <p:nvPr/>
          </p:nvGrpSpPr>
          <p:grpSpPr>
            <a:xfrm>
              <a:off x="2423536" y="3584030"/>
              <a:ext cx="432000" cy="432000"/>
              <a:chOff x="8167092" y="3151745"/>
              <a:chExt cx="432000" cy="432000"/>
            </a:xfrm>
          </p:grpSpPr>
          <p:sp>
            <p:nvSpPr>
              <p:cNvPr id="104" name="Ellipse 65">
                <a:extLst>
                  <a:ext uri="{FF2B5EF4-FFF2-40B4-BE49-F238E27FC236}">
                    <a16:creationId xmlns:a16="http://schemas.microsoft.com/office/drawing/2014/main" id="{0B6668EB-6071-9131-0260-139562984A2F}"/>
                  </a:ext>
                </a:extLst>
              </p:cNvPr>
              <p:cNvSpPr/>
              <p:nvPr/>
            </p:nvSpPr>
            <p:spPr>
              <a:xfrm>
                <a:off x="8167092" y="3151745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5" name="Picture 2">
                <a:extLst>
                  <a:ext uri="{FF2B5EF4-FFF2-40B4-BE49-F238E27FC236}">
                    <a16:creationId xmlns:a16="http://schemas.microsoft.com/office/drawing/2014/main" id="{3B700DA8-6304-4FC1-ECD5-6E6C9646A4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97845" y="3187745"/>
                <a:ext cx="370495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AA7338DB-4587-F656-55C6-84123539C656}"/>
                </a:ext>
              </a:extLst>
            </p:cNvPr>
            <p:cNvGrpSpPr/>
            <p:nvPr/>
          </p:nvGrpSpPr>
          <p:grpSpPr>
            <a:xfrm>
              <a:off x="2930994" y="3076652"/>
              <a:ext cx="432000" cy="432000"/>
              <a:chOff x="2927536" y="3044415"/>
              <a:chExt cx="432000" cy="432000"/>
            </a:xfrm>
          </p:grpSpPr>
          <p:sp>
            <p:nvSpPr>
              <p:cNvPr id="102" name="Ellipse 71">
                <a:extLst>
                  <a:ext uri="{FF2B5EF4-FFF2-40B4-BE49-F238E27FC236}">
                    <a16:creationId xmlns:a16="http://schemas.microsoft.com/office/drawing/2014/main" id="{1102123A-1FC0-A361-7280-7A442E1572A7}"/>
                  </a:ext>
                </a:extLst>
              </p:cNvPr>
              <p:cNvSpPr/>
              <p:nvPr/>
            </p:nvSpPr>
            <p:spPr>
              <a:xfrm>
                <a:off x="2927536" y="3044415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3" name="Grafik 102" descr="Dremio">
                <a:extLst>
                  <a:ext uri="{FF2B5EF4-FFF2-40B4-BE49-F238E27FC236}">
                    <a16:creationId xmlns:a16="http://schemas.microsoft.com/office/drawing/2014/main" id="{68FD41C8-DBB4-C7FF-6DB4-2BCAAE3448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7854"/>
              <a:stretch/>
            </p:blipFill>
            <p:spPr bwMode="auto">
              <a:xfrm>
                <a:off x="2984177" y="3124709"/>
                <a:ext cx="311139" cy="313072"/>
              </a:xfrm>
              <a:custGeom>
                <a:avLst/>
                <a:gdLst>
                  <a:gd name="connsiteX0" fmla="*/ 0 w 311139"/>
                  <a:gd name="connsiteY0" fmla="*/ 0 h 313072"/>
                  <a:gd name="connsiteX1" fmla="*/ 311139 w 311139"/>
                  <a:gd name="connsiteY1" fmla="*/ 0 h 313072"/>
                  <a:gd name="connsiteX2" fmla="*/ 311139 w 311139"/>
                  <a:gd name="connsiteY2" fmla="*/ 101360 h 313072"/>
                  <a:gd name="connsiteX3" fmla="*/ 307035 w 311139"/>
                  <a:gd name="connsiteY3" fmla="*/ 103408 h 313072"/>
                  <a:gd name="connsiteX4" fmla="*/ 254308 w 311139"/>
                  <a:gd name="connsiteY4" fmla="*/ 197630 h 313072"/>
                  <a:gd name="connsiteX5" fmla="*/ 307035 w 311139"/>
                  <a:gd name="connsiteY5" fmla="*/ 291852 h 313072"/>
                  <a:gd name="connsiteX6" fmla="*/ 311139 w 311139"/>
                  <a:gd name="connsiteY6" fmla="*/ 293900 h 313072"/>
                  <a:gd name="connsiteX7" fmla="*/ 311139 w 311139"/>
                  <a:gd name="connsiteY7" fmla="*/ 313072 h 313072"/>
                  <a:gd name="connsiteX8" fmla="*/ 0 w 311139"/>
                  <a:gd name="connsiteY8" fmla="*/ 313072 h 313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139" h="313072">
                    <a:moveTo>
                      <a:pt x="0" y="0"/>
                    </a:moveTo>
                    <a:lnTo>
                      <a:pt x="311139" y="0"/>
                    </a:lnTo>
                    <a:lnTo>
                      <a:pt x="311139" y="101360"/>
                    </a:lnTo>
                    <a:lnTo>
                      <a:pt x="307035" y="103408"/>
                    </a:lnTo>
                    <a:cubicBezTo>
                      <a:pt x="274458" y="127522"/>
                      <a:pt x="254308" y="160834"/>
                      <a:pt x="254308" y="197630"/>
                    </a:cubicBezTo>
                    <a:cubicBezTo>
                      <a:pt x="254308" y="234426"/>
                      <a:pt x="274458" y="267739"/>
                      <a:pt x="307035" y="291852"/>
                    </a:cubicBezTo>
                    <a:lnTo>
                      <a:pt x="311139" y="293900"/>
                    </a:lnTo>
                    <a:lnTo>
                      <a:pt x="311139" y="313072"/>
                    </a:lnTo>
                    <a:lnTo>
                      <a:pt x="0" y="313072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99C1A253-353E-FCCB-3CAD-081932A0DF2D}"/>
                </a:ext>
              </a:extLst>
            </p:cNvPr>
            <p:cNvGrpSpPr/>
            <p:nvPr/>
          </p:nvGrpSpPr>
          <p:grpSpPr>
            <a:xfrm>
              <a:off x="1916078" y="3076652"/>
              <a:ext cx="432000" cy="432000"/>
              <a:chOff x="1969702" y="3076969"/>
              <a:chExt cx="432000" cy="432000"/>
            </a:xfrm>
          </p:grpSpPr>
          <p:sp>
            <p:nvSpPr>
              <p:cNvPr id="99" name="Ellipse 65">
                <a:extLst>
                  <a:ext uri="{FF2B5EF4-FFF2-40B4-BE49-F238E27FC236}">
                    <a16:creationId xmlns:a16="http://schemas.microsoft.com/office/drawing/2014/main" id="{F65A5765-9FBE-9EF0-AA95-9F6B25ACB310}"/>
                  </a:ext>
                </a:extLst>
              </p:cNvPr>
              <p:cNvSpPr/>
              <p:nvPr/>
            </p:nvSpPr>
            <p:spPr>
              <a:xfrm>
                <a:off x="1969702" y="3076969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1" name="Grafik 66" descr="Starburst - Analytics Anywhere">
                <a:extLst>
                  <a:ext uri="{FF2B5EF4-FFF2-40B4-BE49-F238E27FC236}">
                    <a16:creationId xmlns:a16="http://schemas.microsoft.com/office/drawing/2014/main" id="{E81686BB-0C1A-B551-E96B-ECEC28DFCF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8731"/>
              <a:stretch/>
            </p:blipFill>
            <p:spPr bwMode="auto">
              <a:xfrm>
                <a:off x="1993397" y="3104402"/>
                <a:ext cx="405322" cy="377135"/>
              </a:xfrm>
              <a:custGeom>
                <a:avLst/>
                <a:gdLst>
                  <a:gd name="connsiteX0" fmla="*/ 106609 w 497052"/>
                  <a:gd name="connsiteY0" fmla="*/ 0 h 462486"/>
                  <a:gd name="connsiteX1" fmla="*/ 357727 w 497052"/>
                  <a:gd name="connsiteY1" fmla="*/ 0 h 462486"/>
                  <a:gd name="connsiteX2" fmla="*/ 380267 w 497052"/>
                  <a:gd name="connsiteY2" fmla="*/ 12234 h 462486"/>
                  <a:gd name="connsiteX3" fmla="*/ 497052 w 497052"/>
                  <a:gd name="connsiteY3" fmla="*/ 231880 h 462486"/>
                  <a:gd name="connsiteX4" fmla="*/ 380267 w 497052"/>
                  <a:gd name="connsiteY4" fmla="*/ 451526 h 462486"/>
                  <a:gd name="connsiteX5" fmla="*/ 360075 w 497052"/>
                  <a:gd name="connsiteY5" fmla="*/ 462486 h 462486"/>
                  <a:gd name="connsiteX6" fmla="*/ 104261 w 497052"/>
                  <a:gd name="connsiteY6" fmla="*/ 462486 h 462486"/>
                  <a:gd name="connsiteX7" fmla="*/ 84069 w 497052"/>
                  <a:gd name="connsiteY7" fmla="*/ 451526 h 462486"/>
                  <a:gd name="connsiteX8" fmla="*/ 12522 w 497052"/>
                  <a:gd name="connsiteY8" fmla="*/ 379979 h 462486"/>
                  <a:gd name="connsiteX9" fmla="*/ 0 w 497052"/>
                  <a:gd name="connsiteY9" fmla="*/ 356909 h 462486"/>
                  <a:gd name="connsiteX10" fmla="*/ 0 w 497052"/>
                  <a:gd name="connsiteY10" fmla="*/ 106851 h 462486"/>
                  <a:gd name="connsiteX11" fmla="*/ 12522 w 497052"/>
                  <a:gd name="connsiteY11" fmla="*/ 83781 h 462486"/>
                  <a:gd name="connsiteX12" fmla="*/ 84069 w 497052"/>
                  <a:gd name="connsiteY12" fmla="*/ 12234 h 46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7052" h="462486">
                    <a:moveTo>
                      <a:pt x="106609" y="0"/>
                    </a:moveTo>
                    <a:lnTo>
                      <a:pt x="357727" y="0"/>
                    </a:lnTo>
                    <a:lnTo>
                      <a:pt x="380267" y="12234"/>
                    </a:lnTo>
                    <a:cubicBezTo>
                      <a:pt x="450727" y="59836"/>
                      <a:pt x="497052" y="140448"/>
                      <a:pt x="497052" y="231880"/>
                    </a:cubicBezTo>
                    <a:cubicBezTo>
                      <a:pt x="497052" y="323312"/>
                      <a:pt x="450727" y="403924"/>
                      <a:pt x="380267" y="451526"/>
                    </a:cubicBezTo>
                    <a:lnTo>
                      <a:pt x="360075" y="462486"/>
                    </a:lnTo>
                    <a:lnTo>
                      <a:pt x="104261" y="462486"/>
                    </a:lnTo>
                    <a:lnTo>
                      <a:pt x="84069" y="451526"/>
                    </a:lnTo>
                    <a:cubicBezTo>
                      <a:pt x="55885" y="432485"/>
                      <a:pt x="31563" y="408163"/>
                      <a:pt x="12522" y="379979"/>
                    </a:cubicBezTo>
                    <a:lnTo>
                      <a:pt x="0" y="356909"/>
                    </a:lnTo>
                    <a:lnTo>
                      <a:pt x="0" y="106851"/>
                    </a:lnTo>
                    <a:lnTo>
                      <a:pt x="12522" y="83781"/>
                    </a:lnTo>
                    <a:cubicBezTo>
                      <a:pt x="31563" y="55597"/>
                      <a:pt x="55885" y="31275"/>
                      <a:pt x="84069" y="12234"/>
                    </a:cubicBez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3C81C4E9-EC9E-F4B3-63F4-17A309F9A9D3}"/>
                </a:ext>
              </a:extLst>
            </p:cNvPr>
            <p:cNvGrpSpPr/>
            <p:nvPr/>
          </p:nvGrpSpPr>
          <p:grpSpPr>
            <a:xfrm>
              <a:off x="1916078" y="4086925"/>
              <a:ext cx="427890" cy="436483"/>
              <a:chOff x="1919539" y="4052415"/>
              <a:chExt cx="427890" cy="436483"/>
            </a:xfrm>
          </p:grpSpPr>
          <p:sp>
            <p:nvSpPr>
              <p:cNvPr id="97" name="Ellipse 51">
                <a:extLst>
                  <a:ext uri="{FF2B5EF4-FFF2-40B4-BE49-F238E27FC236}">
                    <a16:creationId xmlns:a16="http://schemas.microsoft.com/office/drawing/2014/main" id="{9E94C5C1-8688-CEC2-EE90-4013CA7CAD76}"/>
                  </a:ext>
                </a:extLst>
              </p:cNvPr>
              <p:cNvSpPr/>
              <p:nvPr/>
            </p:nvSpPr>
            <p:spPr>
              <a:xfrm>
                <a:off x="1919539" y="4052415"/>
                <a:ext cx="42789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98" name="Picture 36" descr="Data Analysis using Amazon Athena">
                <a:extLst>
                  <a:ext uri="{FF2B5EF4-FFF2-40B4-BE49-F238E27FC236}">
                    <a16:creationId xmlns:a16="http://schemas.microsoft.com/office/drawing/2014/main" id="{21DBDFC0-6F48-EB65-C448-FA0D172FD9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0000"/>
              <a:stretch/>
            </p:blipFill>
            <p:spPr bwMode="auto">
              <a:xfrm>
                <a:off x="1952910" y="4085785"/>
                <a:ext cx="389267" cy="4031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7" name="Ellipse 68">
              <a:extLst>
                <a:ext uri="{FF2B5EF4-FFF2-40B4-BE49-F238E27FC236}">
                  <a16:creationId xmlns:a16="http://schemas.microsoft.com/office/drawing/2014/main" id="{6939FDA4-C890-B5B6-C0BD-0258C353EF81}"/>
                </a:ext>
              </a:extLst>
            </p:cNvPr>
            <p:cNvSpPr/>
            <p:nvPr/>
          </p:nvSpPr>
          <p:spPr>
            <a:xfrm>
              <a:off x="2930994" y="4091408"/>
              <a:ext cx="432000" cy="432000"/>
            </a:xfrm>
            <a:prstGeom prst="ellipse">
              <a:avLst/>
            </a:prstGeom>
            <a:solidFill>
              <a:srgbClr val="334862"/>
            </a:solidFill>
            <a:ln w="12700" cap="flat" cmpd="sng" algn="ctr">
              <a:solidFill>
                <a:schemeClr val="tx1">
                  <a:alpha val="60000"/>
                </a:schemeClr>
              </a:solidFill>
              <a:prstDash val="solid"/>
              <a:miter lim="800000"/>
            </a:ln>
            <a:effectLst/>
          </p:spPr>
          <p:txBody>
            <a:bodyPr lIns="72000" tIns="72000" rIns="72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88" name="Oval 200">
              <a:extLst>
                <a:ext uri="{FF2B5EF4-FFF2-40B4-BE49-F238E27FC236}">
                  <a16:creationId xmlns:a16="http://schemas.microsoft.com/office/drawing/2014/main" id="{A6A48E5F-5995-8104-F203-7F59F79DA155}"/>
                </a:ext>
              </a:extLst>
            </p:cNvPr>
            <p:cNvSpPr/>
            <p:nvPr/>
          </p:nvSpPr>
          <p:spPr>
            <a:xfrm rot="19785650" flipH="1">
              <a:off x="2603535" y="303926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89" name="Oval 202">
              <a:extLst>
                <a:ext uri="{FF2B5EF4-FFF2-40B4-BE49-F238E27FC236}">
                  <a16:creationId xmlns:a16="http://schemas.microsoft.com/office/drawing/2014/main" id="{8412EE64-F9AF-E116-7660-A3BA2E36EC29}"/>
                </a:ext>
              </a:extLst>
            </p:cNvPr>
            <p:cNvSpPr/>
            <p:nvPr/>
          </p:nvSpPr>
          <p:spPr>
            <a:xfrm rot="19785650" flipH="1">
              <a:off x="1878767" y="3761789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0" name="Oval 203">
              <a:extLst>
                <a:ext uri="{FF2B5EF4-FFF2-40B4-BE49-F238E27FC236}">
                  <a16:creationId xmlns:a16="http://schemas.microsoft.com/office/drawing/2014/main" id="{D4D50895-CA33-62C9-5E53-987FABD7B06F}"/>
                </a:ext>
              </a:extLst>
            </p:cNvPr>
            <p:cNvSpPr/>
            <p:nvPr/>
          </p:nvSpPr>
          <p:spPr>
            <a:xfrm rot="19785650" flipH="1">
              <a:off x="3328304" y="3764030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1" name="Oval 204">
              <a:extLst>
                <a:ext uri="{FF2B5EF4-FFF2-40B4-BE49-F238E27FC236}">
                  <a16:creationId xmlns:a16="http://schemas.microsoft.com/office/drawing/2014/main" id="{BFE9F7DF-0435-A912-0587-5ADCA3227D90}"/>
                </a:ext>
              </a:extLst>
            </p:cNvPr>
            <p:cNvSpPr/>
            <p:nvPr/>
          </p:nvSpPr>
          <p:spPr>
            <a:xfrm rot="19785650" flipH="1">
              <a:off x="2601480" y="449060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2" name="Oval 202">
              <a:extLst>
                <a:ext uri="{FF2B5EF4-FFF2-40B4-BE49-F238E27FC236}">
                  <a16:creationId xmlns:a16="http://schemas.microsoft.com/office/drawing/2014/main" id="{5C54FF0F-67BD-7FE0-16CE-98815BE1316C}"/>
                </a:ext>
              </a:extLst>
            </p:cNvPr>
            <p:cNvSpPr/>
            <p:nvPr/>
          </p:nvSpPr>
          <p:spPr>
            <a:xfrm rot="19785650" flipH="1">
              <a:off x="2349817" y="3347015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3" name="Oval 202">
              <a:extLst>
                <a:ext uri="{FF2B5EF4-FFF2-40B4-BE49-F238E27FC236}">
                  <a16:creationId xmlns:a16="http://schemas.microsoft.com/office/drawing/2014/main" id="{65A1A12A-F45F-F7A9-43D8-0AE33A9DEE8E}"/>
                </a:ext>
              </a:extLst>
            </p:cNvPr>
            <p:cNvSpPr/>
            <p:nvPr/>
          </p:nvSpPr>
          <p:spPr>
            <a:xfrm rot="19785650" flipH="1">
              <a:off x="2674585" y="349465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4" name="Oval 202">
              <a:extLst>
                <a:ext uri="{FF2B5EF4-FFF2-40B4-BE49-F238E27FC236}">
                  <a16:creationId xmlns:a16="http://schemas.microsoft.com/office/drawing/2014/main" id="{432EC47D-36A6-523F-B8AA-51AF8BF1D55A}"/>
                </a:ext>
              </a:extLst>
            </p:cNvPr>
            <p:cNvSpPr/>
            <p:nvPr/>
          </p:nvSpPr>
          <p:spPr>
            <a:xfrm rot="19785650" flipH="1">
              <a:off x="2986432" y="4025746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5" name="Oval 202">
              <a:extLst>
                <a:ext uri="{FF2B5EF4-FFF2-40B4-BE49-F238E27FC236}">
                  <a16:creationId xmlns:a16="http://schemas.microsoft.com/office/drawing/2014/main" id="{20FD76F0-2047-37B3-162B-701444C3DE5F}"/>
                </a:ext>
              </a:extLst>
            </p:cNvPr>
            <p:cNvSpPr/>
            <p:nvPr/>
          </p:nvSpPr>
          <p:spPr>
            <a:xfrm rot="19785650" flipH="1">
              <a:off x="2460639" y="4006696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6" name="Oval 202">
              <a:extLst>
                <a:ext uri="{FF2B5EF4-FFF2-40B4-BE49-F238E27FC236}">
                  <a16:creationId xmlns:a16="http://schemas.microsoft.com/office/drawing/2014/main" id="{8EFA776B-02AB-1E5B-E3F1-AAC1D9820EAB}"/>
                </a:ext>
              </a:extLst>
            </p:cNvPr>
            <p:cNvSpPr/>
            <p:nvPr/>
          </p:nvSpPr>
          <p:spPr>
            <a:xfrm rot="19785650" flipH="1">
              <a:off x="2221367" y="3768931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</p:grpSp>
      <p:sp>
        <p:nvSpPr>
          <p:cNvPr id="107" name="Rechteck 106">
            <a:extLst>
              <a:ext uri="{FF2B5EF4-FFF2-40B4-BE49-F238E27FC236}">
                <a16:creationId xmlns:a16="http://schemas.microsoft.com/office/drawing/2014/main" id="{45E99B06-F0C5-8C5D-C437-567CF8C06B34}"/>
              </a:ext>
            </a:extLst>
          </p:cNvPr>
          <p:cNvSpPr/>
          <p:nvPr/>
        </p:nvSpPr>
        <p:spPr>
          <a:xfrm rot="5400000">
            <a:off x="8650169" y="3787382"/>
            <a:ext cx="1192466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1" name="Straight Connector 121">
            <a:extLst>
              <a:ext uri="{FF2B5EF4-FFF2-40B4-BE49-F238E27FC236}">
                <a16:creationId xmlns:a16="http://schemas.microsoft.com/office/drawing/2014/main" id="{A5C2ADB1-81D6-C006-6215-8FBB1A0C6C25}"/>
              </a:ext>
            </a:extLst>
          </p:cNvPr>
          <p:cNvCxnSpPr>
            <a:cxnSpLocks/>
            <a:stCxn id="93" idx="3"/>
            <a:endCxn id="90" idx="7"/>
          </p:cNvCxnSpPr>
          <p:nvPr/>
        </p:nvCxnSpPr>
        <p:spPr>
          <a:xfrm>
            <a:off x="8434225" y="3503307"/>
            <a:ext cx="584095" cy="251034"/>
          </a:xfrm>
          <a:prstGeom prst="line">
            <a:avLst/>
          </a:prstGeom>
          <a:solidFill>
            <a:srgbClr val="465162"/>
          </a:solidFill>
          <a:ln w="6350" cap="flat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16" name="Straight Connector 121">
            <a:extLst>
              <a:ext uri="{FF2B5EF4-FFF2-40B4-BE49-F238E27FC236}">
                <a16:creationId xmlns:a16="http://schemas.microsoft.com/office/drawing/2014/main" id="{7F43521F-7181-BA2A-D790-5E818257226A}"/>
              </a:ext>
            </a:extLst>
          </p:cNvPr>
          <p:cNvCxnSpPr>
            <a:cxnSpLocks/>
            <a:stCxn id="94" idx="1"/>
            <a:endCxn id="90" idx="6"/>
          </p:cNvCxnSpPr>
          <p:nvPr/>
        </p:nvCxnSpPr>
        <p:spPr>
          <a:xfrm flipV="1">
            <a:off x="8720432" y="3781643"/>
            <a:ext cx="301598" cy="208774"/>
          </a:xfrm>
          <a:prstGeom prst="line">
            <a:avLst/>
          </a:prstGeom>
          <a:solidFill>
            <a:srgbClr val="465162"/>
          </a:solidFill>
          <a:ln w="6350" cap="flat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20" name="Oval 202">
            <a:extLst>
              <a:ext uri="{FF2B5EF4-FFF2-40B4-BE49-F238E27FC236}">
                <a16:creationId xmlns:a16="http://schemas.microsoft.com/office/drawing/2014/main" id="{40B3A618-E894-6BDF-66D4-14265DC215A6}"/>
              </a:ext>
            </a:extLst>
          </p:cNvPr>
          <p:cNvSpPr/>
          <p:nvPr/>
        </p:nvSpPr>
        <p:spPr>
          <a:xfrm rot="19785650" flipH="1">
            <a:off x="8780980" y="3635935"/>
            <a:ext cx="72000" cy="72000"/>
          </a:xfrm>
          <a:prstGeom prst="ellipse">
            <a:avLst/>
          </a:prstGeom>
          <a:solidFill>
            <a:srgbClr val="334862"/>
          </a:solidFill>
          <a:ln w="9525" cap="flat" cmpd="sng" algn="ctr">
            <a:solidFill>
              <a:srgbClr val="99A3B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27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uppieren 256">
            <a:extLst>
              <a:ext uri="{FF2B5EF4-FFF2-40B4-BE49-F238E27FC236}">
                <a16:creationId xmlns:a16="http://schemas.microsoft.com/office/drawing/2014/main" id="{B84E56BA-7D90-D15E-6015-8090CB84F397}"/>
              </a:ext>
            </a:extLst>
          </p:cNvPr>
          <p:cNvGrpSpPr/>
          <p:nvPr/>
        </p:nvGrpSpPr>
        <p:grpSpPr>
          <a:xfrm>
            <a:off x="423962" y="1917168"/>
            <a:ext cx="11360046" cy="3240000"/>
            <a:chOff x="-2824383" y="1958336"/>
            <a:chExt cx="11360046" cy="3024000"/>
          </a:xfrm>
        </p:grpSpPr>
        <p:pic>
          <p:nvPicPr>
            <p:cNvPr id="254" name="Grafik 253">
              <a:extLst>
                <a:ext uri="{FF2B5EF4-FFF2-40B4-BE49-F238E27FC236}">
                  <a16:creationId xmlns:a16="http://schemas.microsoft.com/office/drawing/2014/main" id="{989E391C-2B75-BF30-5D3A-D845F24303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24" t="55194" b="1050"/>
            <a:stretch/>
          </p:blipFill>
          <p:spPr bwMode="invGray">
            <a:xfrm>
              <a:off x="-2824383" y="1958336"/>
              <a:ext cx="11360046" cy="3024000"/>
            </a:xfrm>
            <a:custGeom>
              <a:avLst/>
              <a:gdLst>
                <a:gd name="connsiteX0" fmla="*/ 0 w 12192000"/>
                <a:gd name="connsiteY0" fmla="*/ 0 h 576000"/>
                <a:gd name="connsiteX1" fmla="*/ 12192000 w 12192000"/>
                <a:gd name="connsiteY1" fmla="*/ 0 h 576000"/>
                <a:gd name="connsiteX2" fmla="*/ 12192000 w 12192000"/>
                <a:gd name="connsiteY2" fmla="*/ 576000 h 576000"/>
                <a:gd name="connsiteX3" fmla="*/ 0 w 12192000"/>
                <a:gd name="connsiteY3" fmla="*/ 57600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76000">
                  <a:moveTo>
                    <a:pt x="0" y="0"/>
                  </a:moveTo>
                  <a:lnTo>
                    <a:pt x="12192000" y="0"/>
                  </a:lnTo>
                  <a:lnTo>
                    <a:pt x="12192000" y="576000"/>
                  </a:lnTo>
                  <a:lnTo>
                    <a:pt x="0" y="576000"/>
                  </a:lnTo>
                  <a:close/>
                </a:path>
              </a:pathLst>
            </a:custGeom>
          </p:spPr>
        </p:pic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BE783BC1-6CE0-8401-6ABF-A84AAD3BF031}"/>
                </a:ext>
              </a:extLst>
            </p:cNvPr>
            <p:cNvSpPr/>
            <p:nvPr/>
          </p:nvSpPr>
          <p:spPr>
            <a:xfrm>
              <a:off x="-2824383" y="1958336"/>
              <a:ext cx="11360046" cy="3024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6" name="Rechteck 255">
              <a:extLst>
                <a:ext uri="{FF2B5EF4-FFF2-40B4-BE49-F238E27FC236}">
                  <a16:creationId xmlns:a16="http://schemas.microsoft.com/office/drawing/2014/main" id="{3DFB8929-0B74-3607-3E14-13EEBADD1D34}"/>
                </a:ext>
              </a:extLst>
            </p:cNvPr>
            <p:cNvSpPr/>
            <p:nvPr/>
          </p:nvSpPr>
          <p:spPr>
            <a:xfrm>
              <a:off x="-2824383" y="1958336"/>
              <a:ext cx="11360046" cy="3024000"/>
            </a:xfrm>
            <a:prstGeom prst="rect">
              <a:avLst/>
            </a:prstGeom>
            <a:solidFill>
              <a:srgbClr val="000028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4C487B27-03B4-2253-D465-4ED1426B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400" b="0" dirty="0">
                <a:solidFill>
                  <a:prstClr val="white"/>
                </a:solidFill>
                <a:latin typeface="Arial"/>
              </a:rPr>
              <a:t>2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Synergies of LDF Data Platform within SDC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 dirty="0"/>
              <a:t>Full integration of IoT Data Lake into open data ecosystem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1702F8-D65E-0099-99E4-FF850E98AB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LDF Data Platform | 2023-09-07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FFAC0-6140-C4F1-3D14-0E92C643C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A0AA4084-F5EA-96B2-73B8-ECE6B0785C0E}"/>
              </a:ext>
            </a:extLst>
          </p:cNvPr>
          <p:cNvSpPr/>
          <p:nvPr/>
        </p:nvSpPr>
        <p:spPr>
          <a:xfrm>
            <a:off x="410400" y="1917168"/>
            <a:ext cx="11373608" cy="3240000"/>
          </a:xfrm>
          <a:custGeom>
            <a:avLst/>
            <a:gdLst>
              <a:gd name="connsiteX0" fmla="*/ 5757608 w 11373608"/>
              <a:gd name="connsiteY0" fmla="*/ 0 h 3024000"/>
              <a:gd name="connsiteX1" fmla="*/ 11373608 w 11373608"/>
              <a:gd name="connsiteY1" fmla="*/ 0 h 3024000"/>
              <a:gd name="connsiteX2" fmla="*/ 11373608 w 11373608"/>
              <a:gd name="connsiteY2" fmla="*/ 3024000 h 3024000"/>
              <a:gd name="connsiteX3" fmla="*/ 5757608 w 11373608"/>
              <a:gd name="connsiteY3" fmla="*/ 3024000 h 3024000"/>
              <a:gd name="connsiteX4" fmla="*/ 5757608 w 11373608"/>
              <a:gd name="connsiteY4" fmla="*/ 2664000 h 3024000"/>
              <a:gd name="connsiteX5" fmla="*/ 5829608 w 11373608"/>
              <a:gd name="connsiteY5" fmla="*/ 2664000 h 3024000"/>
              <a:gd name="connsiteX6" fmla="*/ 5829608 w 11373608"/>
              <a:gd name="connsiteY6" fmla="*/ 2950640 h 3024000"/>
              <a:gd name="connsiteX7" fmla="*/ 11301608 w 11373608"/>
              <a:gd name="connsiteY7" fmla="*/ 2950640 h 3024000"/>
              <a:gd name="connsiteX8" fmla="*/ 11301608 w 11373608"/>
              <a:gd name="connsiteY8" fmla="*/ 71999 h 3024000"/>
              <a:gd name="connsiteX9" fmla="*/ 5829608 w 11373608"/>
              <a:gd name="connsiteY9" fmla="*/ 71999 h 3024000"/>
              <a:gd name="connsiteX10" fmla="*/ 5829608 w 11373608"/>
              <a:gd name="connsiteY10" fmla="*/ 360000 h 3024000"/>
              <a:gd name="connsiteX11" fmla="*/ 5757608 w 11373608"/>
              <a:gd name="connsiteY11" fmla="*/ 360000 h 3024000"/>
              <a:gd name="connsiteX12" fmla="*/ 0 w 11373608"/>
              <a:gd name="connsiteY12" fmla="*/ 0 h 3024000"/>
              <a:gd name="connsiteX13" fmla="*/ 5616000 w 11373608"/>
              <a:gd name="connsiteY13" fmla="*/ 0 h 3024000"/>
              <a:gd name="connsiteX14" fmla="*/ 5616000 w 11373608"/>
              <a:gd name="connsiteY14" fmla="*/ 360000 h 3024000"/>
              <a:gd name="connsiteX15" fmla="*/ 5544000 w 11373608"/>
              <a:gd name="connsiteY15" fmla="*/ 360000 h 3024000"/>
              <a:gd name="connsiteX16" fmla="*/ 5544000 w 11373608"/>
              <a:gd name="connsiteY16" fmla="*/ 71999 h 3024000"/>
              <a:gd name="connsiteX17" fmla="*/ 72000 w 11373608"/>
              <a:gd name="connsiteY17" fmla="*/ 71999 h 3024000"/>
              <a:gd name="connsiteX18" fmla="*/ 72000 w 11373608"/>
              <a:gd name="connsiteY18" fmla="*/ 2950640 h 3024000"/>
              <a:gd name="connsiteX19" fmla="*/ 5544000 w 11373608"/>
              <a:gd name="connsiteY19" fmla="*/ 2950640 h 3024000"/>
              <a:gd name="connsiteX20" fmla="*/ 5544000 w 11373608"/>
              <a:gd name="connsiteY20" fmla="*/ 2664000 h 3024000"/>
              <a:gd name="connsiteX21" fmla="*/ 5616000 w 11373608"/>
              <a:gd name="connsiteY21" fmla="*/ 2664000 h 3024000"/>
              <a:gd name="connsiteX22" fmla="*/ 5616000 w 11373608"/>
              <a:gd name="connsiteY22" fmla="*/ 3024000 h 3024000"/>
              <a:gd name="connsiteX23" fmla="*/ 0 w 11373608"/>
              <a:gd name="connsiteY23" fmla="*/ 3024000 h 30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373608" h="3024000">
                <a:moveTo>
                  <a:pt x="5757608" y="0"/>
                </a:moveTo>
                <a:lnTo>
                  <a:pt x="11373608" y="0"/>
                </a:lnTo>
                <a:lnTo>
                  <a:pt x="11373608" y="3024000"/>
                </a:lnTo>
                <a:lnTo>
                  <a:pt x="5757608" y="3024000"/>
                </a:lnTo>
                <a:lnTo>
                  <a:pt x="5757608" y="2664000"/>
                </a:lnTo>
                <a:lnTo>
                  <a:pt x="5829608" y="2664000"/>
                </a:lnTo>
                <a:lnTo>
                  <a:pt x="5829608" y="2950640"/>
                </a:lnTo>
                <a:lnTo>
                  <a:pt x="11301608" y="2950640"/>
                </a:lnTo>
                <a:lnTo>
                  <a:pt x="11301608" y="71999"/>
                </a:lnTo>
                <a:lnTo>
                  <a:pt x="5829608" y="71999"/>
                </a:lnTo>
                <a:lnTo>
                  <a:pt x="5829608" y="360000"/>
                </a:lnTo>
                <a:lnTo>
                  <a:pt x="5757608" y="360000"/>
                </a:lnTo>
                <a:close/>
                <a:moveTo>
                  <a:pt x="0" y="0"/>
                </a:moveTo>
                <a:lnTo>
                  <a:pt x="5616000" y="0"/>
                </a:lnTo>
                <a:lnTo>
                  <a:pt x="5616000" y="360000"/>
                </a:lnTo>
                <a:lnTo>
                  <a:pt x="5544000" y="360000"/>
                </a:lnTo>
                <a:lnTo>
                  <a:pt x="5544000" y="71999"/>
                </a:lnTo>
                <a:lnTo>
                  <a:pt x="72000" y="71999"/>
                </a:lnTo>
                <a:lnTo>
                  <a:pt x="72000" y="2950640"/>
                </a:lnTo>
                <a:lnTo>
                  <a:pt x="5544000" y="2950640"/>
                </a:lnTo>
                <a:lnTo>
                  <a:pt x="5544000" y="2664000"/>
                </a:lnTo>
                <a:lnTo>
                  <a:pt x="5616000" y="2664000"/>
                </a:lnTo>
                <a:lnTo>
                  <a:pt x="5616000" y="3024000"/>
                </a:lnTo>
                <a:lnTo>
                  <a:pt x="0" y="3024000"/>
                </a:lnTo>
                <a:close/>
              </a:path>
            </a:pathLst>
          </a:custGeom>
          <a:gradFill flip="none" rotWithShape="1">
            <a:gsLst>
              <a:gs pos="33000">
                <a:schemeClr val="accent2"/>
              </a:gs>
              <a:gs pos="100000">
                <a:schemeClr val="accent4"/>
              </a:gs>
              <a:gs pos="0">
                <a:schemeClr val="accent1"/>
              </a:gs>
              <a:gs pos="72000">
                <a:schemeClr val="accent3">
                  <a:lumMod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1C41D21-FEFB-6939-8EAF-0A6EEF436C41}"/>
              </a:ext>
            </a:extLst>
          </p:cNvPr>
          <p:cNvSpPr/>
          <p:nvPr/>
        </p:nvSpPr>
        <p:spPr>
          <a:xfrm>
            <a:off x="587388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Sources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F02F33E-5E42-C333-A9FB-28250C064974}"/>
              </a:ext>
            </a:extLst>
          </p:cNvPr>
          <p:cNvSpPr/>
          <p:nvPr/>
        </p:nvSpPr>
        <p:spPr>
          <a:xfrm>
            <a:off x="2819636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(Pre-) Processing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A9753FE2-83D5-E34A-B3FC-B5088ED0283D}"/>
              </a:ext>
            </a:extLst>
          </p:cNvPr>
          <p:cNvSpPr/>
          <p:nvPr/>
        </p:nvSpPr>
        <p:spPr>
          <a:xfrm>
            <a:off x="5052004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Storage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E603494A-B97D-E0E3-4329-AB128F78F9CE}"/>
              </a:ext>
            </a:extLst>
          </p:cNvPr>
          <p:cNvSpPr/>
          <p:nvPr/>
        </p:nvSpPr>
        <p:spPr>
          <a:xfrm>
            <a:off x="7284364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Federated Query Engine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FA4A8AA-E4B2-0536-2054-468BF2DD0BEC}"/>
              </a:ext>
            </a:extLst>
          </p:cNvPr>
          <p:cNvSpPr/>
          <p:nvPr/>
        </p:nvSpPr>
        <p:spPr>
          <a:xfrm>
            <a:off x="9516612" y="2385168"/>
            <a:ext cx="2088000" cy="2340000"/>
          </a:xfrm>
          <a:prstGeom prst="roundRect">
            <a:avLst>
              <a:gd name="adj" fmla="val 11154"/>
            </a:avLst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Consumption</a:t>
            </a:r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F330ADDE-9EE0-EEAA-8206-D17A63318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815" y="3069384"/>
            <a:ext cx="553846" cy="288000"/>
          </a:xfrm>
          <a:prstGeom prst="rect">
            <a:avLst/>
          </a:prstGeom>
        </p:spPr>
      </p:pic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A5F2941E-1BA0-22E2-83CA-952E09801387}"/>
              </a:ext>
            </a:extLst>
          </p:cNvPr>
          <p:cNvGrpSpPr/>
          <p:nvPr/>
        </p:nvGrpSpPr>
        <p:grpSpPr>
          <a:xfrm>
            <a:off x="623392" y="3451139"/>
            <a:ext cx="594000" cy="626554"/>
            <a:chOff x="708778" y="3090762"/>
            <a:chExt cx="594000" cy="626554"/>
          </a:xfrm>
        </p:grpSpPr>
        <p:sp>
          <p:nvSpPr>
            <p:cNvPr id="106" name="TextBox 25">
              <a:extLst>
                <a:ext uri="{FF2B5EF4-FFF2-40B4-BE49-F238E27FC236}">
                  <a16:creationId xmlns:a16="http://schemas.microsoft.com/office/drawing/2014/main" id="{1234BDE3-808F-61AD-DE6D-A93DA90AA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778" y="3378762"/>
              <a:ext cx="5940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Machine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2" name="Grafik 251" descr="Roboterhand Silhouette">
              <a:extLst>
                <a:ext uri="{FF2B5EF4-FFF2-40B4-BE49-F238E27FC236}">
                  <a16:creationId xmlns:a16="http://schemas.microsoft.com/office/drawing/2014/main" id="{F0C793DF-0102-132C-0208-D328E2206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1424" y="3090762"/>
              <a:ext cx="288000" cy="288000"/>
            </a:xfrm>
            <a:prstGeom prst="rect">
              <a:avLst/>
            </a:prstGeom>
          </p:spPr>
        </p:pic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F79152D2-D8FC-F680-A0F7-AD62BA1D5C06}"/>
              </a:ext>
            </a:extLst>
          </p:cNvPr>
          <p:cNvGrpSpPr/>
          <p:nvPr/>
        </p:nvGrpSpPr>
        <p:grpSpPr>
          <a:xfrm>
            <a:off x="1163512" y="2996952"/>
            <a:ext cx="540000" cy="503444"/>
            <a:chOff x="704559" y="2714825"/>
            <a:chExt cx="540000" cy="503444"/>
          </a:xfrm>
        </p:grpSpPr>
        <p:sp>
          <p:nvSpPr>
            <p:cNvPr id="109" name="TextBox 25">
              <a:extLst>
                <a:ext uri="{FF2B5EF4-FFF2-40B4-BE49-F238E27FC236}">
                  <a16:creationId xmlns:a16="http://schemas.microsoft.com/office/drawing/2014/main" id="{57438015-8F03-74E5-1363-71C0C2B67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559" y="3002825"/>
              <a:ext cx="5400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Tester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0" name="Graphic 12">
              <a:extLst>
                <a:ext uri="{FF2B5EF4-FFF2-40B4-BE49-F238E27FC236}">
                  <a16:creationId xmlns:a16="http://schemas.microsoft.com/office/drawing/2014/main" id="{2CD4C2EE-FDA9-A29B-30E7-1950492A8D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830559" y="2714825"/>
              <a:ext cx="288000" cy="288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0" name="Rechteck 139">
            <a:extLst>
              <a:ext uri="{FF2B5EF4-FFF2-40B4-BE49-F238E27FC236}">
                <a16:creationId xmlns:a16="http://schemas.microsoft.com/office/drawing/2014/main" id="{E98CD44C-C27C-32B9-7ACC-8F687618F42B}"/>
              </a:ext>
            </a:extLst>
          </p:cNvPr>
          <p:cNvSpPr/>
          <p:nvPr/>
        </p:nvSpPr>
        <p:spPr bwMode="gray">
          <a:xfrm>
            <a:off x="3776902" y="3592971"/>
            <a:ext cx="36000" cy="36422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69E431AE-BA38-8C82-5A8B-F59F042DD86F}"/>
              </a:ext>
            </a:extLst>
          </p:cNvPr>
          <p:cNvSpPr/>
          <p:nvPr/>
        </p:nvSpPr>
        <p:spPr bwMode="gray">
          <a:xfrm>
            <a:off x="3776902" y="3897226"/>
            <a:ext cx="36000" cy="38982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0AEB2738-74C4-01EE-C826-6B72503E5FC2}"/>
              </a:ext>
            </a:extLst>
          </p:cNvPr>
          <p:cNvCxnSpPr/>
          <p:nvPr/>
        </p:nvCxnSpPr>
        <p:spPr>
          <a:xfrm flipH="1">
            <a:off x="3857697" y="3357384"/>
            <a:ext cx="81" cy="144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B0221728-4FE8-87D6-425B-EEEC6C9610ED}"/>
              </a:ext>
            </a:extLst>
          </p:cNvPr>
          <p:cNvGrpSpPr/>
          <p:nvPr/>
        </p:nvGrpSpPr>
        <p:grpSpPr>
          <a:xfrm>
            <a:off x="1537988" y="3632900"/>
            <a:ext cx="2304000" cy="263031"/>
            <a:chOff x="1501984" y="3212976"/>
            <a:chExt cx="2304000" cy="263031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6C916946-762E-89A1-7A80-9543078E98E2}"/>
                </a:ext>
              </a:extLst>
            </p:cNvPr>
            <p:cNvCxnSpPr/>
            <p:nvPr/>
          </p:nvCxnSpPr>
          <p:spPr>
            <a:xfrm flipV="1">
              <a:off x="1501984" y="3212976"/>
              <a:ext cx="2304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D8901AA0-424B-E8D1-5621-31B054A0BC45}"/>
                </a:ext>
              </a:extLst>
            </p:cNvPr>
            <p:cNvCxnSpPr/>
            <p:nvPr/>
          </p:nvCxnSpPr>
          <p:spPr>
            <a:xfrm flipV="1">
              <a:off x="1501984" y="3476007"/>
              <a:ext cx="2304000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Gleichschenkliges Dreieck 138">
            <a:extLst>
              <a:ext uri="{FF2B5EF4-FFF2-40B4-BE49-F238E27FC236}">
                <a16:creationId xmlns:a16="http://schemas.microsoft.com/office/drawing/2014/main" id="{A5CFBD45-973A-4CCB-7697-DE71F0A07C61}"/>
              </a:ext>
            </a:extLst>
          </p:cNvPr>
          <p:cNvSpPr/>
          <p:nvPr/>
        </p:nvSpPr>
        <p:spPr bwMode="gray">
          <a:xfrm>
            <a:off x="3776902" y="3548415"/>
            <a:ext cx="108000" cy="44556"/>
          </a:xfrm>
          <a:prstGeom prst="triangle">
            <a:avLst/>
          </a:prstGeom>
          <a:solidFill>
            <a:srgbClr val="953A0D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1" name="Gleichschenkliges Dreieck 140">
            <a:extLst>
              <a:ext uri="{FF2B5EF4-FFF2-40B4-BE49-F238E27FC236}">
                <a16:creationId xmlns:a16="http://schemas.microsoft.com/office/drawing/2014/main" id="{E2452CC5-D1F1-450F-417C-F6345157E7D5}"/>
              </a:ext>
            </a:extLst>
          </p:cNvPr>
          <p:cNvSpPr/>
          <p:nvPr/>
        </p:nvSpPr>
        <p:spPr bwMode="gray">
          <a:xfrm flipV="1">
            <a:off x="3776902" y="3935859"/>
            <a:ext cx="108000" cy="44556"/>
          </a:xfrm>
          <a:prstGeom prst="triangle">
            <a:avLst/>
          </a:prstGeom>
          <a:solidFill>
            <a:srgbClr val="953A0D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648396BB-6605-D67F-4B92-AD09C45C111B}"/>
              </a:ext>
            </a:extLst>
          </p:cNvPr>
          <p:cNvGrpSpPr/>
          <p:nvPr/>
        </p:nvGrpSpPr>
        <p:grpSpPr>
          <a:xfrm>
            <a:off x="3899756" y="3692407"/>
            <a:ext cx="1260000" cy="144016"/>
            <a:chOff x="4010025" y="3356992"/>
            <a:chExt cx="1332373" cy="144016"/>
          </a:xfrm>
        </p:grpSpPr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081BA5B0-87CE-1411-02E4-3CFF164D360C}"/>
                </a:ext>
              </a:extLst>
            </p:cNvPr>
            <p:cNvCxnSpPr/>
            <p:nvPr/>
          </p:nvCxnSpPr>
          <p:spPr>
            <a:xfrm>
              <a:off x="4010025" y="3501008"/>
              <a:ext cx="1332373" cy="0"/>
            </a:xfrm>
            <a:prstGeom prst="line">
              <a:avLst/>
            </a:prstGeom>
            <a:ln w="95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5B10F145-34A1-F672-9620-5980ABB8D252}"/>
                </a:ext>
              </a:extLst>
            </p:cNvPr>
            <p:cNvCxnSpPr/>
            <p:nvPr/>
          </p:nvCxnSpPr>
          <p:spPr>
            <a:xfrm>
              <a:off x="4010025" y="3356992"/>
              <a:ext cx="1332373" cy="0"/>
            </a:xfrm>
            <a:prstGeom prst="line">
              <a:avLst/>
            </a:prstGeom>
            <a:ln w="95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hteck 142">
            <a:extLst>
              <a:ext uri="{FF2B5EF4-FFF2-40B4-BE49-F238E27FC236}">
                <a16:creationId xmlns:a16="http://schemas.microsoft.com/office/drawing/2014/main" id="{C47E60E1-19E3-B9A3-9353-FE7F0685904E}"/>
              </a:ext>
            </a:extLst>
          </p:cNvPr>
          <p:cNvSpPr/>
          <p:nvPr/>
        </p:nvSpPr>
        <p:spPr bwMode="gray">
          <a:xfrm>
            <a:off x="3830943" y="3548415"/>
            <a:ext cx="107631" cy="432000"/>
          </a:xfrm>
          <a:prstGeom prst="rect">
            <a:avLst/>
          </a:prstGeom>
          <a:solidFill>
            <a:srgbClr val="E35A15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5877" tIns="44846" rIns="35877" bIns="35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21504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8" b="1" i="0" u="none" strike="noStrike" kern="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7" name="Rechteck 166">
            <a:extLst>
              <a:ext uri="{FF2B5EF4-FFF2-40B4-BE49-F238E27FC236}">
                <a16:creationId xmlns:a16="http://schemas.microsoft.com/office/drawing/2014/main" id="{F4D06C8E-166A-C2D0-2ABB-909CDD53F382}"/>
              </a:ext>
            </a:extLst>
          </p:cNvPr>
          <p:cNvSpPr/>
          <p:nvPr/>
        </p:nvSpPr>
        <p:spPr>
          <a:xfrm>
            <a:off x="5011594" y="3859422"/>
            <a:ext cx="1052656" cy="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100100111001101</a:t>
            </a:r>
          </a:p>
        </p:txBody>
      </p:sp>
      <p:sp>
        <p:nvSpPr>
          <p:cNvPr id="168" name="Rechteck 167">
            <a:extLst>
              <a:ext uri="{FF2B5EF4-FFF2-40B4-BE49-F238E27FC236}">
                <a16:creationId xmlns:a16="http://schemas.microsoft.com/office/drawing/2014/main" id="{E3CD5897-A766-05CD-C9C0-9E10A26B72AB}"/>
              </a:ext>
            </a:extLst>
          </p:cNvPr>
          <p:cNvSpPr/>
          <p:nvPr/>
        </p:nvSpPr>
        <p:spPr>
          <a:xfrm>
            <a:off x="5011594" y="3643390"/>
            <a:ext cx="1052656" cy="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01011010101011101010</a:t>
            </a:r>
          </a:p>
        </p:txBody>
      </p:sp>
      <p:sp>
        <p:nvSpPr>
          <p:cNvPr id="266" name="Rechteck: abgerundete Ecken 265">
            <a:extLst>
              <a:ext uri="{FF2B5EF4-FFF2-40B4-BE49-F238E27FC236}">
                <a16:creationId xmlns:a16="http://schemas.microsoft.com/office/drawing/2014/main" id="{4963817F-8B4D-A4E0-C58C-7B7E90B73970}"/>
              </a:ext>
            </a:extLst>
          </p:cNvPr>
          <p:cNvSpPr/>
          <p:nvPr/>
        </p:nvSpPr>
        <p:spPr>
          <a:xfrm>
            <a:off x="5160004" y="3116415"/>
            <a:ext cx="1872000" cy="1152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Rechteck 272">
            <a:extLst>
              <a:ext uri="{FF2B5EF4-FFF2-40B4-BE49-F238E27FC236}">
                <a16:creationId xmlns:a16="http://schemas.microsoft.com/office/drawing/2014/main" id="{A746793F-386A-4733-4358-F7D425804AE3}"/>
              </a:ext>
            </a:extLst>
          </p:cNvPr>
          <p:cNvSpPr/>
          <p:nvPr/>
        </p:nvSpPr>
        <p:spPr>
          <a:xfrm>
            <a:off x="6996092" y="3746415"/>
            <a:ext cx="612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1" name="Rechteck 350">
            <a:extLst>
              <a:ext uri="{FF2B5EF4-FFF2-40B4-BE49-F238E27FC236}">
                <a16:creationId xmlns:a16="http://schemas.microsoft.com/office/drawing/2014/main" id="{41E8F0AF-5ED8-0862-AEED-F3FC6AB7B79E}"/>
              </a:ext>
            </a:extLst>
          </p:cNvPr>
          <p:cNvSpPr/>
          <p:nvPr/>
        </p:nvSpPr>
        <p:spPr>
          <a:xfrm>
            <a:off x="9228400" y="3209149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2" name="Rechteck 351">
            <a:extLst>
              <a:ext uri="{FF2B5EF4-FFF2-40B4-BE49-F238E27FC236}">
                <a16:creationId xmlns:a16="http://schemas.microsoft.com/office/drawing/2014/main" id="{6F52EA6F-CEC7-5405-AC5F-F20C36C49940}"/>
              </a:ext>
            </a:extLst>
          </p:cNvPr>
          <p:cNvSpPr/>
          <p:nvPr/>
        </p:nvSpPr>
        <p:spPr>
          <a:xfrm>
            <a:off x="9228352" y="4365615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2" name="Gruppieren 261">
            <a:extLst>
              <a:ext uri="{FF2B5EF4-FFF2-40B4-BE49-F238E27FC236}">
                <a16:creationId xmlns:a16="http://schemas.microsoft.com/office/drawing/2014/main" id="{D4657972-625C-BD37-4BDC-D734A4083935}"/>
              </a:ext>
            </a:extLst>
          </p:cNvPr>
          <p:cNvGrpSpPr/>
          <p:nvPr/>
        </p:nvGrpSpPr>
        <p:grpSpPr>
          <a:xfrm>
            <a:off x="5603563" y="3124709"/>
            <a:ext cx="1056881" cy="288000"/>
            <a:chOff x="6834098" y="5638764"/>
            <a:chExt cx="1056881" cy="288000"/>
          </a:xfrm>
        </p:grpSpPr>
        <p:pic>
          <p:nvPicPr>
            <p:cNvPr id="260" name="Picture 2">
              <a:extLst>
                <a:ext uri="{FF2B5EF4-FFF2-40B4-BE49-F238E27FC236}">
                  <a16:creationId xmlns:a16="http://schemas.microsoft.com/office/drawing/2014/main" id="{E789C2CA-6654-BFF6-9320-FA14DBD98C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759"/>
            <a:stretch/>
          </p:blipFill>
          <p:spPr bwMode="auto">
            <a:xfrm>
              <a:off x="6834098" y="5638764"/>
              <a:ext cx="77407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" name="Picture 2">
              <a:extLst>
                <a:ext uri="{FF2B5EF4-FFF2-40B4-BE49-F238E27FC236}">
                  <a16:creationId xmlns:a16="http://schemas.microsoft.com/office/drawing/2014/main" id="{77F81ADC-9E95-7B25-F09C-27C3A61893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241"/>
            <a:stretch/>
          </p:blipFill>
          <p:spPr bwMode="auto">
            <a:xfrm>
              <a:off x="7608168" y="5638764"/>
              <a:ext cx="282811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5" name="Gruppieren 274">
            <a:extLst>
              <a:ext uri="{FF2B5EF4-FFF2-40B4-BE49-F238E27FC236}">
                <a16:creationId xmlns:a16="http://schemas.microsoft.com/office/drawing/2014/main" id="{7342E38E-36D3-942B-22D4-8011C1B6B1D7}"/>
              </a:ext>
            </a:extLst>
          </p:cNvPr>
          <p:cNvGrpSpPr/>
          <p:nvPr/>
        </p:nvGrpSpPr>
        <p:grpSpPr>
          <a:xfrm>
            <a:off x="5224478" y="3511591"/>
            <a:ext cx="722945" cy="504000"/>
            <a:chOff x="5123632" y="3151175"/>
            <a:chExt cx="722945" cy="504000"/>
          </a:xfrm>
        </p:grpSpPr>
        <p:sp>
          <p:nvSpPr>
            <p:cNvPr id="160" name="Freeform 22">
              <a:extLst>
                <a:ext uri="{FF2B5EF4-FFF2-40B4-BE49-F238E27FC236}">
                  <a16:creationId xmlns:a16="http://schemas.microsoft.com/office/drawing/2014/main" id="{99C3A428-D6B9-0FB6-5619-EEF50B1D0F19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5241079" y="3537609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Freeform 22">
              <a:extLst>
                <a:ext uri="{FF2B5EF4-FFF2-40B4-BE49-F238E27FC236}">
                  <a16:creationId xmlns:a16="http://schemas.microsoft.com/office/drawing/2014/main" id="{ED6BA758-02FC-22E1-E596-B45B6797A08B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5241079" y="3151175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Freeform 22">
              <a:extLst>
                <a:ext uri="{FF2B5EF4-FFF2-40B4-BE49-F238E27FC236}">
                  <a16:creationId xmlns:a16="http://schemas.microsoft.com/office/drawing/2014/main" id="{35394B65-0A56-6B9F-C97F-35745C9D7C9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632881" y="3537609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Freeform 22">
              <a:extLst>
                <a:ext uri="{FF2B5EF4-FFF2-40B4-BE49-F238E27FC236}">
                  <a16:creationId xmlns:a16="http://schemas.microsoft.com/office/drawing/2014/main" id="{D7DAA051-05FA-C8DE-AEF4-A80887ACA233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5632881" y="3151175"/>
              <a:ext cx="112198" cy="117566"/>
            </a:xfrm>
            <a:custGeom>
              <a:avLst/>
              <a:gdLst>
                <a:gd name="T0" fmla="*/ 39 w 412"/>
                <a:gd name="T1" fmla="*/ 411 h 411"/>
                <a:gd name="T2" fmla="*/ 0 w 412"/>
                <a:gd name="T3" fmla="*/ 411 h 411"/>
                <a:gd name="T4" fmla="*/ 0 w 412"/>
                <a:gd name="T5" fmla="*/ 0 h 411"/>
                <a:gd name="T6" fmla="*/ 412 w 412"/>
                <a:gd name="T7" fmla="*/ 0 h 411"/>
                <a:gd name="T8" fmla="*/ 412 w 412"/>
                <a:gd name="T9" fmla="*/ 39 h 411"/>
                <a:gd name="T10" fmla="*/ 39 w 412"/>
                <a:gd name="T11" fmla="*/ 39 h 411"/>
                <a:gd name="T12" fmla="*/ 39 w 412"/>
                <a:gd name="T13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1">
                  <a:moveTo>
                    <a:pt x="39" y="411"/>
                  </a:moveTo>
                  <a:lnTo>
                    <a:pt x="0" y="411"/>
                  </a:lnTo>
                  <a:lnTo>
                    <a:pt x="0" y="0"/>
                  </a:lnTo>
                  <a:lnTo>
                    <a:pt x="412" y="0"/>
                  </a:lnTo>
                  <a:lnTo>
                    <a:pt x="412" y="39"/>
                  </a:lnTo>
                  <a:lnTo>
                    <a:pt x="39" y="39"/>
                  </a:lnTo>
                  <a:lnTo>
                    <a:pt x="39" y="4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Rechteck 164">
              <a:extLst>
                <a:ext uri="{FF2B5EF4-FFF2-40B4-BE49-F238E27FC236}">
                  <a16:creationId xmlns:a16="http://schemas.microsoft.com/office/drawing/2014/main" id="{A707F400-8E17-A82C-A691-F0144BAF7A57}"/>
                </a:ext>
              </a:extLst>
            </p:cNvPr>
            <p:cNvSpPr/>
            <p:nvPr/>
          </p:nvSpPr>
          <p:spPr>
            <a:xfrm>
              <a:off x="5135511" y="3426990"/>
              <a:ext cx="711066" cy="7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0101010101010101010111</a:t>
              </a:r>
            </a:p>
          </p:txBody>
        </p:sp>
        <p:sp>
          <p:nvSpPr>
            <p:cNvPr id="166" name="Rechteck 165">
              <a:extLst>
                <a:ext uri="{FF2B5EF4-FFF2-40B4-BE49-F238E27FC236}">
                  <a16:creationId xmlns:a16="http://schemas.microsoft.com/office/drawing/2014/main" id="{AC35A9FC-CD7E-CEC2-140F-5C39EC221582}"/>
                </a:ext>
              </a:extLst>
            </p:cNvPr>
            <p:cNvSpPr/>
            <p:nvPr/>
          </p:nvSpPr>
          <p:spPr>
            <a:xfrm>
              <a:off x="5123632" y="3354982"/>
              <a:ext cx="656872" cy="7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11010101011101001</a:t>
              </a:r>
            </a:p>
          </p:txBody>
        </p:sp>
      </p:grpSp>
      <p:grpSp>
        <p:nvGrpSpPr>
          <p:cNvPr id="244" name="Gruppieren 243">
            <a:extLst>
              <a:ext uri="{FF2B5EF4-FFF2-40B4-BE49-F238E27FC236}">
                <a16:creationId xmlns:a16="http://schemas.microsoft.com/office/drawing/2014/main" id="{4A85068E-A55D-77E3-33CB-25F7CF4FFF97}"/>
              </a:ext>
            </a:extLst>
          </p:cNvPr>
          <p:cNvGrpSpPr/>
          <p:nvPr/>
        </p:nvGrpSpPr>
        <p:grpSpPr>
          <a:xfrm>
            <a:off x="6420036" y="3507162"/>
            <a:ext cx="513126" cy="504056"/>
            <a:chOff x="1476502" y="5167963"/>
            <a:chExt cx="513126" cy="504056"/>
          </a:xfrm>
        </p:grpSpPr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85890439-208D-A81B-507B-ECFA858A3DBD}"/>
                </a:ext>
              </a:extLst>
            </p:cNvPr>
            <p:cNvGrpSpPr/>
            <p:nvPr/>
          </p:nvGrpSpPr>
          <p:grpSpPr>
            <a:xfrm>
              <a:off x="1476502" y="5167963"/>
              <a:ext cx="504000" cy="504000"/>
              <a:chOff x="3878994" y="1419622"/>
              <a:chExt cx="936000" cy="936000"/>
            </a:xfrm>
          </p:grpSpPr>
          <p:sp>
            <p:nvSpPr>
              <p:cNvPr id="222" name="Rechteck 221">
                <a:extLst>
                  <a:ext uri="{FF2B5EF4-FFF2-40B4-BE49-F238E27FC236}">
                    <a16:creationId xmlns:a16="http://schemas.microsoft.com/office/drawing/2014/main" id="{46C1E10A-4219-2842-B7EA-9A7EBCE52C2A}"/>
                  </a:ext>
                </a:extLst>
              </p:cNvPr>
              <p:cNvSpPr/>
              <p:nvPr/>
            </p:nvSpPr>
            <p:spPr>
              <a:xfrm>
                <a:off x="3878994" y="1419622"/>
                <a:ext cx="936000" cy="9360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cxnSp>
            <p:nvCxnSpPr>
              <p:cNvPr id="223" name="Gerader Verbinder 222">
                <a:extLst>
                  <a:ext uri="{FF2B5EF4-FFF2-40B4-BE49-F238E27FC236}">
                    <a16:creationId xmlns:a16="http://schemas.microsoft.com/office/drawing/2014/main" id="{C7D4B6F7-F83D-AD2B-1631-7A7A04081F5E}"/>
                  </a:ext>
                </a:extLst>
              </p:cNvPr>
              <p:cNvCxnSpPr>
                <a:cxnSpLocks/>
                <a:stCxn id="222" idx="0"/>
                <a:endCxn id="222" idx="2"/>
              </p:cNvCxnSpPr>
              <p:nvPr/>
            </p:nvCxnSpPr>
            <p:spPr>
              <a:xfrm>
                <a:off x="4346994" y="1419622"/>
                <a:ext cx="0" cy="93600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</a:ln>
              <a:effectLst/>
            </p:spPr>
          </p:cxnSp>
        </p:grpSp>
        <p:sp>
          <p:nvSpPr>
            <p:cNvPr id="208" name="Rechteck 207">
              <a:extLst>
                <a:ext uri="{FF2B5EF4-FFF2-40B4-BE49-F238E27FC236}">
                  <a16:creationId xmlns:a16="http://schemas.microsoft.com/office/drawing/2014/main" id="{EAEE89EB-B522-DBCD-5DB1-F1DC59976E0F}"/>
                </a:ext>
              </a:extLst>
            </p:cNvPr>
            <p:cNvSpPr/>
            <p:nvPr/>
          </p:nvSpPr>
          <p:spPr>
            <a:xfrm>
              <a:off x="1476502" y="516796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100010</a:t>
              </a:r>
            </a:p>
          </p:txBody>
        </p:sp>
        <p:sp>
          <p:nvSpPr>
            <p:cNvPr id="209" name="Rechteck 208">
              <a:extLst>
                <a:ext uri="{FF2B5EF4-FFF2-40B4-BE49-F238E27FC236}">
                  <a16:creationId xmlns:a16="http://schemas.microsoft.com/office/drawing/2014/main" id="{A48A0065-D2EE-7ED6-ED0F-3C182459BB90}"/>
                </a:ext>
              </a:extLst>
            </p:cNvPr>
            <p:cNvSpPr/>
            <p:nvPr/>
          </p:nvSpPr>
          <p:spPr>
            <a:xfrm>
              <a:off x="1476502" y="523997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100101</a:t>
              </a:r>
            </a:p>
          </p:txBody>
        </p:sp>
        <p:sp>
          <p:nvSpPr>
            <p:cNvPr id="210" name="Rechteck 209">
              <a:extLst>
                <a:ext uri="{FF2B5EF4-FFF2-40B4-BE49-F238E27FC236}">
                  <a16:creationId xmlns:a16="http://schemas.microsoft.com/office/drawing/2014/main" id="{203BE373-0551-B4DD-BB3F-F86F0F292EF7}"/>
                </a:ext>
              </a:extLst>
            </p:cNvPr>
            <p:cNvSpPr/>
            <p:nvPr/>
          </p:nvSpPr>
          <p:spPr>
            <a:xfrm>
              <a:off x="1476502" y="5311987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1" name="Rechteck 210">
              <a:extLst>
                <a:ext uri="{FF2B5EF4-FFF2-40B4-BE49-F238E27FC236}">
                  <a16:creationId xmlns:a16="http://schemas.microsoft.com/office/drawing/2014/main" id="{9B3DAB1E-4C54-5328-06B7-866CAE03C205}"/>
                </a:ext>
              </a:extLst>
            </p:cNvPr>
            <p:cNvSpPr/>
            <p:nvPr/>
          </p:nvSpPr>
          <p:spPr>
            <a:xfrm>
              <a:off x="1476502" y="5383995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101010</a:t>
              </a:r>
            </a:p>
          </p:txBody>
        </p: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4B5A3249-C765-F18B-0AE5-99A7F83E7E76}"/>
                </a:ext>
              </a:extLst>
            </p:cNvPr>
            <p:cNvSpPr/>
            <p:nvPr/>
          </p:nvSpPr>
          <p:spPr>
            <a:xfrm>
              <a:off x="1476502" y="545600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3" name="Rechteck 212">
              <a:extLst>
                <a:ext uri="{FF2B5EF4-FFF2-40B4-BE49-F238E27FC236}">
                  <a16:creationId xmlns:a16="http://schemas.microsoft.com/office/drawing/2014/main" id="{8F6CC751-D51B-1FF1-7CC8-A0DB93AED8DC}"/>
                </a:ext>
              </a:extLst>
            </p:cNvPr>
            <p:cNvSpPr/>
            <p:nvPr/>
          </p:nvSpPr>
          <p:spPr>
            <a:xfrm>
              <a:off x="1476502" y="552801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101001</a:t>
              </a:r>
            </a:p>
          </p:txBody>
        </p:sp>
        <p:sp>
          <p:nvSpPr>
            <p:cNvPr id="214" name="Rechteck 213">
              <a:extLst>
                <a:ext uri="{FF2B5EF4-FFF2-40B4-BE49-F238E27FC236}">
                  <a16:creationId xmlns:a16="http://schemas.microsoft.com/office/drawing/2014/main" id="{EBC02FCD-DEA2-53E5-C5C3-D3489CAAE465}"/>
                </a:ext>
              </a:extLst>
            </p:cNvPr>
            <p:cNvSpPr/>
            <p:nvPr/>
          </p:nvSpPr>
          <p:spPr>
            <a:xfrm>
              <a:off x="1476502" y="560001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100110</a:t>
              </a:r>
            </a:p>
          </p:txBody>
        </p:sp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799063A0-FF12-3CC4-4E76-60DD4BDC8698}"/>
                </a:ext>
              </a:extLst>
            </p:cNvPr>
            <p:cNvSpPr/>
            <p:nvPr/>
          </p:nvSpPr>
          <p:spPr>
            <a:xfrm>
              <a:off x="1737632" y="531197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100010</a:t>
              </a:r>
            </a:p>
          </p:txBody>
        </p:sp>
        <p:sp>
          <p:nvSpPr>
            <p:cNvPr id="216" name="Rechteck 215">
              <a:extLst>
                <a:ext uri="{FF2B5EF4-FFF2-40B4-BE49-F238E27FC236}">
                  <a16:creationId xmlns:a16="http://schemas.microsoft.com/office/drawing/2014/main" id="{F729F913-8185-86C4-391B-D8B93806BAF0}"/>
                </a:ext>
              </a:extLst>
            </p:cNvPr>
            <p:cNvSpPr/>
            <p:nvPr/>
          </p:nvSpPr>
          <p:spPr>
            <a:xfrm>
              <a:off x="1737632" y="5383987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100101</a:t>
              </a:r>
            </a:p>
          </p:txBody>
        </p:sp>
        <p:sp>
          <p:nvSpPr>
            <p:cNvPr id="217" name="Rechteck 216">
              <a:extLst>
                <a:ext uri="{FF2B5EF4-FFF2-40B4-BE49-F238E27FC236}">
                  <a16:creationId xmlns:a16="http://schemas.microsoft.com/office/drawing/2014/main" id="{EE07686C-1821-DC0C-3635-7646F7B2E0A8}"/>
                </a:ext>
              </a:extLst>
            </p:cNvPr>
            <p:cNvSpPr/>
            <p:nvPr/>
          </p:nvSpPr>
          <p:spPr>
            <a:xfrm>
              <a:off x="1737632" y="545600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D7CC6D19-BB7B-9948-30C0-53D21D5D5F80}"/>
                </a:ext>
              </a:extLst>
            </p:cNvPr>
            <p:cNvSpPr/>
            <p:nvPr/>
          </p:nvSpPr>
          <p:spPr>
            <a:xfrm>
              <a:off x="1737632" y="552801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101010</a:t>
              </a:r>
            </a:p>
          </p:txBody>
        </p:sp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74FDC42C-FE3C-98C5-3E9D-144AE804ACE0}"/>
                </a:ext>
              </a:extLst>
            </p:cNvPr>
            <p:cNvSpPr/>
            <p:nvPr/>
          </p:nvSpPr>
          <p:spPr>
            <a:xfrm>
              <a:off x="1737632" y="5600019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010101</a:t>
              </a:r>
            </a:p>
          </p:txBody>
        </p:sp>
        <p:sp>
          <p:nvSpPr>
            <p:cNvPr id="220" name="Rechteck 219">
              <a:extLst>
                <a:ext uri="{FF2B5EF4-FFF2-40B4-BE49-F238E27FC236}">
                  <a16:creationId xmlns:a16="http://schemas.microsoft.com/office/drawing/2014/main" id="{1568ABC0-1B87-AF2C-3830-5E98D6A3C972}"/>
                </a:ext>
              </a:extLst>
            </p:cNvPr>
            <p:cNvSpPr/>
            <p:nvPr/>
          </p:nvSpPr>
          <p:spPr>
            <a:xfrm>
              <a:off x="1737632" y="5167963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101001</a:t>
              </a:r>
            </a:p>
          </p:txBody>
        </p:sp>
        <p:sp>
          <p:nvSpPr>
            <p:cNvPr id="221" name="Rechteck 220">
              <a:extLst>
                <a:ext uri="{FF2B5EF4-FFF2-40B4-BE49-F238E27FC236}">
                  <a16:creationId xmlns:a16="http://schemas.microsoft.com/office/drawing/2014/main" id="{2AEEE242-7023-B5E3-F9BD-D725DB432548}"/>
                </a:ext>
              </a:extLst>
            </p:cNvPr>
            <p:cNvSpPr/>
            <p:nvPr/>
          </p:nvSpPr>
          <p:spPr>
            <a:xfrm>
              <a:off x="1737632" y="5239971"/>
              <a:ext cx="251996" cy="7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100110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A28EC745-93CD-8588-A463-953FA6253FC9}"/>
              </a:ext>
            </a:extLst>
          </p:cNvPr>
          <p:cNvGrpSpPr/>
          <p:nvPr/>
        </p:nvGrpSpPr>
        <p:grpSpPr>
          <a:xfrm>
            <a:off x="5987988" y="3615190"/>
            <a:ext cx="288032" cy="288000"/>
            <a:chOff x="5807968" y="3254774"/>
            <a:chExt cx="288032" cy="288000"/>
          </a:xfrm>
        </p:grpSpPr>
        <p:sp>
          <p:nvSpPr>
            <p:cNvPr id="245" name="Pfeil: Chevron 244">
              <a:extLst>
                <a:ext uri="{FF2B5EF4-FFF2-40B4-BE49-F238E27FC236}">
                  <a16:creationId xmlns:a16="http://schemas.microsoft.com/office/drawing/2014/main" id="{09F9A552-5D7F-EBCF-DDC2-3198E784AFC3}"/>
                </a:ext>
              </a:extLst>
            </p:cNvPr>
            <p:cNvSpPr/>
            <p:nvPr/>
          </p:nvSpPr>
          <p:spPr>
            <a:xfrm>
              <a:off x="5807968" y="3254774"/>
              <a:ext cx="144000" cy="288000"/>
            </a:xfrm>
            <a:prstGeom prst="chevron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6" name="Pfeil: Chevron 245">
              <a:extLst>
                <a:ext uri="{FF2B5EF4-FFF2-40B4-BE49-F238E27FC236}">
                  <a16:creationId xmlns:a16="http://schemas.microsoft.com/office/drawing/2014/main" id="{AE752702-CAA9-94D4-1AEC-C9C61D678297}"/>
                </a:ext>
              </a:extLst>
            </p:cNvPr>
            <p:cNvSpPr/>
            <p:nvPr/>
          </p:nvSpPr>
          <p:spPr>
            <a:xfrm>
              <a:off x="5952000" y="3254774"/>
              <a:ext cx="144000" cy="288000"/>
            </a:xfrm>
            <a:prstGeom prst="chevron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137B06E9-1ABE-78BE-5753-127BB7DA124E}"/>
              </a:ext>
            </a:extLst>
          </p:cNvPr>
          <p:cNvCxnSpPr/>
          <p:nvPr/>
        </p:nvCxnSpPr>
        <p:spPr>
          <a:xfrm flipH="1">
            <a:off x="6131964" y="3357384"/>
            <a:ext cx="81" cy="144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echteck 271">
            <a:extLst>
              <a:ext uri="{FF2B5EF4-FFF2-40B4-BE49-F238E27FC236}">
                <a16:creationId xmlns:a16="http://schemas.microsoft.com/office/drawing/2014/main" id="{D7D291EB-8731-9BAC-3F19-BA60503F6F30}"/>
              </a:ext>
            </a:extLst>
          </p:cNvPr>
          <p:cNvSpPr/>
          <p:nvPr/>
        </p:nvSpPr>
        <p:spPr>
          <a:xfrm>
            <a:off x="6924092" y="3692415"/>
            <a:ext cx="36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4" name="Rechteck 273">
            <a:extLst>
              <a:ext uri="{FF2B5EF4-FFF2-40B4-BE49-F238E27FC236}">
                <a16:creationId xmlns:a16="http://schemas.microsoft.com/office/drawing/2014/main" id="{CA6AD2B2-4558-EF5F-CCD7-B44CC24130B4}"/>
              </a:ext>
            </a:extLst>
          </p:cNvPr>
          <p:cNvSpPr/>
          <p:nvPr/>
        </p:nvSpPr>
        <p:spPr>
          <a:xfrm>
            <a:off x="6960092" y="3728415"/>
            <a:ext cx="3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0" name="Rechteck 319">
            <a:extLst>
              <a:ext uri="{FF2B5EF4-FFF2-40B4-BE49-F238E27FC236}">
                <a16:creationId xmlns:a16="http://schemas.microsoft.com/office/drawing/2014/main" id="{C4E3CA9D-69BA-7502-10A2-FCEBE6D041B3}"/>
              </a:ext>
            </a:extLst>
          </p:cNvPr>
          <p:cNvSpPr/>
          <p:nvPr/>
        </p:nvSpPr>
        <p:spPr>
          <a:xfrm>
            <a:off x="5556004" y="4412415"/>
            <a:ext cx="108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IoT Data Lake</a:t>
            </a:r>
          </a:p>
        </p:txBody>
      </p:sp>
      <p:sp>
        <p:nvSpPr>
          <p:cNvPr id="321" name="Rechteck: abgerundete Ecken 320">
            <a:extLst>
              <a:ext uri="{FF2B5EF4-FFF2-40B4-BE49-F238E27FC236}">
                <a16:creationId xmlns:a16="http://schemas.microsoft.com/office/drawing/2014/main" id="{C72D2437-4E0A-F537-38B8-43A2AC32016E}"/>
              </a:ext>
            </a:extLst>
          </p:cNvPr>
          <p:cNvSpPr/>
          <p:nvPr/>
        </p:nvSpPr>
        <p:spPr>
          <a:xfrm>
            <a:off x="9624392" y="3543186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Services</a:t>
            </a:r>
          </a:p>
        </p:txBody>
      </p:sp>
      <p:grpSp>
        <p:nvGrpSpPr>
          <p:cNvPr id="333" name="Gruppieren 332">
            <a:extLst>
              <a:ext uri="{FF2B5EF4-FFF2-40B4-BE49-F238E27FC236}">
                <a16:creationId xmlns:a16="http://schemas.microsoft.com/office/drawing/2014/main" id="{A9C15F41-D3BC-08A5-4400-EC4818359353}"/>
              </a:ext>
            </a:extLst>
          </p:cNvPr>
          <p:cNvGrpSpPr>
            <a:grpSpLocks noChangeAspect="1"/>
          </p:cNvGrpSpPr>
          <p:nvPr/>
        </p:nvGrpSpPr>
        <p:grpSpPr>
          <a:xfrm>
            <a:off x="9779884" y="3797127"/>
            <a:ext cx="485025" cy="226864"/>
            <a:chOff x="4898814" y="2439286"/>
            <a:chExt cx="3693520" cy="1727594"/>
          </a:xfrm>
        </p:grpSpPr>
        <p:pic>
          <p:nvPicPr>
            <p:cNvPr id="334" name="Grafik 333">
              <a:extLst>
                <a:ext uri="{FF2B5EF4-FFF2-40B4-BE49-F238E27FC236}">
                  <a16:creationId xmlns:a16="http://schemas.microsoft.com/office/drawing/2014/main" id="{0BF5B3D9-E5F8-7540-116C-090AEBA2AC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43941"/>
            <a:stretch/>
          </p:blipFill>
          <p:spPr>
            <a:xfrm>
              <a:off x="6455999" y="2439286"/>
              <a:ext cx="2136335" cy="1727594"/>
            </a:xfrm>
            <a:prstGeom prst="rect">
              <a:avLst/>
            </a:prstGeom>
          </p:spPr>
        </p:pic>
        <p:pic>
          <p:nvPicPr>
            <p:cNvPr id="335" name="Grafik 334">
              <a:extLst>
                <a:ext uri="{FF2B5EF4-FFF2-40B4-BE49-F238E27FC236}">
                  <a16:creationId xmlns:a16="http://schemas.microsoft.com/office/drawing/2014/main" id="{0921FBB1-6B20-8D4F-FBEB-BD763AB980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4642" r="41776"/>
                      </a14:imgEffect>
                    </a14:imgLayer>
                  </a14:imgProps>
                </a:ext>
              </a:extLst>
            </a:blip>
            <a:srcRect t="23677" r="53582" b="24746"/>
            <a:stretch/>
          </p:blipFill>
          <p:spPr>
            <a:xfrm>
              <a:off x="4898814" y="2654408"/>
              <a:ext cx="1770956" cy="1350590"/>
            </a:xfrm>
            <a:prstGeom prst="rect">
              <a:avLst/>
            </a:prstGeom>
          </p:spPr>
        </p:pic>
      </p:grpSp>
      <p:grpSp>
        <p:nvGrpSpPr>
          <p:cNvPr id="345" name="Gruppieren 344">
            <a:extLst>
              <a:ext uri="{FF2B5EF4-FFF2-40B4-BE49-F238E27FC236}">
                <a16:creationId xmlns:a16="http://schemas.microsoft.com/office/drawing/2014/main" id="{3E487323-F027-0A12-96E9-AB3E9E5919FA}"/>
              </a:ext>
            </a:extLst>
          </p:cNvPr>
          <p:cNvGrpSpPr/>
          <p:nvPr/>
        </p:nvGrpSpPr>
        <p:grpSpPr>
          <a:xfrm>
            <a:off x="10620623" y="3831218"/>
            <a:ext cx="508422" cy="158682"/>
            <a:chOff x="10511005" y="672214"/>
            <a:chExt cx="726115" cy="226627"/>
          </a:xfrm>
        </p:grpSpPr>
        <p:pic>
          <p:nvPicPr>
            <p:cNvPr id="343" name="Picture 16">
              <a:extLst>
                <a:ext uri="{FF2B5EF4-FFF2-40B4-BE49-F238E27FC236}">
                  <a16:creationId xmlns:a16="http://schemas.microsoft.com/office/drawing/2014/main" id="{444E4A71-7AC8-54B7-7318-C2E076739C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67"/>
            <a:stretch/>
          </p:blipFill>
          <p:spPr bwMode="auto">
            <a:xfrm>
              <a:off x="10776520" y="672214"/>
              <a:ext cx="460600" cy="226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4" name="Picture 16">
              <a:extLst>
                <a:ext uri="{FF2B5EF4-FFF2-40B4-BE49-F238E27FC236}">
                  <a16:creationId xmlns:a16="http://schemas.microsoft.com/office/drawing/2014/main" id="{900A53CC-29FF-5D1C-EE61-192A8EEA3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433"/>
            <a:stretch/>
          </p:blipFill>
          <p:spPr bwMode="auto">
            <a:xfrm>
              <a:off x="10511005" y="672214"/>
              <a:ext cx="265515" cy="226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0" name="Gruppieren 359">
            <a:extLst>
              <a:ext uri="{FF2B5EF4-FFF2-40B4-BE49-F238E27FC236}">
                <a16:creationId xmlns:a16="http://schemas.microsoft.com/office/drawing/2014/main" id="{0E8D65F0-3FD2-1527-ED01-564BFFE1EC26}"/>
              </a:ext>
            </a:extLst>
          </p:cNvPr>
          <p:cNvGrpSpPr/>
          <p:nvPr/>
        </p:nvGrpSpPr>
        <p:grpSpPr>
          <a:xfrm>
            <a:off x="5952004" y="4124415"/>
            <a:ext cx="288000" cy="288000"/>
            <a:chOff x="6411005" y="3885424"/>
            <a:chExt cx="288000" cy="288000"/>
          </a:xfrm>
        </p:grpSpPr>
        <p:sp>
          <p:nvSpPr>
            <p:cNvPr id="357" name="Ellipse 356">
              <a:extLst>
                <a:ext uri="{FF2B5EF4-FFF2-40B4-BE49-F238E27FC236}">
                  <a16:creationId xmlns:a16="http://schemas.microsoft.com/office/drawing/2014/main" id="{9A18FAA2-6679-3091-6BC3-0CFC2D37C174}"/>
                </a:ext>
              </a:extLst>
            </p:cNvPr>
            <p:cNvSpPr/>
            <p:nvPr/>
          </p:nvSpPr>
          <p:spPr>
            <a:xfrm>
              <a:off x="6411005" y="3885424"/>
              <a:ext cx="288000" cy="288000"/>
            </a:xfrm>
            <a:prstGeom prst="ellipse">
              <a:avLst/>
            </a:prstGeom>
            <a:solidFill>
              <a:srgbClr val="27496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55" name="Grafik 354">
              <a:extLst>
                <a:ext uri="{FF2B5EF4-FFF2-40B4-BE49-F238E27FC236}">
                  <a16:creationId xmlns:a16="http://schemas.microsoft.com/office/drawing/2014/main" id="{5965E88E-3727-F1F3-C69F-CE509EB31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58706" y="3914224"/>
              <a:ext cx="192599" cy="230400"/>
            </a:xfrm>
            <a:prstGeom prst="rect">
              <a:avLst/>
            </a:prstGeom>
            <a:noFill/>
          </p:spPr>
        </p:pic>
      </p:grpSp>
      <p:sp>
        <p:nvSpPr>
          <p:cNvPr id="387" name="Rechteck 386">
            <a:extLst>
              <a:ext uri="{FF2B5EF4-FFF2-40B4-BE49-F238E27FC236}">
                <a16:creationId xmlns:a16="http://schemas.microsoft.com/office/drawing/2014/main" id="{480E53C0-C57B-DDA6-EC11-729FB7A13C4D}"/>
              </a:ext>
            </a:extLst>
          </p:cNvPr>
          <p:cNvSpPr/>
          <p:nvPr/>
        </p:nvSpPr>
        <p:spPr>
          <a:xfrm>
            <a:off x="1595294" y="3692151"/>
            <a:ext cx="1080094" cy="144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388" name="Rechteck 387">
            <a:extLst>
              <a:ext uri="{FF2B5EF4-FFF2-40B4-BE49-F238E27FC236}">
                <a16:creationId xmlns:a16="http://schemas.microsoft.com/office/drawing/2014/main" id="{F1389D08-1DA8-C4C6-69A4-BD3D89FF1A04}"/>
              </a:ext>
            </a:extLst>
          </p:cNvPr>
          <p:cNvSpPr/>
          <p:nvPr/>
        </p:nvSpPr>
        <p:spPr>
          <a:xfrm>
            <a:off x="2819636" y="3692151"/>
            <a:ext cx="1080094" cy="144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Pipelines</a:t>
            </a:r>
          </a:p>
        </p:txBody>
      </p:sp>
      <p:sp>
        <p:nvSpPr>
          <p:cNvPr id="395" name="Rechteck 394">
            <a:extLst>
              <a:ext uri="{FF2B5EF4-FFF2-40B4-BE49-F238E27FC236}">
                <a16:creationId xmlns:a16="http://schemas.microsoft.com/office/drawing/2014/main" id="{271DC625-220C-68CA-CFEA-852352E1568E}"/>
              </a:ext>
            </a:extLst>
          </p:cNvPr>
          <p:cNvSpPr/>
          <p:nvPr/>
        </p:nvSpPr>
        <p:spPr>
          <a:xfrm>
            <a:off x="5459865" y="1412776"/>
            <a:ext cx="1274679" cy="360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050C11D-1A8C-3B4E-6EDC-BD4A4B1C4D37}"/>
              </a:ext>
            </a:extLst>
          </p:cNvPr>
          <p:cNvSpPr/>
          <p:nvPr/>
        </p:nvSpPr>
        <p:spPr>
          <a:xfrm>
            <a:off x="9624392" y="4106781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Science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59DB284-FD93-7686-A74E-8B98102A17D1}"/>
              </a:ext>
            </a:extLst>
          </p:cNvPr>
          <p:cNvGrpSpPr>
            <a:grpSpLocks noChangeAspect="1"/>
          </p:cNvGrpSpPr>
          <p:nvPr/>
        </p:nvGrpSpPr>
        <p:grpSpPr>
          <a:xfrm>
            <a:off x="10560436" y="4258287"/>
            <a:ext cx="726489" cy="363853"/>
            <a:chOff x="7082362" y="3857619"/>
            <a:chExt cx="1403538" cy="702945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76EC1716-6620-657E-1A00-8FC85D668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biLevel thresh="25000"/>
            </a:blip>
            <a:stretch>
              <a:fillRect/>
            </a:stretch>
          </p:blipFill>
          <p:spPr>
            <a:xfrm>
              <a:off x="7608000" y="3857619"/>
              <a:ext cx="877900" cy="701101"/>
            </a:xfrm>
            <a:prstGeom prst="rect">
              <a:avLst/>
            </a:prstGeom>
          </p:spPr>
        </p:pic>
        <p:pic>
          <p:nvPicPr>
            <p:cNvPr id="13" name="Picture 30">
              <a:extLst>
                <a:ext uri="{FF2B5EF4-FFF2-40B4-BE49-F238E27FC236}">
                  <a16:creationId xmlns:a16="http://schemas.microsoft.com/office/drawing/2014/main" id="{6E7F46F8-E811-63C9-DC39-1E8E9DB87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612"/>
            <a:stretch/>
          </p:blipFill>
          <p:spPr bwMode="auto">
            <a:xfrm>
              <a:off x="7082362" y="3857619"/>
              <a:ext cx="525638" cy="702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reihandform: Form 390">
            <a:extLst>
              <a:ext uri="{FF2B5EF4-FFF2-40B4-BE49-F238E27FC236}">
                <a16:creationId xmlns:a16="http://schemas.microsoft.com/office/drawing/2014/main" id="{8C26C47C-699E-2307-D635-8FD79AC9261B}"/>
              </a:ext>
            </a:extLst>
          </p:cNvPr>
          <p:cNvSpPr/>
          <p:nvPr/>
        </p:nvSpPr>
        <p:spPr>
          <a:xfrm>
            <a:off x="750664" y="1523102"/>
            <a:ext cx="5212454" cy="200776"/>
          </a:xfrm>
          <a:custGeom>
            <a:avLst/>
            <a:gdLst>
              <a:gd name="connsiteX0" fmla="*/ 3764838 w 3764838"/>
              <a:gd name="connsiteY0" fmla="*/ 95295 h 242939"/>
              <a:gd name="connsiteX1" fmla="*/ 3567194 w 3764838"/>
              <a:gd name="connsiteY1" fmla="*/ 7188 h 242939"/>
              <a:gd name="connsiteX2" fmla="*/ 3348119 w 3764838"/>
              <a:gd name="connsiteY2" fmla="*/ 97676 h 242939"/>
              <a:gd name="connsiteX3" fmla="*/ 3243344 w 3764838"/>
              <a:gd name="connsiteY3" fmla="*/ 154826 h 242939"/>
              <a:gd name="connsiteX4" fmla="*/ 3021888 w 3764838"/>
              <a:gd name="connsiteY4" fmla="*/ 242932 h 242939"/>
              <a:gd name="connsiteX5" fmla="*/ 2809956 w 3764838"/>
              <a:gd name="connsiteY5" fmla="*/ 150063 h 242939"/>
              <a:gd name="connsiteX6" fmla="*/ 2702800 w 3764838"/>
              <a:gd name="connsiteY6" fmla="*/ 95295 h 242939"/>
              <a:gd name="connsiteX7" fmla="*/ 2483725 w 3764838"/>
              <a:gd name="connsiteY7" fmla="*/ 4807 h 242939"/>
              <a:gd name="connsiteX8" fmla="*/ 2257506 w 3764838"/>
              <a:gd name="connsiteY8" fmla="*/ 97676 h 242939"/>
              <a:gd name="connsiteX9" fmla="*/ 2167019 w 3764838"/>
              <a:gd name="connsiteY9" fmla="*/ 147682 h 242939"/>
              <a:gd name="connsiteX10" fmla="*/ 1945563 w 3764838"/>
              <a:gd name="connsiteY10" fmla="*/ 238170 h 242939"/>
              <a:gd name="connsiteX11" fmla="*/ 1726488 w 3764838"/>
              <a:gd name="connsiteY11" fmla="*/ 142920 h 242939"/>
              <a:gd name="connsiteX12" fmla="*/ 1621713 w 3764838"/>
              <a:gd name="connsiteY12" fmla="*/ 85770 h 242939"/>
              <a:gd name="connsiteX13" fmla="*/ 1402638 w 3764838"/>
              <a:gd name="connsiteY13" fmla="*/ 45 h 242939"/>
              <a:gd name="connsiteX14" fmla="*/ 1181181 w 3764838"/>
              <a:gd name="connsiteY14" fmla="*/ 97676 h 242939"/>
              <a:gd name="connsiteX15" fmla="*/ 1085931 w 3764838"/>
              <a:gd name="connsiteY15" fmla="*/ 145301 h 242939"/>
              <a:gd name="connsiteX16" fmla="*/ 864475 w 3764838"/>
              <a:gd name="connsiteY16" fmla="*/ 233407 h 242939"/>
              <a:gd name="connsiteX17" fmla="*/ 645400 w 3764838"/>
              <a:gd name="connsiteY17" fmla="*/ 142920 h 242939"/>
              <a:gd name="connsiteX18" fmla="*/ 540625 w 3764838"/>
              <a:gd name="connsiteY18" fmla="*/ 85770 h 242939"/>
              <a:gd name="connsiteX19" fmla="*/ 319169 w 3764838"/>
              <a:gd name="connsiteY19" fmla="*/ 2426 h 242939"/>
              <a:gd name="connsiteX20" fmla="*/ 85806 w 3764838"/>
              <a:gd name="connsiteY20" fmla="*/ 104820 h 242939"/>
              <a:gd name="connsiteX21" fmla="*/ 81 w 3764838"/>
              <a:gd name="connsiteY21" fmla="*/ 150063 h 24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4838" h="242939">
                <a:moveTo>
                  <a:pt x="3764838" y="95295"/>
                </a:moveTo>
                <a:cubicBezTo>
                  <a:pt x="3700742" y="51043"/>
                  <a:pt x="3636647" y="6791"/>
                  <a:pt x="3567194" y="7188"/>
                </a:cubicBezTo>
                <a:cubicBezTo>
                  <a:pt x="3497741" y="7585"/>
                  <a:pt x="3402094" y="73070"/>
                  <a:pt x="3348119" y="97676"/>
                </a:cubicBezTo>
                <a:cubicBezTo>
                  <a:pt x="3294144" y="122282"/>
                  <a:pt x="3297716" y="130617"/>
                  <a:pt x="3243344" y="154826"/>
                </a:cubicBezTo>
                <a:cubicBezTo>
                  <a:pt x="3188972" y="179035"/>
                  <a:pt x="3094119" y="243726"/>
                  <a:pt x="3021888" y="242932"/>
                </a:cubicBezTo>
                <a:cubicBezTo>
                  <a:pt x="2949657" y="242138"/>
                  <a:pt x="2863137" y="174669"/>
                  <a:pt x="2809956" y="150063"/>
                </a:cubicBezTo>
                <a:cubicBezTo>
                  <a:pt x="2756775" y="125457"/>
                  <a:pt x="2757172" y="119504"/>
                  <a:pt x="2702800" y="95295"/>
                </a:cubicBezTo>
                <a:cubicBezTo>
                  <a:pt x="2648428" y="71086"/>
                  <a:pt x="2557941" y="4410"/>
                  <a:pt x="2483725" y="4807"/>
                </a:cubicBezTo>
                <a:cubicBezTo>
                  <a:pt x="2409509" y="5204"/>
                  <a:pt x="2310290" y="73864"/>
                  <a:pt x="2257506" y="97676"/>
                </a:cubicBezTo>
                <a:cubicBezTo>
                  <a:pt x="2204722" y="121488"/>
                  <a:pt x="2219009" y="124266"/>
                  <a:pt x="2167019" y="147682"/>
                </a:cubicBezTo>
                <a:cubicBezTo>
                  <a:pt x="2115028" y="171098"/>
                  <a:pt x="2018985" y="238964"/>
                  <a:pt x="1945563" y="238170"/>
                </a:cubicBezTo>
                <a:cubicBezTo>
                  <a:pt x="1872141" y="237376"/>
                  <a:pt x="1780463" y="168320"/>
                  <a:pt x="1726488" y="142920"/>
                </a:cubicBezTo>
                <a:cubicBezTo>
                  <a:pt x="1672513" y="117520"/>
                  <a:pt x="1675688" y="109582"/>
                  <a:pt x="1621713" y="85770"/>
                </a:cubicBezTo>
                <a:cubicBezTo>
                  <a:pt x="1567738" y="61958"/>
                  <a:pt x="1476060" y="-1939"/>
                  <a:pt x="1402638" y="45"/>
                </a:cubicBezTo>
                <a:cubicBezTo>
                  <a:pt x="1329216" y="2029"/>
                  <a:pt x="1233966" y="73467"/>
                  <a:pt x="1181181" y="97676"/>
                </a:cubicBezTo>
                <a:cubicBezTo>
                  <a:pt x="1128396" y="121885"/>
                  <a:pt x="1138715" y="122679"/>
                  <a:pt x="1085931" y="145301"/>
                </a:cubicBezTo>
                <a:cubicBezTo>
                  <a:pt x="1033147" y="167923"/>
                  <a:pt x="937897" y="233804"/>
                  <a:pt x="864475" y="233407"/>
                </a:cubicBezTo>
                <a:cubicBezTo>
                  <a:pt x="791053" y="233010"/>
                  <a:pt x="699375" y="167526"/>
                  <a:pt x="645400" y="142920"/>
                </a:cubicBezTo>
                <a:cubicBezTo>
                  <a:pt x="591425" y="118314"/>
                  <a:pt x="594997" y="109186"/>
                  <a:pt x="540625" y="85770"/>
                </a:cubicBezTo>
                <a:cubicBezTo>
                  <a:pt x="486253" y="62354"/>
                  <a:pt x="394972" y="-749"/>
                  <a:pt x="319169" y="2426"/>
                </a:cubicBezTo>
                <a:cubicBezTo>
                  <a:pt x="243366" y="5601"/>
                  <a:pt x="138987" y="80214"/>
                  <a:pt x="85806" y="104820"/>
                </a:cubicBezTo>
                <a:cubicBezTo>
                  <a:pt x="32625" y="129426"/>
                  <a:pt x="-1904" y="90929"/>
                  <a:pt x="81" y="150063"/>
                </a:cubicBezTo>
              </a:path>
            </a:pathLst>
          </a:custGeom>
          <a:noFill/>
          <a:ln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Freihandform: Form 393">
            <a:extLst>
              <a:ext uri="{FF2B5EF4-FFF2-40B4-BE49-F238E27FC236}">
                <a16:creationId xmlns:a16="http://schemas.microsoft.com/office/drawing/2014/main" id="{31422A3C-8975-A8A2-220C-8A052B17FF45}"/>
              </a:ext>
            </a:extLst>
          </p:cNvPr>
          <p:cNvSpPr/>
          <p:nvPr/>
        </p:nvSpPr>
        <p:spPr>
          <a:xfrm flipH="1">
            <a:off x="6406826" y="1523102"/>
            <a:ext cx="5047676" cy="200776"/>
          </a:xfrm>
          <a:custGeom>
            <a:avLst/>
            <a:gdLst>
              <a:gd name="connsiteX0" fmla="*/ 3764838 w 3764838"/>
              <a:gd name="connsiteY0" fmla="*/ 95295 h 242939"/>
              <a:gd name="connsiteX1" fmla="*/ 3567194 w 3764838"/>
              <a:gd name="connsiteY1" fmla="*/ 7188 h 242939"/>
              <a:gd name="connsiteX2" fmla="*/ 3348119 w 3764838"/>
              <a:gd name="connsiteY2" fmla="*/ 97676 h 242939"/>
              <a:gd name="connsiteX3" fmla="*/ 3243344 w 3764838"/>
              <a:gd name="connsiteY3" fmla="*/ 154826 h 242939"/>
              <a:gd name="connsiteX4" fmla="*/ 3021888 w 3764838"/>
              <a:gd name="connsiteY4" fmla="*/ 242932 h 242939"/>
              <a:gd name="connsiteX5" fmla="*/ 2809956 w 3764838"/>
              <a:gd name="connsiteY5" fmla="*/ 150063 h 242939"/>
              <a:gd name="connsiteX6" fmla="*/ 2702800 w 3764838"/>
              <a:gd name="connsiteY6" fmla="*/ 95295 h 242939"/>
              <a:gd name="connsiteX7" fmla="*/ 2483725 w 3764838"/>
              <a:gd name="connsiteY7" fmla="*/ 4807 h 242939"/>
              <a:gd name="connsiteX8" fmla="*/ 2257506 w 3764838"/>
              <a:gd name="connsiteY8" fmla="*/ 97676 h 242939"/>
              <a:gd name="connsiteX9" fmla="*/ 2167019 w 3764838"/>
              <a:gd name="connsiteY9" fmla="*/ 147682 h 242939"/>
              <a:gd name="connsiteX10" fmla="*/ 1945563 w 3764838"/>
              <a:gd name="connsiteY10" fmla="*/ 238170 h 242939"/>
              <a:gd name="connsiteX11" fmla="*/ 1726488 w 3764838"/>
              <a:gd name="connsiteY11" fmla="*/ 142920 h 242939"/>
              <a:gd name="connsiteX12" fmla="*/ 1621713 w 3764838"/>
              <a:gd name="connsiteY12" fmla="*/ 85770 h 242939"/>
              <a:gd name="connsiteX13" fmla="*/ 1402638 w 3764838"/>
              <a:gd name="connsiteY13" fmla="*/ 45 h 242939"/>
              <a:gd name="connsiteX14" fmla="*/ 1181181 w 3764838"/>
              <a:gd name="connsiteY14" fmla="*/ 97676 h 242939"/>
              <a:gd name="connsiteX15" fmla="*/ 1085931 w 3764838"/>
              <a:gd name="connsiteY15" fmla="*/ 145301 h 242939"/>
              <a:gd name="connsiteX16" fmla="*/ 864475 w 3764838"/>
              <a:gd name="connsiteY16" fmla="*/ 233407 h 242939"/>
              <a:gd name="connsiteX17" fmla="*/ 645400 w 3764838"/>
              <a:gd name="connsiteY17" fmla="*/ 142920 h 242939"/>
              <a:gd name="connsiteX18" fmla="*/ 540625 w 3764838"/>
              <a:gd name="connsiteY18" fmla="*/ 85770 h 242939"/>
              <a:gd name="connsiteX19" fmla="*/ 319169 w 3764838"/>
              <a:gd name="connsiteY19" fmla="*/ 2426 h 242939"/>
              <a:gd name="connsiteX20" fmla="*/ 85806 w 3764838"/>
              <a:gd name="connsiteY20" fmla="*/ 104820 h 242939"/>
              <a:gd name="connsiteX21" fmla="*/ 81 w 3764838"/>
              <a:gd name="connsiteY21" fmla="*/ 150063 h 24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64838" h="242939">
                <a:moveTo>
                  <a:pt x="3764838" y="95295"/>
                </a:moveTo>
                <a:cubicBezTo>
                  <a:pt x="3700742" y="51043"/>
                  <a:pt x="3636647" y="6791"/>
                  <a:pt x="3567194" y="7188"/>
                </a:cubicBezTo>
                <a:cubicBezTo>
                  <a:pt x="3497741" y="7585"/>
                  <a:pt x="3402094" y="73070"/>
                  <a:pt x="3348119" y="97676"/>
                </a:cubicBezTo>
                <a:cubicBezTo>
                  <a:pt x="3294144" y="122282"/>
                  <a:pt x="3297716" y="130617"/>
                  <a:pt x="3243344" y="154826"/>
                </a:cubicBezTo>
                <a:cubicBezTo>
                  <a:pt x="3188972" y="179035"/>
                  <a:pt x="3094119" y="243726"/>
                  <a:pt x="3021888" y="242932"/>
                </a:cubicBezTo>
                <a:cubicBezTo>
                  <a:pt x="2949657" y="242138"/>
                  <a:pt x="2863137" y="174669"/>
                  <a:pt x="2809956" y="150063"/>
                </a:cubicBezTo>
                <a:cubicBezTo>
                  <a:pt x="2756775" y="125457"/>
                  <a:pt x="2757172" y="119504"/>
                  <a:pt x="2702800" y="95295"/>
                </a:cubicBezTo>
                <a:cubicBezTo>
                  <a:pt x="2648428" y="71086"/>
                  <a:pt x="2557941" y="4410"/>
                  <a:pt x="2483725" y="4807"/>
                </a:cubicBezTo>
                <a:cubicBezTo>
                  <a:pt x="2409509" y="5204"/>
                  <a:pt x="2310290" y="73864"/>
                  <a:pt x="2257506" y="97676"/>
                </a:cubicBezTo>
                <a:cubicBezTo>
                  <a:pt x="2204722" y="121488"/>
                  <a:pt x="2219009" y="124266"/>
                  <a:pt x="2167019" y="147682"/>
                </a:cubicBezTo>
                <a:cubicBezTo>
                  <a:pt x="2115028" y="171098"/>
                  <a:pt x="2018985" y="238964"/>
                  <a:pt x="1945563" y="238170"/>
                </a:cubicBezTo>
                <a:cubicBezTo>
                  <a:pt x="1872141" y="237376"/>
                  <a:pt x="1780463" y="168320"/>
                  <a:pt x="1726488" y="142920"/>
                </a:cubicBezTo>
                <a:cubicBezTo>
                  <a:pt x="1672513" y="117520"/>
                  <a:pt x="1675688" y="109582"/>
                  <a:pt x="1621713" y="85770"/>
                </a:cubicBezTo>
                <a:cubicBezTo>
                  <a:pt x="1567738" y="61958"/>
                  <a:pt x="1476060" y="-1939"/>
                  <a:pt x="1402638" y="45"/>
                </a:cubicBezTo>
                <a:cubicBezTo>
                  <a:pt x="1329216" y="2029"/>
                  <a:pt x="1233966" y="73467"/>
                  <a:pt x="1181181" y="97676"/>
                </a:cubicBezTo>
                <a:cubicBezTo>
                  <a:pt x="1128396" y="121885"/>
                  <a:pt x="1138715" y="122679"/>
                  <a:pt x="1085931" y="145301"/>
                </a:cubicBezTo>
                <a:cubicBezTo>
                  <a:pt x="1033147" y="167923"/>
                  <a:pt x="937897" y="233804"/>
                  <a:pt x="864475" y="233407"/>
                </a:cubicBezTo>
                <a:cubicBezTo>
                  <a:pt x="791053" y="233010"/>
                  <a:pt x="699375" y="167526"/>
                  <a:pt x="645400" y="142920"/>
                </a:cubicBezTo>
                <a:cubicBezTo>
                  <a:pt x="591425" y="118314"/>
                  <a:pt x="594997" y="109186"/>
                  <a:pt x="540625" y="85770"/>
                </a:cubicBezTo>
                <a:cubicBezTo>
                  <a:pt x="486253" y="62354"/>
                  <a:pt x="394972" y="-749"/>
                  <a:pt x="319169" y="2426"/>
                </a:cubicBezTo>
                <a:cubicBezTo>
                  <a:pt x="243366" y="5601"/>
                  <a:pt x="138987" y="80214"/>
                  <a:pt x="85806" y="104820"/>
                </a:cubicBezTo>
                <a:cubicBezTo>
                  <a:pt x="32625" y="129426"/>
                  <a:pt x="-1904" y="90929"/>
                  <a:pt x="81" y="150063"/>
                </a:cubicBezTo>
              </a:path>
            </a:pathLst>
          </a:custGeom>
          <a:noFill/>
          <a:ln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1802FD0A-89DC-D038-A702-475B498ED728}"/>
              </a:ext>
            </a:extLst>
          </p:cNvPr>
          <p:cNvGrpSpPr/>
          <p:nvPr/>
        </p:nvGrpSpPr>
        <p:grpSpPr>
          <a:xfrm>
            <a:off x="410400" y="1605493"/>
            <a:ext cx="11373609" cy="36000"/>
            <a:chOff x="410400" y="1605493"/>
            <a:chExt cx="11373609" cy="36000"/>
          </a:xfrm>
          <a:gradFill flip="none" rotWithShape="1">
            <a:gsLst>
              <a:gs pos="0">
                <a:schemeClr val="accent1">
                  <a:lumMod val="99000"/>
                  <a:alpha val="20000"/>
                </a:schemeClr>
              </a:gs>
              <a:gs pos="67000">
                <a:schemeClr val="accent3"/>
              </a:gs>
              <a:gs pos="38000">
                <a:schemeClr val="accent2"/>
              </a:gs>
              <a:gs pos="100000">
                <a:schemeClr val="accent4">
                  <a:lumMod val="99000"/>
                  <a:alpha val="20000"/>
                </a:schemeClr>
              </a:gs>
            </a:gsLst>
            <a:lin ang="0" scaled="1"/>
            <a:tileRect/>
          </a:gradFill>
        </p:grpSpPr>
        <p:sp>
          <p:nvSpPr>
            <p:cNvPr id="24" name="Rectangle 578">
              <a:extLst>
                <a:ext uri="{FF2B5EF4-FFF2-40B4-BE49-F238E27FC236}">
                  <a16:creationId xmlns:a16="http://schemas.microsoft.com/office/drawing/2014/main" id="{A53EC956-BB1E-2DA0-8291-9C2E626B4ECD}"/>
                </a:ext>
              </a:extLst>
            </p:cNvPr>
            <p:cNvSpPr/>
            <p:nvPr/>
          </p:nvSpPr>
          <p:spPr>
            <a:xfrm rot="16200000" flipH="1">
              <a:off x="3183926" y="-1168033"/>
              <a:ext cx="36000" cy="5583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9" name="Rectangle 578">
              <a:extLst>
                <a:ext uri="{FF2B5EF4-FFF2-40B4-BE49-F238E27FC236}">
                  <a16:creationId xmlns:a16="http://schemas.microsoft.com/office/drawing/2014/main" id="{2C371502-C76F-F26D-B4E2-2E3291ABC60C}"/>
                </a:ext>
              </a:extLst>
            </p:cNvPr>
            <p:cNvSpPr/>
            <p:nvPr/>
          </p:nvSpPr>
          <p:spPr>
            <a:xfrm rot="5400000">
              <a:off x="9062731" y="-1079786"/>
              <a:ext cx="36000" cy="5406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24" name="Rechteck 72">
            <a:extLst>
              <a:ext uri="{FF2B5EF4-FFF2-40B4-BE49-F238E27FC236}">
                <a16:creationId xmlns:a16="http://schemas.microsoft.com/office/drawing/2014/main" id="{2BA1A804-8942-6FE2-F526-8B720E392ACF}"/>
              </a:ext>
            </a:extLst>
          </p:cNvPr>
          <p:cNvSpPr/>
          <p:nvPr/>
        </p:nvSpPr>
        <p:spPr>
          <a:xfrm>
            <a:off x="423962" y="1412776"/>
            <a:ext cx="5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LDF</a:t>
            </a:r>
          </a:p>
        </p:txBody>
      </p:sp>
      <p:sp>
        <p:nvSpPr>
          <p:cNvPr id="225" name="Rechteck 73">
            <a:extLst>
              <a:ext uri="{FF2B5EF4-FFF2-40B4-BE49-F238E27FC236}">
                <a16:creationId xmlns:a16="http://schemas.microsoft.com/office/drawing/2014/main" id="{719E4D4E-0412-DA54-601D-89DAD8B288B3}"/>
              </a:ext>
            </a:extLst>
          </p:cNvPr>
          <p:cNvSpPr/>
          <p:nvPr/>
        </p:nvSpPr>
        <p:spPr>
          <a:xfrm>
            <a:off x="11273532" y="1429224"/>
            <a:ext cx="5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SDC</a:t>
            </a:r>
          </a:p>
        </p:txBody>
      </p:sp>
      <p:sp>
        <p:nvSpPr>
          <p:cNvPr id="229" name="Rechteck 394">
            <a:extLst>
              <a:ext uri="{FF2B5EF4-FFF2-40B4-BE49-F238E27FC236}">
                <a16:creationId xmlns:a16="http://schemas.microsoft.com/office/drawing/2014/main" id="{D3FD4B1A-AE71-FB66-8A0B-41B1AE3F27E5}"/>
              </a:ext>
            </a:extLst>
          </p:cNvPr>
          <p:cNvSpPr/>
          <p:nvPr/>
        </p:nvSpPr>
        <p:spPr>
          <a:xfrm>
            <a:off x="5459865" y="1412776"/>
            <a:ext cx="1274679" cy="360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31" name="Siemens Logo">
            <a:extLst>
              <a:ext uri="{FF2B5EF4-FFF2-40B4-BE49-F238E27FC236}">
                <a16:creationId xmlns:a16="http://schemas.microsoft.com/office/drawing/2014/main" id="{11C2E841-F013-B659-9936-5D263249B0B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black">
          <a:xfrm>
            <a:off x="5521204" y="1517640"/>
            <a:ext cx="1152000" cy="183168"/>
          </a:xfrm>
          <a:prstGeom prst="rect">
            <a:avLst/>
          </a:prstGeom>
        </p:spPr>
      </p:pic>
      <p:sp>
        <p:nvSpPr>
          <p:cNvPr id="234" name="Rechteck: abgerundete Ecken 321">
            <a:extLst>
              <a:ext uri="{FF2B5EF4-FFF2-40B4-BE49-F238E27FC236}">
                <a16:creationId xmlns:a16="http://schemas.microsoft.com/office/drawing/2014/main" id="{6FCB49E4-6ABA-6700-ACC1-4115D363380E}"/>
              </a:ext>
            </a:extLst>
          </p:cNvPr>
          <p:cNvSpPr/>
          <p:nvPr/>
        </p:nvSpPr>
        <p:spPr>
          <a:xfrm>
            <a:off x="9624392" y="2975149"/>
            <a:ext cx="1872000" cy="504000"/>
          </a:xfrm>
          <a:prstGeom prst="roundRect">
            <a:avLst>
              <a:gd name="adj" fmla="val 11154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Analytics</a:t>
            </a:r>
          </a:p>
        </p:txBody>
      </p:sp>
      <p:grpSp>
        <p:nvGrpSpPr>
          <p:cNvPr id="236" name="Gruppieren 335">
            <a:extLst>
              <a:ext uri="{FF2B5EF4-FFF2-40B4-BE49-F238E27FC236}">
                <a16:creationId xmlns:a16="http://schemas.microsoft.com/office/drawing/2014/main" id="{126F1B5A-8B32-3644-5065-0D8D7C07B6EA}"/>
              </a:ext>
            </a:extLst>
          </p:cNvPr>
          <p:cNvGrpSpPr>
            <a:grpSpLocks noChangeAspect="1"/>
          </p:cNvGrpSpPr>
          <p:nvPr/>
        </p:nvGrpSpPr>
        <p:grpSpPr>
          <a:xfrm>
            <a:off x="10594985" y="3273813"/>
            <a:ext cx="469815" cy="164436"/>
            <a:chOff x="1913398" y="1648883"/>
            <a:chExt cx="3429000" cy="1200150"/>
          </a:xfrm>
        </p:grpSpPr>
        <p:pic>
          <p:nvPicPr>
            <p:cNvPr id="239" name="Grafik 336">
              <a:extLst>
                <a:ext uri="{FF2B5EF4-FFF2-40B4-BE49-F238E27FC236}">
                  <a16:creationId xmlns:a16="http://schemas.microsoft.com/office/drawing/2014/main" id="{A5660A75-E7AC-68FF-8A37-58ABA366B4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l="63185"/>
            <a:stretch/>
          </p:blipFill>
          <p:spPr>
            <a:xfrm>
              <a:off x="4080000" y="1648883"/>
              <a:ext cx="1262398" cy="1200150"/>
            </a:xfrm>
            <a:prstGeom prst="rect">
              <a:avLst/>
            </a:prstGeom>
          </p:spPr>
        </p:pic>
        <p:pic>
          <p:nvPicPr>
            <p:cNvPr id="240" name="Grafik 337">
              <a:extLst>
                <a:ext uri="{FF2B5EF4-FFF2-40B4-BE49-F238E27FC236}">
                  <a16:creationId xmlns:a16="http://schemas.microsoft.com/office/drawing/2014/main" id="{A6DDB306-4E57-3C50-6D38-E3E1EBCAE2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r="36815"/>
            <a:stretch/>
          </p:blipFill>
          <p:spPr>
            <a:xfrm>
              <a:off x="1913398" y="1648883"/>
              <a:ext cx="2166602" cy="1200150"/>
            </a:xfrm>
            <a:prstGeom prst="rect">
              <a:avLst/>
            </a:prstGeom>
          </p:spPr>
        </p:pic>
        <p:sp>
          <p:nvSpPr>
            <p:cNvPr id="241" name="Ellipse 338">
              <a:extLst>
                <a:ext uri="{FF2B5EF4-FFF2-40B4-BE49-F238E27FC236}">
                  <a16:creationId xmlns:a16="http://schemas.microsoft.com/office/drawing/2014/main" id="{0CDDD54E-17F8-4B77-E226-215E2B81F745}"/>
                </a:ext>
              </a:extLst>
            </p:cNvPr>
            <p:cNvSpPr/>
            <p:nvPr/>
          </p:nvSpPr>
          <p:spPr>
            <a:xfrm>
              <a:off x="4465400" y="2065250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42" name="Gruppieren 339">
            <a:extLst>
              <a:ext uri="{FF2B5EF4-FFF2-40B4-BE49-F238E27FC236}">
                <a16:creationId xmlns:a16="http://schemas.microsoft.com/office/drawing/2014/main" id="{415E85AD-3F3B-652A-3736-7A7C5FF5B189}"/>
              </a:ext>
            </a:extLst>
          </p:cNvPr>
          <p:cNvGrpSpPr>
            <a:grpSpLocks noChangeAspect="1"/>
          </p:cNvGrpSpPr>
          <p:nvPr/>
        </p:nvGrpSpPr>
        <p:grpSpPr>
          <a:xfrm>
            <a:off x="9754246" y="3194715"/>
            <a:ext cx="627245" cy="352900"/>
            <a:chOff x="7404850" y="2407942"/>
            <a:chExt cx="986074" cy="554784"/>
          </a:xfrm>
        </p:grpSpPr>
        <p:pic>
          <p:nvPicPr>
            <p:cNvPr id="243" name="Grafik 340">
              <a:extLst>
                <a:ext uri="{FF2B5EF4-FFF2-40B4-BE49-F238E27FC236}">
                  <a16:creationId xmlns:a16="http://schemas.microsoft.com/office/drawing/2014/main" id="{E28F7E4A-4BEA-ABC6-A8E1-49EAD293C6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06"/>
            <a:stretch/>
          </p:blipFill>
          <p:spPr bwMode="auto">
            <a:xfrm>
              <a:off x="7404850" y="2408042"/>
              <a:ext cx="248395" cy="554585"/>
            </a:xfrm>
            <a:custGeom>
              <a:avLst/>
              <a:gdLst>
                <a:gd name="connsiteX0" fmla="*/ 0 w 248395"/>
                <a:gd name="connsiteY0" fmla="*/ 0 h 554585"/>
                <a:gd name="connsiteX1" fmla="*/ 248395 w 248395"/>
                <a:gd name="connsiteY1" fmla="*/ 0 h 554585"/>
                <a:gd name="connsiteX2" fmla="*/ 248395 w 248395"/>
                <a:gd name="connsiteY2" fmla="*/ 554585 h 554585"/>
                <a:gd name="connsiteX3" fmla="*/ 0 w 248395"/>
                <a:gd name="connsiteY3" fmla="*/ 554585 h 55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395" h="554585">
                  <a:moveTo>
                    <a:pt x="0" y="0"/>
                  </a:moveTo>
                  <a:lnTo>
                    <a:pt x="248395" y="0"/>
                  </a:lnTo>
                  <a:lnTo>
                    <a:pt x="248395" y="554585"/>
                  </a:lnTo>
                  <a:lnTo>
                    <a:pt x="0" y="55458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9" name="Grafik 341">
              <a:extLst>
                <a:ext uri="{FF2B5EF4-FFF2-40B4-BE49-F238E27FC236}">
                  <a16:creationId xmlns:a16="http://schemas.microsoft.com/office/drawing/2014/main" id="{11AC1740-E0E5-19D8-5B39-31F7E2A1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biLevel thresh="25000"/>
            </a:blip>
            <a:stretch>
              <a:fillRect/>
            </a:stretch>
          </p:blipFill>
          <p:spPr>
            <a:xfrm>
              <a:off x="7653244" y="2407942"/>
              <a:ext cx="737680" cy="554784"/>
            </a:xfrm>
            <a:prstGeom prst="rect">
              <a:avLst/>
            </a:prstGeom>
          </p:spPr>
        </p:pic>
      </p:grpSp>
      <p:sp>
        <p:nvSpPr>
          <p:cNvPr id="2" name="Rechteck 350">
            <a:extLst>
              <a:ext uri="{FF2B5EF4-FFF2-40B4-BE49-F238E27FC236}">
                <a16:creationId xmlns:a16="http://schemas.microsoft.com/office/drawing/2014/main" id="{A6F61FA5-9A61-4828-891D-F04EB626F1EE}"/>
              </a:ext>
            </a:extLst>
          </p:cNvPr>
          <p:cNvSpPr/>
          <p:nvPr/>
        </p:nvSpPr>
        <p:spPr>
          <a:xfrm>
            <a:off x="9228352" y="3745025"/>
            <a:ext cx="396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58" name="Gruppieren 257">
            <a:extLst>
              <a:ext uri="{FF2B5EF4-FFF2-40B4-BE49-F238E27FC236}">
                <a16:creationId xmlns:a16="http://schemas.microsoft.com/office/drawing/2014/main" id="{3CA05209-A3E2-A754-63D7-95FCFE8D1A89}"/>
              </a:ext>
            </a:extLst>
          </p:cNvPr>
          <p:cNvGrpSpPr/>
          <p:nvPr/>
        </p:nvGrpSpPr>
        <p:grpSpPr>
          <a:xfrm>
            <a:off x="1055440" y="4026582"/>
            <a:ext cx="594000" cy="626554"/>
            <a:chOff x="708778" y="3090762"/>
            <a:chExt cx="594000" cy="626554"/>
          </a:xfrm>
        </p:grpSpPr>
        <p:sp>
          <p:nvSpPr>
            <p:cNvPr id="259" name="TextBox 25">
              <a:extLst>
                <a:ext uri="{FF2B5EF4-FFF2-40B4-BE49-F238E27FC236}">
                  <a16:creationId xmlns:a16="http://schemas.microsoft.com/office/drawing/2014/main" id="{B423645A-1689-9915-263E-43BA3BD16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778" y="3378762"/>
              <a:ext cx="5940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Machine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3" name="Grafik 262" descr="Roboterhand Silhouette">
              <a:extLst>
                <a:ext uri="{FF2B5EF4-FFF2-40B4-BE49-F238E27FC236}">
                  <a16:creationId xmlns:a16="http://schemas.microsoft.com/office/drawing/2014/main" id="{7D46BEEE-A81D-11A3-4DFA-CB279167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1424" y="3090762"/>
              <a:ext cx="288000" cy="288000"/>
            </a:xfrm>
            <a:prstGeom prst="rect">
              <a:avLst/>
            </a:prstGeom>
          </p:spPr>
        </p:pic>
      </p:grpSp>
      <p:grpSp>
        <p:nvGrpSpPr>
          <p:cNvPr id="277" name="Gruppieren 276">
            <a:extLst>
              <a:ext uri="{FF2B5EF4-FFF2-40B4-BE49-F238E27FC236}">
                <a16:creationId xmlns:a16="http://schemas.microsoft.com/office/drawing/2014/main" id="{BE3A3975-C789-DCAE-3232-6FFD59914B2D}"/>
              </a:ext>
            </a:extLst>
          </p:cNvPr>
          <p:cNvGrpSpPr/>
          <p:nvPr/>
        </p:nvGrpSpPr>
        <p:grpSpPr>
          <a:xfrm>
            <a:off x="1876986" y="2996952"/>
            <a:ext cx="540000" cy="503444"/>
            <a:chOff x="1796629" y="2682867"/>
            <a:chExt cx="540000" cy="503444"/>
          </a:xfrm>
        </p:grpSpPr>
        <p:sp>
          <p:nvSpPr>
            <p:cNvPr id="265" name="TextBox 25">
              <a:extLst>
                <a:ext uri="{FF2B5EF4-FFF2-40B4-BE49-F238E27FC236}">
                  <a16:creationId xmlns:a16="http://schemas.microsoft.com/office/drawing/2014/main" id="{55E05CB7-F510-1BB9-233E-BBC4E1168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629" y="2970867"/>
              <a:ext cx="5400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Tester</a:t>
              </a:r>
              <a:endPara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7" name="Graphic 12">
              <a:extLst>
                <a:ext uri="{FF2B5EF4-FFF2-40B4-BE49-F238E27FC236}">
                  <a16:creationId xmlns:a16="http://schemas.microsoft.com/office/drawing/2014/main" id="{53C7B7A2-00B0-8F77-8554-C5EB480B64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1922629" y="2682867"/>
              <a:ext cx="288000" cy="28800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uppieren 275">
            <a:extLst>
              <a:ext uri="{FF2B5EF4-FFF2-40B4-BE49-F238E27FC236}">
                <a16:creationId xmlns:a16="http://schemas.microsoft.com/office/drawing/2014/main" id="{E87A2D15-A3CD-A00E-0597-FCA69F1E40FA}"/>
              </a:ext>
            </a:extLst>
          </p:cNvPr>
          <p:cNvGrpSpPr/>
          <p:nvPr/>
        </p:nvGrpSpPr>
        <p:grpSpPr>
          <a:xfrm>
            <a:off x="1510340" y="4026582"/>
            <a:ext cx="1273292" cy="626554"/>
            <a:chOff x="1470280" y="3759194"/>
            <a:chExt cx="1273292" cy="626554"/>
          </a:xfrm>
        </p:grpSpPr>
        <p:pic>
          <p:nvPicPr>
            <p:cNvPr id="268" name="Grafik 267" descr="Drahtlosrouter Silhouette">
              <a:extLst>
                <a:ext uri="{FF2B5EF4-FFF2-40B4-BE49-F238E27FC236}">
                  <a16:creationId xmlns:a16="http://schemas.microsoft.com/office/drawing/2014/main" id="{04982F9C-1591-0740-A34C-22BB8C78E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962926" y="3759194"/>
              <a:ext cx="288000" cy="288000"/>
            </a:xfrm>
            <a:prstGeom prst="rect">
              <a:avLst/>
            </a:prstGeom>
          </p:spPr>
        </p:pic>
        <p:sp>
          <p:nvSpPr>
            <p:cNvPr id="271" name="TextBox 25">
              <a:extLst>
                <a:ext uri="{FF2B5EF4-FFF2-40B4-BE49-F238E27FC236}">
                  <a16:creationId xmlns:a16="http://schemas.microsoft.com/office/drawing/2014/main" id="{3DB767AE-F5F8-93B7-5655-3D1FAE24C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280" y="4047194"/>
              <a:ext cx="12732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Other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Shopfloor data</a:t>
              </a:r>
              <a:endParaRPr kumimoji="0" lang="en-US" altLang="en-US" sz="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8" name="Rechteck: abgerundete Ecken 277">
            <a:extLst>
              <a:ext uri="{FF2B5EF4-FFF2-40B4-BE49-F238E27FC236}">
                <a16:creationId xmlns:a16="http://schemas.microsoft.com/office/drawing/2014/main" id="{F49E2FE9-6E8D-0ACB-886B-49432B559926}"/>
              </a:ext>
            </a:extLst>
          </p:cNvPr>
          <p:cNvSpPr/>
          <p:nvPr/>
        </p:nvSpPr>
        <p:spPr>
          <a:xfrm>
            <a:off x="5160004" y="2801455"/>
            <a:ext cx="432000" cy="216000"/>
          </a:xfrm>
          <a:prstGeom prst="roundRect">
            <a:avLst>
              <a:gd name="adj" fmla="val 2585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ERP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95490DE-5BDE-02CC-029B-567AA850947C}"/>
              </a:ext>
            </a:extLst>
          </p:cNvPr>
          <p:cNvSpPr/>
          <p:nvPr/>
        </p:nvSpPr>
        <p:spPr>
          <a:xfrm>
            <a:off x="564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SCM</a:t>
            </a:r>
          </a:p>
        </p:txBody>
      </p:sp>
      <p:sp>
        <p:nvSpPr>
          <p:cNvPr id="233" name="Rechteck: abgerundete Ecken 232">
            <a:extLst>
              <a:ext uri="{FF2B5EF4-FFF2-40B4-BE49-F238E27FC236}">
                <a16:creationId xmlns:a16="http://schemas.microsoft.com/office/drawing/2014/main" id="{9BCE064E-A428-88D6-2937-6DF551BF9C88}"/>
              </a:ext>
            </a:extLst>
          </p:cNvPr>
          <p:cNvSpPr/>
          <p:nvPr/>
        </p:nvSpPr>
        <p:spPr>
          <a:xfrm>
            <a:off x="612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PLM</a:t>
            </a:r>
          </a:p>
        </p:txBody>
      </p:sp>
      <p:sp>
        <p:nvSpPr>
          <p:cNvPr id="250" name="Rechteck: abgerundete Ecken 249">
            <a:extLst>
              <a:ext uri="{FF2B5EF4-FFF2-40B4-BE49-F238E27FC236}">
                <a16:creationId xmlns:a16="http://schemas.microsoft.com/office/drawing/2014/main" id="{1D580DC2-25AC-EA20-0D1A-08A8A2B81799}"/>
              </a:ext>
            </a:extLst>
          </p:cNvPr>
          <p:cNvSpPr/>
          <p:nvPr/>
        </p:nvSpPr>
        <p:spPr>
          <a:xfrm>
            <a:off x="6600004" y="2801455"/>
            <a:ext cx="432000" cy="216000"/>
          </a:xfrm>
          <a:prstGeom prst="roundRect">
            <a:avLst>
              <a:gd name="adj" fmla="val 30263"/>
            </a:avLst>
          </a:prstGeom>
          <a:solidFill>
            <a:srgbClr val="000028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72000" rtlCol="0" anchor="ctr" anchorCtr="0">
            <a:noAutofit/>
          </a:bodyPr>
          <a:lstStyle/>
          <a:p>
            <a:pPr algn="ctr"/>
            <a:r>
              <a:rPr lang="en-US" sz="800">
                <a:solidFill>
                  <a:prstClr val="white"/>
                </a:solidFill>
                <a:latin typeface="Arial"/>
              </a:rPr>
              <a:t>..</a:t>
            </a:r>
          </a:p>
        </p:txBody>
      </p: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BBBC1D32-7642-AFA6-E0B6-76E598ABC331}"/>
              </a:ext>
            </a:extLst>
          </p:cNvPr>
          <p:cNvGrpSpPr/>
          <p:nvPr/>
        </p:nvGrpSpPr>
        <p:grpSpPr>
          <a:xfrm>
            <a:off x="9818235" y="4383616"/>
            <a:ext cx="481332" cy="144304"/>
            <a:chOff x="9818235" y="4167592"/>
            <a:chExt cx="481332" cy="144304"/>
          </a:xfrm>
        </p:grpSpPr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42A3A53E-F2F2-8C87-40EB-F29DB799F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lum bright="70000" contrast="-70000"/>
            </a:blip>
            <a:stretch>
              <a:fillRect/>
            </a:stretch>
          </p:blipFill>
          <p:spPr>
            <a:xfrm>
              <a:off x="9984369" y="4169544"/>
              <a:ext cx="315198" cy="140400"/>
            </a:xfrm>
            <a:prstGeom prst="rect">
              <a:avLst/>
            </a:prstGeom>
          </p:spPr>
        </p:pic>
        <p:pic>
          <p:nvPicPr>
            <p:cNvPr id="18" name="Picture 17" descr="A black text on a black background&#10;&#10;Description automatically generated">
              <a:extLst>
                <a:ext uri="{FF2B5EF4-FFF2-40B4-BE49-F238E27FC236}">
                  <a16:creationId xmlns:a16="http://schemas.microsoft.com/office/drawing/2014/main" id="{3127C83B-995F-8B7C-C448-DC97BA7DD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r="67667"/>
            <a:stretch/>
          </p:blipFill>
          <p:spPr>
            <a:xfrm>
              <a:off x="9818235" y="4167592"/>
              <a:ext cx="158701" cy="144304"/>
            </a:xfrm>
            <a:prstGeom prst="rect">
              <a:avLst/>
            </a:prstGeom>
          </p:spPr>
        </p:pic>
      </p:grpSp>
      <p:sp>
        <p:nvSpPr>
          <p:cNvPr id="68" name="Rechteck 67">
            <a:extLst>
              <a:ext uri="{FF2B5EF4-FFF2-40B4-BE49-F238E27FC236}">
                <a16:creationId xmlns:a16="http://schemas.microsoft.com/office/drawing/2014/main" id="{34EF5FEA-BD94-F9C0-E142-5CE354455817}"/>
              </a:ext>
            </a:extLst>
          </p:cNvPr>
          <p:cNvSpPr/>
          <p:nvPr/>
        </p:nvSpPr>
        <p:spPr>
          <a:xfrm>
            <a:off x="9052453" y="3746415"/>
            <a:ext cx="540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4B38A73B-0B00-4555-A880-19D2EAF18335}"/>
              </a:ext>
            </a:extLst>
          </p:cNvPr>
          <p:cNvGrpSpPr/>
          <p:nvPr/>
        </p:nvGrpSpPr>
        <p:grpSpPr>
          <a:xfrm>
            <a:off x="7567595" y="3002745"/>
            <a:ext cx="1521537" cy="1523340"/>
            <a:chOff x="1878767" y="3039262"/>
            <a:chExt cx="1521537" cy="1523340"/>
          </a:xfrm>
        </p:grpSpPr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550B4D57-285B-925C-372E-1E1CD66D5F47}"/>
                </a:ext>
              </a:extLst>
            </p:cNvPr>
            <p:cNvSpPr/>
            <p:nvPr/>
          </p:nvSpPr>
          <p:spPr>
            <a:xfrm>
              <a:off x="1919536" y="3080030"/>
              <a:ext cx="1440000" cy="1440000"/>
            </a:xfrm>
            <a:prstGeom prst="ellipse">
              <a:avLst/>
            </a:prstGeom>
            <a:noFill/>
            <a:ln w="9525" cap="flat" cmpd="sng" algn="ctr">
              <a:solidFill>
                <a:schemeClr val="tx1">
                  <a:alpha val="6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/>
            </a:p>
          </p:txBody>
        </p:sp>
        <p:cxnSp>
          <p:nvCxnSpPr>
            <p:cNvPr id="270" name="Straight Connector 109">
              <a:extLst>
                <a:ext uri="{FF2B5EF4-FFF2-40B4-BE49-F238E27FC236}">
                  <a16:creationId xmlns:a16="http://schemas.microsoft.com/office/drawing/2014/main" id="{E0B492DB-C125-B02D-0789-4574F8785BEA}"/>
                </a:ext>
              </a:extLst>
            </p:cNvPr>
            <p:cNvCxnSpPr/>
            <p:nvPr/>
          </p:nvCxnSpPr>
          <p:spPr>
            <a:xfrm flipV="1">
              <a:off x="1957771" y="3804016"/>
              <a:ext cx="290836" cy="54563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0" name="Straight Connector 110">
              <a:extLst>
                <a:ext uri="{FF2B5EF4-FFF2-40B4-BE49-F238E27FC236}">
                  <a16:creationId xmlns:a16="http://schemas.microsoft.com/office/drawing/2014/main" id="{C53CB7F3-265C-8A6B-E990-56886BFE539B}"/>
                </a:ext>
              </a:extLst>
            </p:cNvPr>
            <p:cNvCxnSpPr>
              <a:cxnSpLocks/>
              <a:stCxn id="269" idx="4"/>
            </p:cNvCxnSpPr>
            <p:nvPr/>
          </p:nvCxnSpPr>
          <p:spPr>
            <a:xfrm flipH="1" flipV="1">
              <a:off x="2512140" y="4050421"/>
              <a:ext cx="127396" cy="46960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2" name="Straight Connector 111">
              <a:extLst>
                <a:ext uri="{FF2B5EF4-FFF2-40B4-BE49-F238E27FC236}">
                  <a16:creationId xmlns:a16="http://schemas.microsoft.com/office/drawing/2014/main" id="{AFC116E9-C2B2-3422-DA85-E1CFED8B37B0}"/>
                </a:ext>
              </a:extLst>
            </p:cNvPr>
            <p:cNvCxnSpPr/>
            <p:nvPr/>
          </p:nvCxnSpPr>
          <p:spPr>
            <a:xfrm flipH="1">
              <a:off x="1957771" y="4041961"/>
              <a:ext cx="548622" cy="306743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3" name="Straight Connector 112">
              <a:extLst>
                <a:ext uri="{FF2B5EF4-FFF2-40B4-BE49-F238E27FC236}">
                  <a16:creationId xmlns:a16="http://schemas.microsoft.com/office/drawing/2014/main" id="{C42C3876-C6EA-5011-58FC-1399C7123886}"/>
                </a:ext>
              </a:extLst>
            </p:cNvPr>
            <p:cNvCxnSpPr/>
            <p:nvPr/>
          </p:nvCxnSpPr>
          <p:spPr>
            <a:xfrm>
              <a:off x="1928027" y="3804016"/>
              <a:ext cx="581672" cy="23384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6" name="Straight Connector 113">
              <a:extLst>
                <a:ext uri="{FF2B5EF4-FFF2-40B4-BE49-F238E27FC236}">
                  <a16:creationId xmlns:a16="http://schemas.microsoft.com/office/drawing/2014/main" id="{ACE2F929-49F1-996B-C419-B32635D7CFF8}"/>
                </a:ext>
              </a:extLst>
            </p:cNvPr>
            <p:cNvCxnSpPr/>
            <p:nvPr/>
          </p:nvCxnSpPr>
          <p:spPr>
            <a:xfrm flipV="1">
              <a:off x="1921417" y="3541457"/>
              <a:ext cx="789884" cy="26255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87" name="Straight Connector 114">
              <a:extLst>
                <a:ext uri="{FF2B5EF4-FFF2-40B4-BE49-F238E27FC236}">
                  <a16:creationId xmlns:a16="http://schemas.microsoft.com/office/drawing/2014/main" id="{1D8E3B30-0427-6106-158A-94582B5ED3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9153" y="3377093"/>
              <a:ext cx="343318" cy="16601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66" name="Straight Connector 115">
              <a:extLst>
                <a:ext uri="{FF2B5EF4-FFF2-40B4-BE49-F238E27FC236}">
                  <a16:creationId xmlns:a16="http://schemas.microsoft.com/office/drawing/2014/main" id="{88B965A6-85E3-7EA1-68F4-F79FCEDECC82}"/>
                </a:ext>
              </a:extLst>
            </p:cNvPr>
            <p:cNvCxnSpPr/>
            <p:nvPr/>
          </p:nvCxnSpPr>
          <p:spPr>
            <a:xfrm flipH="1">
              <a:off x="2248607" y="3364244"/>
              <a:ext cx="130546" cy="442930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0" name="Straight Connector 116">
              <a:extLst>
                <a:ext uri="{FF2B5EF4-FFF2-40B4-BE49-F238E27FC236}">
                  <a16:creationId xmlns:a16="http://schemas.microsoft.com/office/drawing/2014/main" id="{F80B8368-E83E-E766-C2A6-E1401A9561B4}"/>
                </a:ext>
              </a:extLst>
            </p:cNvPr>
            <p:cNvCxnSpPr>
              <a:cxnSpLocks/>
              <a:stCxn id="269" idx="4"/>
            </p:cNvCxnSpPr>
            <p:nvPr/>
          </p:nvCxnSpPr>
          <p:spPr>
            <a:xfrm flipV="1">
              <a:off x="2639536" y="4069641"/>
              <a:ext cx="374607" cy="45038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1" name="Straight Connector 117">
              <a:extLst>
                <a:ext uri="{FF2B5EF4-FFF2-40B4-BE49-F238E27FC236}">
                  <a16:creationId xmlns:a16="http://schemas.microsoft.com/office/drawing/2014/main" id="{CD989DF7-1C8D-B8D5-1766-1437FC73F7DD}"/>
                </a:ext>
              </a:extLst>
            </p:cNvPr>
            <p:cNvCxnSpPr>
              <a:cxnSpLocks/>
            </p:cNvCxnSpPr>
            <p:nvPr/>
          </p:nvCxnSpPr>
          <p:spPr>
            <a:xfrm>
              <a:off x="2509699" y="4034700"/>
              <a:ext cx="612793" cy="31400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2" name="Straight Connector 118">
              <a:extLst>
                <a:ext uri="{FF2B5EF4-FFF2-40B4-BE49-F238E27FC236}">
                  <a16:creationId xmlns:a16="http://schemas.microsoft.com/office/drawing/2014/main" id="{995D9221-B87C-7C65-B17E-C7AF20BEAE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9604" y="3426587"/>
              <a:ext cx="228237" cy="644083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3" name="Straight Connector 119">
              <a:extLst>
                <a:ext uri="{FF2B5EF4-FFF2-40B4-BE49-F238E27FC236}">
                  <a16:creationId xmlns:a16="http://schemas.microsoft.com/office/drawing/2014/main" id="{7A52965A-1885-E2B9-8E47-DF401C826CE8}"/>
                </a:ext>
              </a:extLst>
            </p:cNvPr>
            <p:cNvCxnSpPr/>
            <p:nvPr/>
          </p:nvCxnSpPr>
          <p:spPr>
            <a:xfrm flipH="1">
              <a:off x="2506394" y="3426587"/>
              <a:ext cx="730921" cy="61537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4" name="Straight Connector 120">
              <a:extLst>
                <a:ext uri="{FF2B5EF4-FFF2-40B4-BE49-F238E27FC236}">
                  <a16:creationId xmlns:a16="http://schemas.microsoft.com/office/drawing/2014/main" id="{E5CFE188-05E3-AFE6-2873-A011014D8F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6343" y="3541457"/>
              <a:ext cx="451216" cy="732265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5" name="Straight Connector 121">
              <a:extLst>
                <a:ext uri="{FF2B5EF4-FFF2-40B4-BE49-F238E27FC236}">
                  <a16:creationId xmlns:a16="http://schemas.microsoft.com/office/drawing/2014/main" id="{D4BC5D5C-0F14-389A-A866-3617AAC4F439}"/>
                </a:ext>
              </a:extLst>
            </p:cNvPr>
            <p:cNvCxnSpPr/>
            <p:nvPr/>
          </p:nvCxnSpPr>
          <p:spPr>
            <a:xfrm flipV="1">
              <a:off x="2717513" y="3426587"/>
              <a:ext cx="525488" cy="114870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7" name="Straight Connector 122">
              <a:extLst>
                <a:ext uri="{FF2B5EF4-FFF2-40B4-BE49-F238E27FC236}">
                  <a16:creationId xmlns:a16="http://schemas.microsoft.com/office/drawing/2014/main" id="{FA2D587A-1F28-F462-6708-7A4707373ECD}"/>
                </a:ext>
              </a:extLst>
            </p:cNvPr>
            <p:cNvCxnSpPr/>
            <p:nvPr/>
          </p:nvCxnSpPr>
          <p:spPr>
            <a:xfrm flipV="1">
              <a:off x="2379153" y="3076652"/>
              <a:ext cx="255152" cy="287592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123">
              <a:extLst>
                <a:ext uri="{FF2B5EF4-FFF2-40B4-BE49-F238E27FC236}">
                  <a16:creationId xmlns:a16="http://schemas.microsoft.com/office/drawing/2014/main" id="{C5B6FA37-7825-C646-79F7-0F07998FACB4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80" y="3076652"/>
              <a:ext cx="82226" cy="475309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0" name="Straight Connector 124">
              <a:extLst>
                <a:ext uri="{FF2B5EF4-FFF2-40B4-BE49-F238E27FC236}">
                  <a16:creationId xmlns:a16="http://schemas.microsoft.com/office/drawing/2014/main" id="{6D0875EB-4CD2-4413-6C19-E1FBC4655FC5}"/>
                </a:ext>
              </a:extLst>
            </p:cNvPr>
            <p:cNvCxnSpPr/>
            <p:nvPr/>
          </p:nvCxnSpPr>
          <p:spPr>
            <a:xfrm flipH="1">
              <a:off x="2500708" y="3564810"/>
              <a:ext cx="205109" cy="485611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2" name="Straight Connector 125">
              <a:extLst>
                <a:ext uri="{FF2B5EF4-FFF2-40B4-BE49-F238E27FC236}">
                  <a16:creationId xmlns:a16="http://schemas.microsoft.com/office/drawing/2014/main" id="{CC22C7E9-5F54-2A65-54C9-4804AEE7C189}"/>
                </a:ext>
              </a:extLst>
            </p:cNvPr>
            <p:cNvCxnSpPr/>
            <p:nvPr/>
          </p:nvCxnSpPr>
          <p:spPr>
            <a:xfrm>
              <a:off x="2375848" y="3372991"/>
              <a:ext cx="127966" cy="683174"/>
            </a:xfrm>
            <a:prstGeom prst="line">
              <a:avLst/>
            </a:prstGeom>
            <a:solidFill>
              <a:srgbClr val="465162"/>
            </a:solidFill>
            <a:ln w="6350" cap="flat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3577379F-CF9C-C093-DAF4-01B515131B34}"/>
                </a:ext>
              </a:extLst>
            </p:cNvPr>
            <p:cNvGrpSpPr/>
            <p:nvPr/>
          </p:nvGrpSpPr>
          <p:grpSpPr>
            <a:xfrm>
              <a:off x="2423536" y="3584030"/>
              <a:ext cx="432000" cy="432000"/>
              <a:chOff x="8167092" y="3151745"/>
              <a:chExt cx="432000" cy="432000"/>
            </a:xfrm>
          </p:grpSpPr>
          <p:sp>
            <p:nvSpPr>
              <p:cNvPr id="104" name="Ellipse 65">
                <a:extLst>
                  <a:ext uri="{FF2B5EF4-FFF2-40B4-BE49-F238E27FC236}">
                    <a16:creationId xmlns:a16="http://schemas.microsoft.com/office/drawing/2014/main" id="{0B6668EB-6071-9131-0260-139562984A2F}"/>
                  </a:ext>
                </a:extLst>
              </p:cNvPr>
              <p:cNvSpPr/>
              <p:nvPr/>
            </p:nvSpPr>
            <p:spPr>
              <a:xfrm>
                <a:off x="8167092" y="3151745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5" name="Picture 2">
                <a:extLst>
                  <a:ext uri="{FF2B5EF4-FFF2-40B4-BE49-F238E27FC236}">
                    <a16:creationId xmlns:a16="http://schemas.microsoft.com/office/drawing/2014/main" id="{3B700DA8-6304-4FC1-ECD5-6E6C9646A4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97845" y="3187745"/>
                <a:ext cx="370495" cy="3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AA7338DB-4587-F656-55C6-84123539C656}"/>
                </a:ext>
              </a:extLst>
            </p:cNvPr>
            <p:cNvGrpSpPr/>
            <p:nvPr/>
          </p:nvGrpSpPr>
          <p:grpSpPr>
            <a:xfrm>
              <a:off x="2930994" y="3076652"/>
              <a:ext cx="432000" cy="432000"/>
              <a:chOff x="2927536" y="3044415"/>
              <a:chExt cx="432000" cy="432000"/>
            </a:xfrm>
          </p:grpSpPr>
          <p:sp>
            <p:nvSpPr>
              <p:cNvPr id="102" name="Ellipse 71">
                <a:extLst>
                  <a:ext uri="{FF2B5EF4-FFF2-40B4-BE49-F238E27FC236}">
                    <a16:creationId xmlns:a16="http://schemas.microsoft.com/office/drawing/2014/main" id="{1102123A-1FC0-A361-7280-7A442E1572A7}"/>
                  </a:ext>
                </a:extLst>
              </p:cNvPr>
              <p:cNvSpPr/>
              <p:nvPr/>
            </p:nvSpPr>
            <p:spPr>
              <a:xfrm>
                <a:off x="2927536" y="3044415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3" name="Grafik 102" descr="Dremio">
                <a:extLst>
                  <a:ext uri="{FF2B5EF4-FFF2-40B4-BE49-F238E27FC236}">
                    <a16:creationId xmlns:a16="http://schemas.microsoft.com/office/drawing/2014/main" id="{68FD41C8-DBB4-C7FF-6DB4-2BCAAE3448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7854"/>
              <a:stretch/>
            </p:blipFill>
            <p:spPr bwMode="auto">
              <a:xfrm>
                <a:off x="2984177" y="3124709"/>
                <a:ext cx="311139" cy="313072"/>
              </a:xfrm>
              <a:custGeom>
                <a:avLst/>
                <a:gdLst>
                  <a:gd name="connsiteX0" fmla="*/ 0 w 311139"/>
                  <a:gd name="connsiteY0" fmla="*/ 0 h 313072"/>
                  <a:gd name="connsiteX1" fmla="*/ 311139 w 311139"/>
                  <a:gd name="connsiteY1" fmla="*/ 0 h 313072"/>
                  <a:gd name="connsiteX2" fmla="*/ 311139 w 311139"/>
                  <a:gd name="connsiteY2" fmla="*/ 101360 h 313072"/>
                  <a:gd name="connsiteX3" fmla="*/ 307035 w 311139"/>
                  <a:gd name="connsiteY3" fmla="*/ 103408 h 313072"/>
                  <a:gd name="connsiteX4" fmla="*/ 254308 w 311139"/>
                  <a:gd name="connsiteY4" fmla="*/ 197630 h 313072"/>
                  <a:gd name="connsiteX5" fmla="*/ 307035 w 311139"/>
                  <a:gd name="connsiteY5" fmla="*/ 291852 h 313072"/>
                  <a:gd name="connsiteX6" fmla="*/ 311139 w 311139"/>
                  <a:gd name="connsiteY6" fmla="*/ 293900 h 313072"/>
                  <a:gd name="connsiteX7" fmla="*/ 311139 w 311139"/>
                  <a:gd name="connsiteY7" fmla="*/ 313072 h 313072"/>
                  <a:gd name="connsiteX8" fmla="*/ 0 w 311139"/>
                  <a:gd name="connsiteY8" fmla="*/ 313072 h 313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139" h="313072">
                    <a:moveTo>
                      <a:pt x="0" y="0"/>
                    </a:moveTo>
                    <a:lnTo>
                      <a:pt x="311139" y="0"/>
                    </a:lnTo>
                    <a:lnTo>
                      <a:pt x="311139" y="101360"/>
                    </a:lnTo>
                    <a:lnTo>
                      <a:pt x="307035" y="103408"/>
                    </a:lnTo>
                    <a:cubicBezTo>
                      <a:pt x="274458" y="127522"/>
                      <a:pt x="254308" y="160834"/>
                      <a:pt x="254308" y="197630"/>
                    </a:cubicBezTo>
                    <a:cubicBezTo>
                      <a:pt x="254308" y="234426"/>
                      <a:pt x="274458" y="267739"/>
                      <a:pt x="307035" y="291852"/>
                    </a:cubicBezTo>
                    <a:lnTo>
                      <a:pt x="311139" y="293900"/>
                    </a:lnTo>
                    <a:lnTo>
                      <a:pt x="311139" y="313072"/>
                    </a:lnTo>
                    <a:lnTo>
                      <a:pt x="0" y="313072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99C1A253-353E-FCCB-3CAD-081932A0DF2D}"/>
                </a:ext>
              </a:extLst>
            </p:cNvPr>
            <p:cNvGrpSpPr/>
            <p:nvPr/>
          </p:nvGrpSpPr>
          <p:grpSpPr>
            <a:xfrm>
              <a:off x="1916078" y="3076652"/>
              <a:ext cx="432000" cy="432000"/>
              <a:chOff x="1969702" y="3076969"/>
              <a:chExt cx="432000" cy="432000"/>
            </a:xfrm>
          </p:grpSpPr>
          <p:sp>
            <p:nvSpPr>
              <p:cNvPr id="99" name="Ellipse 65">
                <a:extLst>
                  <a:ext uri="{FF2B5EF4-FFF2-40B4-BE49-F238E27FC236}">
                    <a16:creationId xmlns:a16="http://schemas.microsoft.com/office/drawing/2014/main" id="{F65A5765-9FBE-9EF0-AA95-9F6B25ACB310}"/>
                  </a:ext>
                </a:extLst>
              </p:cNvPr>
              <p:cNvSpPr/>
              <p:nvPr/>
            </p:nvSpPr>
            <p:spPr>
              <a:xfrm>
                <a:off x="1969702" y="3076969"/>
                <a:ext cx="43200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01" name="Grafik 66" descr="Starburst - Analytics Anywhere">
                <a:extLst>
                  <a:ext uri="{FF2B5EF4-FFF2-40B4-BE49-F238E27FC236}">
                    <a16:creationId xmlns:a16="http://schemas.microsoft.com/office/drawing/2014/main" id="{E81686BB-0C1A-B551-E96B-ECEC28DFCF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8731"/>
              <a:stretch/>
            </p:blipFill>
            <p:spPr bwMode="auto">
              <a:xfrm>
                <a:off x="1993397" y="3104402"/>
                <a:ext cx="405322" cy="377135"/>
              </a:xfrm>
              <a:custGeom>
                <a:avLst/>
                <a:gdLst>
                  <a:gd name="connsiteX0" fmla="*/ 106609 w 497052"/>
                  <a:gd name="connsiteY0" fmla="*/ 0 h 462486"/>
                  <a:gd name="connsiteX1" fmla="*/ 357727 w 497052"/>
                  <a:gd name="connsiteY1" fmla="*/ 0 h 462486"/>
                  <a:gd name="connsiteX2" fmla="*/ 380267 w 497052"/>
                  <a:gd name="connsiteY2" fmla="*/ 12234 h 462486"/>
                  <a:gd name="connsiteX3" fmla="*/ 497052 w 497052"/>
                  <a:gd name="connsiteY3" fmla="*/ 231880 h 462486"/>
                  <a:gd name="connsiteX4" fmla="*/ 380267 w 497052"/>
                  <a:gd name="connsiteY4" fmla="*/ 451526 h 462486"/>
                  <a:gd name="connsiteX5" fmla="*/ 360075 w 497052"/>
                  <a:gd name="connsiteY5" fmla="*/ 462486 h 462486"/>
                  <a:gd name="connsiteX6" fmla="*/ 104261 w 497052"/>
                  <a:gd name="connsiteY6" fmla="*/ 462486 h 462486"/>
                  <a:gd name="connsiteX7" fmla="*/ 84069 w 497052"/>
                  <a:gd name="connsiteY7" fmla="*/ 451526 h 462486"/>
                  <a:gd name="connsiteX8" fmla="*/ 12522 w 497052"/>
                  <a:gd name="connsiteY8" fmla="*/ 379979 h 462486"/>
                  <a:gd name="connsiteX9" fmla="*/ 0 w 497052"/>
                  <a:gd name="connsiteY9" fmla="*/ 356909 h 462486"/>
                  <a:gd name="connsiteX10" fmla="*/ 0 w 497052"/>
                  <a:gd name="connsiteY10" fmla="*/ 106851 h 462486"/>
                  <a:gd name="connsiteX11" fmla="*/ 12522 w 497052"/>
                  <a:gd name="connsiteY11" fmla="*/ 83781 h 462486"/>
                  <a:gd name="connsiteX12" fmla="*/ 84069 w 497052"/>
                  <a:gd name="connsiteY12" fmla="*/ 12234 h 46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7052" h="462486">
                    <a:moveTo>
                      <a:pt x="106609" y="0"/>
                    </a:moveTo>
                    <a:lnTo>
                      <a:pt x="357727" y="0"/>
                    </a:lnTo>
                    <a:lnTo>
                      <a:pt x="380267" y="12234"/>
                    </a:lnTo>
                    <a:cubicBezTo>
                      <a:pt x="450727" y="59836"/>
                      <a:pt x="497052" y="140448"/>
                      <a:pt x="497052" y="231880"/>
                    </a:cubicBezTo>
                    <a:cubicBezTo>
                      <a:pt x="497052" y="323312"/>
                      <a:pt x="450727" y="403924"/>
                      <a:pt x="380267" y="451526"/>
                    </a:cubicBezTo>
                    <a:lnTo>
                      <a:pt x="360075" y="462486"/>
                    </a:lnTo>
                    <a:lnTo>
                      <a:pt x="104261" y="462486"/>
                    </a:lnTo>
                    <a:lnTo>
                      <a:pt x="84069" y="451526"/>
                    </a:lnTo>
                    <a:cubicBezTo>
                      <a:pt x="55885" y="432485"/>
                      <a:pt x="31563" y="408163"/>
                      <a:pt x="12522" y="379979"/>
                    </a:cubicBezTo>
                    <a:lnTo>
                      <a:pt x="0" y="356909"/>
                    </a:lnTo>
                    <a:lnTo>
                      <a:pt x="0" y="106851"/>
                    </a:lnTo>
                    <a:lnTo>
                      <a:pt x="12522" y="83781"/>
                    </a:lnTo>
                    <a:cubicBezTo>
                      <a:pt x="31563" y="55597"/>
                      <a:pt x="55885" y="31275"/>
                      <a:pt x="84069" y="12234"/>
                    </a:cubicBez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3C81C4E9-EC9E-F4B3-63F4-17A309F9A9D3}"/>
                </a:ext>
              </a:extLst>
            </p:cNvPr>
            <p:cNvGrpSpPr/>
            <p:nvPr/>
          </p:nvGrpSpPr>
          <p:grpSpPr>
            <a:xfrm>
              <a:off x="1916078" y="4086925"/>
              <a:ext cx="427890" cy="436483"/>
              <a:chOff x="1919539" y="4052415"/>
              <a:chExt cx="427890" cy="436483"/>
            </a:xfrm>
          </p:grpSpPr>
          <p:sp>
            <p:nvSpPr>
              <p:cNvPr id="97" name="Ellipse 51">
                <a:extLst>
                  <a:ext uri="{FF2B5EF4-FFF2-40B4-BE49-F238E27FC236}">
                    <a16:creationId xmlns:a16="http://schemas.microsoft.com/office/drawing/2014/main" id="{9E94C5C1-8688-CEC2-EE90-4013CA7CAD76}"/>
                  </a:ext>
                </a:extLst>
              </p:cNvPr>
              <p:cNvSpPr/>
              <p:nvPr/>
            </p:nvSpPr>
            <p:spPr>
              <a:xfrm>
                <a:off x="1919539" y="4052415"/>
                <a:ext cx="427890" cy="432000"/>
              </a:xfrm>
              <a:prstGeom prst="ellipse">
                <a:avLst/>
              </a:prstGeom>
              <a:solidFill>
                <a:srgbClr val="334862"/>
              </a:solidFill>
              <a:ln w="12700" cap="flat" cmpd="sng" algn="ctr">
                <a:solidFill>
                  <a:schemeClr val="tx1">
                    <a:alpha val="6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72000" tIns="72000" rIns="72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98" name="Picture 36" descr="Data Analysis using Amazon Athena">
                <a:extLst>
                  <a:ext uri="{FF2B5EF4-FFF2-40B4-BE49-F238E27FC236}">
                    <a16:creationId xmlns:a16="http://schemas.microsoft.com/office/drawing/2014/main" id="{21DBDFC0-6F48-EB65-C448-FA0D172FD9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0000"/>
              <a:stretch/>
            </p:blipFill>
            <p:spPr bwMode="auto">
              <a:xfrm>
                <a:off x="1952910" y="4085785"/>
                <a:ext cx="389267" cy="4031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7" name="Ellipse 68">
              <a:extLst>
                <a:ext uri="{FF2B5EF4-FFF2-40B4-BE49-F238E27FC236}">
                  <a16:creationId xmlns:a16="http://schemas.microsoft.com/office/drawing/2014/main" id="{6939FDA4-C890-B5B6-C0BD-0258C353EF81}"/>
                </a:ext>
              </a:extLst>
            </p:cNvPr>
            <p:cNvSpPr/>
            <p:nvPr/>
          </p:nvSpPr>
          <p:spPr>
            <a:xfrm>
              <a:off x="2930994" y="4091408"/>
              <a:ext cx="432000" cy="432000"/>
            </a:xfrm>
            <a:prstGeom prst="ellipse">
              <a:avLst/>
            </a:prstGeom>
            <a:solidFill>
              <a:srgbClr val="334862"/>
            </a:solidFill>
            <a:ln w="12700" cap="flat" cmpd="sng" algn="ctr">
              <a:solidFill>
                <a:schemeClr val="tx1">
                  <a:alpha val="60000"/>
                </a:schemeClr>
              </a:solidFill>
              <a:prstDash val="solid"/>
              <a:miter lim="800000"/>
            </a:ln>
            <a:effectLst/>
          </p:spPr>
          <p:txBody>
            <a:bodyPr lIns="72000" tIns="72000" rIns="72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88" name="Oval 200">
              <a:extLst>
                <a:ext uri="{FF2B5EF4-FFF2-40B4-BE49-F238E27FC236}">
                  <a16:creationId xmlns:a16="http://schemas.microsoft.com/office/drawing/2014/main" id="{A6A48E5F-5995-8104-F203-7F59F79DA155}"/>
                </a:ext>
              </a:extLst>
            </p:cNvPr>
            <p:cNvSpPr/>
            <p:nvPr/>
          </p:nvSpPr>
          <p:spPr>
            <a:xfrm rot="19785650" flipH="1">
              <a:off x="2603535" y="303926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89" name="Oval 202">
              <a:extLst>
                <a:ext uri="{FF2B5EF4-FFF2-40B4-BE49-F238E27FC236}">
                  <a16:creationId xmlns:a16="http://schemas.microsoft.com/office/drawing/2014/main" id="{8412EE64-F9AF-E116-7660-A3BA2E36EC29}"/>
                </a:ext>
              </a:extLst>
            </p:cNvPr>
            <p:cNvSpPr/>
            <p:nvPr/>
          </p:nvSpPr>
          <p:spPr>
            <a:xfrm rot="19785650" flipH="1">
              <a:off x="1878767" y="3761789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0" name="Oval 203">
              <a:extLst>
                <a:ext uri="{FF2B5EF4-FFF2-40B4-BE49-F238E27FC236}">
                  <a16:creationId xmlns:a16="http://schemas.microsoft.com/office/drawing/2014/main" id="{D4D50895-CA33-62C9-5E53-987FABD7B06F}"/>
                </a:ext>
              </a:extLst>
            </p:cNvPr>
            <p:cNvSpPr/>
            <p:nvPr/>
          </p:nvSpPr>
          <p:spPr>
            <a:xfrm rot="19785650" flipH="1">
              <a:off x="3328304" y="3764030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1" name="Oval 204">
              <a:extLst>
                <a:ext uri="{FF2B5EF4-FFF2-40B4-BE49-F238E27FC236}">
                  <a16:creationId xmlns:a16="http://schemas.microsoft.com/office/drawing/2014/main" id="{BFE9F7DF-0435-A912-0587-5ADCA3227D90}"/>
                </a:ext>
              </a:extLst>
            </p:cNvPr>
            <p:cNvSpPr/>
            <p:nvPr/>
          </p:nvSpPr>
          <p:spPr>
            <a:xfrm rot="19785650" flipH="1">
              <a:off x="2601480" y="449060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2" name="Oval 202">
              <a:extLst>
                <a:ext uri="{FF2B5EF4-FFF2-40B4-BE49-F238E27FC236}">
                  <a16:creationId xmlns:a16="http://schemas.microsoft.com/office/drawing/2014/main" id="{5C54FF0F-67BD-7FE0-16CE-98815BE1316C}"/>
                </a:ext>
              </a:extLst>
            </p:cNvPr>
            <p:cNvSpPr/>
            <p:nvPr/>
          </p:nvSpPr>
          <p:spPr>
            <a:xfrm rot="19785650" flipH="1">
              <a:off x="2349817" y="3347015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3" name="Oval 202">
              <a:extLst>
                <a:ext uri="{FF2B5EF4-FFF2-40B4-BE49-F238E27FC236}">
                  <a16:creationId xmlns:a16="http://schemas.microsoft.com/office/drawing/2014/main" id="{65A1A12A-F45F-F7A9-43D8-0AE33A9DEE8E}"/>
                </a:ext>
              </a:extLst>
            </p:cNvPr>
            <p:cNvSpPr/>
            <p:nvPr/>
          </p:nvSpPr>
          <p:spPr>
            <a:xfrm rot="19785650" flipH="1">
              <a:off x="2674585" y="3494652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4" name="Oval 202">
              <a:extLst>
                <a:ext uri="{FF2B5EF4-FFF2-40B4-BE49-F238E27FC236}">
                  <a16:creationId xmlns:a16="http://schemas.microsoft.com/office/drawing/2014/main" id="{432EC47D-36A6-523F-B8AA-51AF8BF1D55A}"/>
                </a:ext>
              </a:extLst>
            </p:cNvPr>
            <p:cNvSpPr/>
            <p:nvPr/>
          </p:nvSpPr>
          <p:spPr>
            <a:xfrm rot="19785650" flipH="1">
              <a:off x="2986432" y="4025746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5" name="Oval 202">
              <a:extLst>
                <a:ext uri="{FF2B5EF4-FFF2-40B4-BE49-F238E27FC236}">
                  <a16:creationId xmlns:a16="http://schemas.microsoft.com/office/drawing/2014/main" id="{20FD76F0-2047-37B3-162B-701444C3DE5F}"/>
                </a:ext>
              </a:extLst>
            </p:cNvPr>
            <p:cNvSpPr/>
            <p:nvPr/>
          </p:nvSpPr>
          <p:spPr>
            <a:xfrm rot="19785650" flipH="1">
              <a:off x="2460639" y="4006696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  <p:sp>
          <p:nvSpPr>
            <p:cNvPr id="96" name="Oval 202">
              <a:extLst>
                <a:ext uri="{FF2B5EF4-FFF2-40B4-BE49-F238E27FC236}">
                  <a16:creationId xmlns:a16="http://schemas.microsoft.com/office/drawing/2014/main" id="{8EFA776B-02AB-1E5B-E3F1-AAC1D9820EAB}"/>
                </a:ext>
              </a:extLst>
            </p:cNvPr>
            <p:cNvSpPr/>
            <p:nvPr/>
          </p:nvSpPr>
          <p:spPr>
            <a:xfrm rot="19785650" flipH="1">
              <a:off x="2221367" y="3768931"/>
              <a:ext cx="72000" cy="72000"/>
            </a:xfrm>
            <a:prstGeom prst="ellipse">
              <a:avLst/>
            </a:prstGeom>
            <a:solidFill>
              <a:srgbClr val="334862"/>
            </a:solidFill>
            <a:ln w="9525" cap="flat" cmpd="sng" algn="ctr">
              <a:solidFill>
                <a:srgbClr val="99A3B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/>
              </a:endParaRPr>
            </a:p>
          </p:txBody>
        </p:sp>
      </p:grpSp>
      <p:sp>
        <p:nvSpPr>
          <p:cNvPr id="107" name="Rechteck 106">
            <a:extLst>
              <a:ext uri="{FF2B5EF4-FFF2-40B4-BE49-F238E27FC236}">
                <a16:creationId xmlns:a16="http://schemas.microsoft.com/office/drawing/2014/main" id="{45E99B06-F0C5-8C5D-C437-567CF8C06B34}"/>
              </a:ext>
            </a:extLst>
          </p:cNvPr>
          <p:cNvSpPr/>
          <p:nvPr/>
        </p:nvSpPr>
        <p:spPr>
          <a:xfrm rot="5400000">
            <a:off x="8650169" y="3787382"/>
            <a:ext cx="1192466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1" name="Straight Connector 121">
            <a:extLst>
              <a:ext uri="{FF2B5EF4-FFF2-40B4-BE49-F238E27FC236}">
                <a16:creationId xmlns:a16="http://schemas.microsoft.com/office/drawing/2014/main" id="{A5C2ADB1-81D6-C006-6215-8FBB1A0C6C25}"/>
              </a:ext>
            </a:extLst>
          </p:cNvPr>
          <p:cNvCxnSpPr>
            <a:cxnSpLocks/>
            <a:stCxn id="93" idx="3"/>
            <a:endCxn id="90" idx="7"/>
          </p:cNvCxnSpPr>
          <p:nvPr/>
        </p:nvCxnSpPr>
        <p:spPr>
          <a:xfrm>
            <a:off x="8434225" y="3503307"/>
            <a:ext cx="584095" cy="251034"/>
          </a:xfrm>
          <a:prstGeom prst="line">
            <a:avLst/>
          </a:prstGeom>
          <a:solidFill>
            <a:srgbClr val="465162"/>
          </a:solidFill>
          <a:ln w="6350" cap="flat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116" name="Straight Connector 121">
            <a:extLst>
              <a:ext uri="{FF2B5EF4-FFF2-40B4-BE49-F238E27FC236}">
                <a16:creationId xmlns:a16="http://schemas.microsoft.com/office/drawing/2014/main" id="{7F43521F-7181-BA2A-D790-5E818257226A}"/>
              </a:ext>
            </a:extLst>
          </p:cNvPr>
          <p:cNvCxnSpPr>
            <a:cxnSpLocks/>
            <a:stCxn id="94" idx="1"/>
            <a:endCxn id="90" idx="6"/>
          </p:cNvCxnSpPr>
          <p:nvPr/>
        </p:nvCxnSpPr>
        <p:spPr>
          <a:xfrm flipV="1">
            <a:off x="8720432" y="3781643"/>
            <a:ext cx="301598" cy="208774"/>
          </a:xfrm>
          <a:prstGeom prst="line">
            <a:avLst/>
          </a:prstGeom>
          <a:solidFill>
            <a:srgbClr val="465162"/>
          </a:solidFill>
          <a:ln w="6350" cap="flat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sp>
        <p:nvSpPr>
          <p:cNvPr id="120" name="Oval 202">
            <a:extLst>
              <a:ext uri="{FF2B5EF4-FFF2-40B4-BE49-F238E27FC236}">
                <a16:creationId xmlns:a16="http://schemas.microsoft.com/office/drawing/2014/main" id="{40B3A618-E894-6BDF-66D4-14265DC215A6}"/>
              </a:ext>
            </a:extLst>
          </p:cNvPr>
          <p:cNvSpPr/>
          <p:nvPr/>
        </p:nvSpPr>
        <p:spPr>
          <a:xfrm rot="19785650" flipH="1">
            <a:off x="8780980" y="3635935"/>
            <a:ext cx="72000" cy="72000"/>
          </a:xfrm>
          <a:prstGeom prst="ellipse">
            <a:avLst/>
          </a:prstGeom>
          <a:solidFill>
            <a:srgbClr val="334862"/>
          </a:solidFill>
          <a:ln w="9525" cap="flat" cmpd="sng" algn="ctr">
            <a:solidFill>
              <a:srgbClr val="99A3B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C012EA8-7807-6081-B08D-3D5608CDF3DD}"/>
              </a:ext>
            </a:extLst>
          </p:cNvPr>
          <p:cNvSpPr/>
          <p:nvPr/>
        </p:nvSpPr>
        <p:spPr>
          <a:xfrm>
            <a:off x="409278" y="5733280"/>
            <a:ext cx="11376000" cy="432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32D6F41-1B27-1E93-50E5-3CA652011940}"/>
              </a:ext>
            </a:extLst>
          </p:cNvPr>
          <p:cNvSpPr/>
          <p:nvPr/>
        </p:nvSpPr>
        <p:spPr>
          <a:xfrm>
            <a:off x="669111" y="5769099"/>
            <a:ext cx="10856335" cy="360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By utilizing </a:t>
            </a:r>
            <a:r>
              <a:rPr lang="en-US" err="1">
                <a:solidFill>
                  <a:schemeClr val="accent3"/>
                </a:solidFill>
              </a:rPr>
              <a:t>Icerberg</a:t>
            </a:r>
            <a:r>
              <a:rPr lang="en-US">
                <a:solidFill>
                  <a:schemeClr val="accent3"/>
                </a:solidFill>
              </a:rPr>
              <a:t> Table </a:t>
            </a:r>
            <a:r>
              <a:rPr lang="en-US">
                <a:solidFill>
                  <a:schemeClr val="tx1"/>
                </a:solidFill>
              </a:rPr>
              <a:t>Format the LDF Data Platform aligns with the most recent approval from SDC</a:t>
            </a:r>
          </a:p>
        </p:txBody>
      </p:sp>
      <p:cxnSp>
        <p:nvCxnSpPr>
          <p:cNvPr id="14" name="Straight Connector 76">
            <a:extLst>
              <a:ext uri="{FF2B5EF4-FFF2-40B4-BE49-F238E27FC236}">
                <a16:creationId xmlns:a16="http://schemas.microsoft.com/office/drawing/2014/main" id="{95B64378-028B-71FD-683B-8EBA152BFB8E}"/>
              </a:ext>
            </a:extLst>
          </p:cNvPr>
          <p:cNvCxnSpPr>
            <a:cxnSpLocks/>
          </p:cNvCxnSpPr>
          <p:nvPr/>
        </p:nvCxnSpPr>
        <p:spPr>
          <a:xfrm>
            <a:off x="407368" y="5731162"/>
            <a:ext cx="11376000" cy="0"/>
          </a:xfrm>
          <a:prstGeom prst="line">
            <a:avLst/>
          </a:prstGeom>
          <a:ln w="9525">
            <a:solidFill>
              <a:schemeClr val="accent3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69F9B9CF-1DE4-244D-664B-E85E940F57A1}"/>
              </a:ext>
            </a:extLst>
          </p:cNvPr>
          <p:cNvSpPr/>
          <p:nvPr/>
        </p:nvSpPr>
        <p:spPr>
          <a:xfrm>
            <a:off x="6024558" y="5661264"/>
            <a:ext cx="142259" cy="69898"/>
          </a:xfrm>
          <a:custGeom>
            <a:avLst/>
            <a:gdLst>
              <a:gd name="connsiteX0" fmla="*/ 71129 w 142259"/>
              <a:gd name="connsiteY0" fmla="*/ 0 h 69898"/>
              <a:gd name="connsiteX1" fmla="*/ 122041 w 142259"/>
              <a:gd name="connsiteY1" fmla="*/ 21088 h 69898"/>
              <a:gd name="connsiteX2" fmla="*/ 142259 w 142259"/>
              <a:gd name="connsiteY2" fmla="*/ 69898 h 69898"/>
              <a:gd name="connsiteX3" fmla="*/ 0 w 142259"/>
              <a:gd name="connsiteY3" fmla="*/ 69898 h 69898"/>
              <a:gd name="connsiteX4" fmla="*/ 20217 w 142259"/>
              <a:gd name="connsiteY4" fmla="*/ 21088 h 69898"/>
              <a:gd name="connsiteX5" fmla="*/ 71129 w 142259"/>
              <a:gd name="connsiteY5" fmla="*/ 0 h 6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59" h="69898">
                <a:moveTo>
                  <a:pt x="71129" y="0"/>
                </a:moveTo>
                <a:cubicBezTo>
                  <a:pt x="91012" y="0"/>
                  <a:pt x="109012" y="8059"/>
                  <a:pt x="122041" y="21088"/>
                </a:cubicBezTo>
                <a:lnTo>
                  <a:pt x="142259" y="69898"/>
                </a:lnTo>
                <a:lnTo>
                  <a:pt x="0" y="69898"/>
                </a:lnTo>
                <a:lnTo>
                  <a:pt x="20217" y="21088"/>
                </a:lnTo>
                <a:cubicBezTo>
                  <a:pt x="33247" y="8059"/>
                  <a:pt x="51247" y="0"/>
                  <a:pt x="7112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8E71E4D-49F0-902F-9F1A-FB26C5B385E5}"/>
              </a:ext>
            </a:extLst>
          </p:cNvPr>
          <p:cNvSpPr/>
          <p:nvPr/>
        </p:nvSpPr>
        <p:spPr>
          <a:xfrm>
            <a:off x="5591944" y="6381328"/>
            <a:ext cx="468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"/>
              <a:t>Link to SDC </a:t>
            </a:r>
            <a:r>
              <a:rPr lang="en-US" sz="800" err="1"/>
              <a:t>Approcal</a:t>
            </a:r>
            <a:r>
              <a:rPr lang="en-US" sz="800"/>
              <a:t>: </a:t>
            </a:r>
            <a:r>
              <a:rPr lang="de-DE" sz="800">
                <a:effectLst/>
                <a:hlinkClick r:id="rId32" tooltip="https://wiki.siemens.com/pages/viewpage.action?pageid=371235852"/>
              </a:rPr>
              <a:t>https://wiki.siemens.com/pages/viewpage.action?pageId=371235852</a:t>
            </a:r>
            <a:endParaRPr lang="en-US" sz="800"/>
          </a:p>
        </p:txBody>
      </p:sp>
      <p:cxnSp>
        <p:nvCxnSpPr>
          <p:cNvPr id="17" name="Straight Connector 76">
            <a:extLst>
              <a:ext uri="{FF2B5EF4-FFF2-40B4-BE49-F238E27FC236}">
                <a16:creationId xmlns:a16="http://schemas.microsoft.com/office/drawing/2014/main" id="{052454E0-BA6E-8121-9E5D-08E68382E76A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6095687" y="4831098"/>
            <a:ext cx="0" cy="830166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5400000" scaled="1"/>
              <a:tileRect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B76F5094-199D-CFE4-CBDA-A469854EC242}"/>
              </a:ext>
            </a:extLst>
          </p:cNvPr>
          <p:cNvSpPr/>
          <p:nvPr/>
        </p:nvSpPr>
        <p:spPr>
          <a:xfrm>
            <a:off x="6024558" y="5661264"/>
            <a:ext cx="142259" cy="69898"/>
          </a:xfrm>
          <a:custGeom>
            <a:avLst/>
            <a:gdLst>
              <a:gd name="connsiteX0" fmla="*/ 71129 w 142259"/>
              <a:gd name="connsiteY0" fmla="*/ 0 h 69898"/>
              <a:gd name="connsiteX1" fmla="*/ 122041 w 142259"/>
              <a:gd name="connsiteY1" fmla="*/ 21088 h 69898"/>
              <a:gd name="connsiteX2" fmla="*/ 142259 w 142259"/>
              <a:gd name="connsiteY2" fmla="*/ 69898 h 69898"/>
              <a:gd name="connsiteX3" fmla="*/ 0 w 142259"/>
              <a:gd name="connsiteY3" fmla="*/ 69898 h 69898"/>
              <a:gd name="connsiteX4" fmla="*/ 20217 w 142259"/>
              <a:gd name="connsiteY4" fmla="*/ 21088 h 69898"/>
              <a:gd name="connsiteX5" fmla="*/ 71129 w 142259"/>
              <a:gd name="connsiteY5" fmla="*/ 0 h 6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59" h="69898">
                <a:moveTo>
                  <a:pt x="71129" y="0"/>
                </a:moveTo>
                <a:cubicBezTo>
                  <a:pt x="91012" y="0"/>
                  <a:pt x="109012" y="8059"/>
                  <a:pt x="122041" y="21088"/>
                </a:cubicBezTo>
                <a:lnTo>
                  <a:pt x="142259" y="69898"/>
                </a:lnTo>
                <a:lnTo>
                  <a:pt x="0" y="69898"/>
                </a:lnTo>
                <a:lnTo>
                  <a:pt x="20217" y="21088"/>
                </a:lnTo>
                <a:cubicBezTo>
                  <a:pt x="33247" y="8059"/>
                  <a:pt x="51247" y="0"/>
                  <a:pt x="7112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cxnSp>
        <p:nvCxnSpPr>
          <p:cNvPr id="23" name="Straight Connector 76">
            <a:extLst>
              <a:ext uri="{FF2B5EF4-FFF2-40B4-BE49-F238E27FC236}">
                <a16:creationId xmlns:a16="http://schemas.microsoft.com/office/drawing/2014/main" id="{2BE924F8-B3E2-9984-D2CF-7B4F377FEC57}"/>
              </a:ext>
            </a:extLst>
          </p:cNvPr>
          <p:cNvCxnSpPr>
            <a:cxnSpLocks/>
            <a:stCxn id="31" idx="0"/>
          </p:cNvCxnSpPr>
          <p:nvPr/>
        </p:nvCxnSpPr>
        <p:spPr>
          <a:xfrm>
            <a:off x="6095687" y="4795066"/>
            <a:ext cx="0" cy="830166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5400000" scaled="1"/>
              <a:tileRect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ihandform: Form 227">
            <a:extLst>
              <a:ext uri="{FF2B5EF4-FFF2-40B4-BE49-F238E27FC236}">
                <a16:creationId xmlns:a16="http://schemas.microsoft.com/office/drawing/2014/main" id="{46A06854-5F6E-9F80-58C3-A04B2DF97E3C}"/>
              </a:ext>
            </a:extLst>
          </p:cNvPr>
          <p:cNvSpPr/>
          <p:nvPr/>
        </p:nvSpPr>
        <p:spPr>
          <a:xfrm flipV="1">
            <a:off x="6024558" y="4725168"/>
            <a:ext cx="142259" cy="69898"/>
          </a:xfrm>
          <a:custGeom>
            <a:avLst/>
            <a:gdLst>
              <a:gd name="connsiteX0" fmla="*/ 71129 w 142259"/>
              <a:gd name="connsiteY0" fmla="*/ 0 h 69898"/>
              <a:gd name="connsiteX1" fmla="*/ 122041 w 142259"/>
              <a:gd name="connsiteY1" fmla="*/ 21088 h 69898"/>
              <a:gd name="connsiteX2" fmla="*/ 142259 w 142259"/>
              <a:gd name="connsiteY2" fmla="*/ 69898 h 69898"/>
              <a:gd name="connsiteX3" fmla="*/ 0 w 142259"/>
              <a:gd name="connsiteY3" fmla="*/ 69898 h 69898"/>
              <a:gd name="connsiteX4" fmla="*/ 20217 w 142259"/>
              <a:gd name="connsiteY4" fmla="*/ 21088 h 69898"/>
              <a:gd name="connsiteX5" fmla="*/ 71129 w 142259"/>
              <a:gd name="connsiteY5" fmla="*/ 0 h 6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59" h="69898">
                <a:moveTo>
                  <a:pt x="71129" y="0"/>
                </a:moveTo>
                <a:cubicBezTo>
                  <a:pt x="91012" y="0"/>
                  <a:pt x="109012" y="8059"/>
                  <a:pt x="122041" y="21088"/>
                </a:cubicBezTo>
                <a:lnTo>
                  <a:pt x="142259" y="69898"/>
                </a:lnTo>
                <a:lnTo>
                  <a:pt x="0" y="69898"/>
                </a:lnTo>
                <a:lnTo>
                  <a:pt x="20217" y="21088"/>
                </a:lnTo>
                <a:cubicBezTo>
                  <a:pt x="33247" y="8059"/>
                  <a:pt x="51247" y="0"/>
                  <a:pt x="711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cxnSp>
        <p:nvCxnSpPr>
          <p:cNvPr id="226" name="Straight Connector 76">
            <a:extLst>
              <a:ext uri="{FF2B5EF4-FFF2-40B4-BE49-F238E27FC236}">
                <a16:creationId xmlns:a16="http://schemas.microsoft.com/office/drawing/2014/main" id="{43236F22-3209-1EF8-711F-976BF2244FB3}"/>
              </a:ext>
            </a:extLst>
          </p:cNvPr>
          <p:cNvCxnSpPr>
            <a:cxnSpLocks/>
          </p:cNvCxnSpPr>
          <p:nvPr/>
        </p:nvCxnSpPr>
        <p:spPr>
          <a:xfrm flipH="1">
            <a:off x="6096004" y="1772816"/>
            <a:ext cx="1201" cy="612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36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716E4-BC9D-C16D-A950-5BEEA89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400" b="0">
                <a:solidFill>
                  <a:prstClr val="white"/>
                </a:solidFill>
                <a:latin typeface="Arial"/>
              </a:rPr>
              <a:t>2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Synergies of LDF Data Platform within SDC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/>
              <a:t>Main general aspects that we see on current data landscape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D94906-2428-0D76-5275-0D6A9689F6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LDF Data Platform | 2023-07-27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A92B96-3077-5A3C-34AD-8402F67204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6BDB01-AE8E-DFAC-141A-F28F42468D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2146" r="22146"/>
          <a:stretch>
            <a:fillRect/>
          </a:stretch>
        </p:blipFill>
        <p:spPr>
          <a:xfrm>
            <a:off x="4366269" y="1916837"/>
            <a:ext cx="3500886" cy="3433694"/>
          </a:xfrm>
          <a:custGeom>
            <a:avLst/>
            <a:gdLst>
              <a:gd name="connsiteX0" fmla="*/ 1740590 w 4320000"/>
              <a:gd name="connsiteY0" fmla="*/ 0 h 4237087"/>
              <a:gd name="connsiteX1" fmla="*/ 2579410 w 4320000"/>
              <a:gd name="connsiteY1" fmla="*/ 0 h 4237087"/>
              <a:gd name="connsiteX2" fmla="*/ 2595315 w 4320000"/>
              <a:gd name="connsiteY2" fmla="*/ 2428 h 4237087"/>
              <a:gd name="connsiteX3" fmla="*/ 4320000 w 4320000"/>
              <a:gd name="connsiteY3" fmla="*/ 2118544 h 4237087"/>
              <a:gd name="connsiteX4" fmla="*/ 2595315 w 4320000"/>
              <a:gd name="connsiteY4" fmla="*/ 4234661 h 4237087"/>
              <a:gd name="connsiteX5" fmla="*/ 2579416 w 4320000"/>
              <a:gd name="connsiteY5" fmla="*/ 4237087 h 4237087"/>
              <a:gd name="connsiteX6" fmla="*/ 1740584 w 4320000"/>
              <a:gd name="connsiteY6" fmla="*/ 4237087 h 4237087"/>
              <a:gd name="connsiteX7" fmla="*/ 1724685 w 4320000"/>
              <a:gd name="connsiteY7" fmla="*/ 4234661 h 4237087"/>
              <a:gd name="connsiteX8" fmla="*/ 0 w 4320000"/>
              <a:gd name="connsiteY8" fmla="*/ 2118544 h 4237087"/>
              <a:gd name="connsiteX9" fmla="*/ 1724685 w 4320000"/>
              <a:gd name="connsiteY9" fmla="*/ 2428 h 423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20000" h="4237087">
                <a:moveTo>
                  <a:pt x="1740590" y="0"/>
                </a:moveTo>
                <a:lnTo>
                  <a:pt x="2579410" y="0"/>
                </a:lnTo>
                <a:lnTo>
                  <a:pt x="2595315" y="2428"/>
                </a:lnTo>
                <a:cubicBezTo>
                  <a:pt x="3579591" y="203840"/>
                  <a:pt x="4320000" y="1074726"/>
                  <a:pt x="4320000" y="2118544"/>
                </a:cubicBezTo>
                <a:cubicBezTo>
                  <a:pt x="4320000" y="3162362"/>
                  <a:pt x="3579591" y="4033249"/>
                  <a:pt x="2595315" y="4234661"/>
                </a:cubicBezTo>
                <a:lnTo>
                  <a:pt x="2579416" y="4237087"/>
                </a:lnTo>
                <a:lnTo>
                  <a:pt x="1740584" y="4237087"/>
                </a:lnTo>
                <a:lnTo>
                  <a:pt x="1724685" y="4234661"/>
                </a:lnTo>
                <a:cubicBezTo>
                  <a:pt x="740409" y="4033249"/>
                  <a:pt x="0" y="3162362"/>
                  <a:pt x="0" y="2118544"/>
                </a:cubicBezTo>
                <a:cubicBezTo>
                  <a:pt x="0" y="1074726"/>
                  <a:pt x="740409" y="203840"/>
                  <a:pt x="1724685" y="2428"/>
                </a:cubicBezTo>
                <a:close/>
              </a:path>
            </a:pathLst>
          </a:cu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8E649ADC-9477-E7A5-2BDB-4C9BC7F5E352}"/>
              </a:ext>
            </a:extLst>
          </p:cNvPr>
          <p:cNvSpPr/>
          <p:nvPr/>
        </p:nvSpPr>
        <p:spPr>
          <a:xfrm>
            <a:off x="3936000" y="1485000"/>
            <a:ext cx="4320000" cy="4320000"/>
          </a:xfrm>
          <a:prstGeom prst="ellipse">
            <a:avLst/>
          </a:prstGeom>
          <a:gradFill flip="none" rotWithShape="1">
            <a:gsLst>
              <a:gs pos="100000">
                <a:srgbClr val="14596B">
                  <a:alpha val="0"/>
                </a:srgbClr>
              </a:gs>
              <a:gs pos="0">
                <a:srgbClr val="12ABDB">
                  <a:alpha val="20000"/>
                </a:srgbClr>
              </a:gs>
              <a:gs pos="50000">
                <a:srgbClr val="0070AD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de-DE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95E2C127-811C-7C2E-313E-2E1CAE310409}"/>
              </a:ext>
            </a:extLst>
          </p:cNvPr>
          <p:cNvSpPr/>
          <p:nvPr/>
        </p:nvSpPr>
        <p:spPr>
          <a:xfrm>
            <a:off x="3941114" y="1490455"/>
            <a:ext cx="2046886" cy="2046545"/>
          </a:xfrm>
          <a:custGeom>
            <a:avLst/>
            <a:gdLst>
              <a:gd name="connsiteX0" fmla="*/ 2046886 w 2046886"/>
              <a:gd name="connsiteY0" fmla="*/ 0 h 2046545"/>
              <a:gd name="connsiteX1" fmla="*/ 2046886 w 2046886"/>
              <a:gd name="connsiteY1" fmla="*/ 359999 h 2046545"/>
              <a:gd name="connsiteX2" fmla="*/ 1970846 w 2046886"/>
              <a:gd name="connsiteY2" fmla="*/ 363839 h 2046545"/>
              <a:gd name="connsiteX3" fmla="*/ 363062 w 2046886"/>
              <a:gd name="connsiteY3" fmla="*/ 1981862 h 2046545"/>
              <a:gd name="connsiteX4" fmla="*/ 360000 w 2046886"/>
              <a:gd name="connsiteY4" fmla="*/ 2046545 h 2046545"/>
              <a:gd name="connsiteX5" fmla="*/ 0 w 2046886"/>
              <a:gd name="connsiteY5" fmla="*/ 2046545 h 2046545"/>
              <a:gd name="connsiteX6" fmla="*/ 4697 w 2046886"/>
              <a:gd name="connsiteY6" fmla="*/ 1947326 h 2046545"/>
              <a:gd name="connsiteX7" fmla="*/ 1934039 w 2046886"/>
              <a:gd name="connsiteY7" fmla="*/ 5698 h 2046545"/>
              <a:gd name="connsiteX8" fmla="*/ 2046886 w 2046886"/>
              <a:gd name="connsiteY8" fmla="*/ 0 h 204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6886" h="2046545">
                <a:moveTo>
                  <a:pt x="2046886" y="0"/>
                </a:moveTo>
                <a:lnTo>
                  <a:pt x="2046886" y="359999"/>
                </a:lnTo>
                <a:lnTo>
                  <a:pt x="1970846" y="363839"/>
                </a:lnTo>
                <a:cubicBezTo>
                  <a:pt x="1119914" y="450256"/>
                  <a:pt x="444202" y="1129381"/>
                  <a:pt x="363062" y="1981862"/>
                </a:cubicBezTo>
                <a:lnTo>
                  <a:pt x="360000" y="2046545"/>
                </a:lnTo>
                <a:lnTo>
                  <a:pt x="0" y="2046545"/>
                </a:lnTo>
                <a:lnTo>
                  <a:pt x="4697" y="1947326"/>
                </a:lnTo>
                <a:cubicBezTo>
                  <a:pt x="102066" y="924349"/>
                  <a:pt x="912921" y="109398"/>
                  <a:pt x="1934039" y="5698"/>
                </a:cubicBezTo>
                <a:lnTo>
                  <a:pt x="2046886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tx1">
                  <a:alpha val="1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49779D5B-FF94-71B1-28FB-F1609F1F393E}"/>
              </a:ext>
            </a:extLst>
          </p:cNvPr>
          <p:cNvSpPr/>
          <p:nvPr/>
        </p:nvSpPr>
        <p:spPr>
          <a:xfrm>
            <a:off x="3941114" y="3753000"/>
            <a:ext cx="2046887" cy="2046548"/>
          </a:xfrm>
          <a:custGeom>
            <a:avLst/>
            <a:gdLst>
              <a:gd name="connsiteX0" fmla="*/ 0 w 2046887"/>
              <a:gd name="connsiteY0" fmla="*/ 0 h 2046548"/>
              <a:gd name="connsiteX1" fmla="*/ 360001 w 2046887"/>
              <a:gd name="connsiteY1" fmla="*/ 0 h 2046548"/>
              <a:gd name="connsiteX2" fmla="*/ 363063 w 2046887"/>
              <a:gd name="connsiteY2" fmla="*/ 64685 h 2046548"/>
              <a:gd name="connsiteX3" fmla="*/ 1970847 w 2046887"/>
              <a:gd name="connsiteY3" fmla="*/ 1682708 h 2046548"/>
              <a:gd name="connsiteX4" fmla="*/ 2046887 w 2046887"/>
              <a:gd name="connsiteY4" fmla="*/ 1686548 h 2046548"/>
              <a:gd name="connsiteX5" fmla="*/ 2046887 w 2046887"/>
              <a:gd name="connsiteY5" fmla="*/ 2046548 h 2046548"/>
              <a:gd name="connsiteX6" fmla="*/ 1934040 w 2046887"/>
              <a:gd name="connsiteY6" fmla="*/ 2040849 h 2046548"/>
              <a:gd name="connsiteX7" fmla="*/ 4698 w 2046887"/>
              <a:gd name="connsiteY7" fmla="*/ 99221 h 2046548"/>
              <a:gd name="connsiteX8" fmla="*/ 0 w 2046887"/>
              <a:gd name="connsiteY8" fmla="*/ 0 h 204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6887" h="2046548">
                <a:moveTo>
                  <a:pt x="0" y="0"/>
                </a:moveTo>
                <a:lnTo>
                  <a:pt x="360001" y="0"/>
                </a:lnTo>
                <a:lnTo>
                  <a:pt x="363063" y="64685"/>
                </a:lnTo>
                <a:cubicBezTo>
                  <a:pt x="444203" y="917166"/>
                  <a:pt x="1119915" y="1596291"/>
                  <a:pt x="1970847" y="1682708"/>
                </a:cubicBezTo>
                <a:lnTo>
                  <a:pt x="2046887" y="1686548"/>
                </a:lnTo>
                <a:lnTo>
                  <a:pt x="2046887" y="2046548"/>
                </a:lnTo>
                <a:lnTo>
                  <a:pt x="1934040" y="2040849"/>
                </a:lnTo>
                <a:cubicBezTo>
                  <a:pt x="912922" y="1937150"/>
                  <a:pt x="102067" y="1122199"/>
                  <a:pt x="4698" y="9922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tx1">
                  <a:alpha val="1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3AC8F597-AF3B-D6F7-2AEA-B73C7717BC94}"/>
              </a:ext>
            </a:extLst>
          </p:cNvPr>
          <p:cNvSpPr/>
          <p:nvPr/>
        </p:nvSpPr>
        <p:spPr>
          <a:xfrm>
            <a:off x="6204001" y="1490455"/>
            <a:ext cx="2046887" cy="2046545"/>
          </a:xfrm>
          <a:custGeom>
            <a:avLst/>
            <a:gdLst>
              <a:gd name="connsiteX0" fmla="*/ 0 w 2046887"/>
              <a:gd name="connsiteY0" fmla="*/ 0 h 2046545"/>
              <a:gd name="connsiteX1" fmla="*/ 112847 w 2046887"/>
              <a:gd name="connsiteY1" fmla="*/ 5698 h 2046545"/>
              <a:gd name="connsiteX2" fmla="*/ 2042189 w 2046887"/>
              <a:gd name="connsiteY2" fmla="*/ 1947326 h 2046545"/>
              <a:gd name="connsiteX3" fmla="*/ 2046887 w 2046887"/>
              <a:gd name="connsiteY3" fmla="*/ 2046545 h 2046545"/>
              <a:gd name="connsiteX4" fmla="*/ 1686887 w 2046887"/>
              <a:gd name="connsiteY4" fmla="*/ 2046545 h 2046545"/>
              <a:gd name="connsiteX5" fmla="*/ 1683824 w 2046887"/>
              <a:gd name="connsiteY5" fmla="*/ 1981862 h 2046545"/>
              <a:gd name="connsiteX6" fmla="*/ 76040 w 2046887"/>
              <a:gd name="connsiteY6" fmla="*/ 363839 h 2046545"/>
              <a:gd name="connsiteX7" fmla="*/ 0 w 2046887"/>
              <a:gd name="connsiteY7" fmla="*/ 359999 h 2046545"/>
              <a:gd name="connsiteX8" fmla="*/ 0 w 2046887"/>
              <a:gd name="connsiteY8" fmla="*/ 0 h 204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6887" h="2046545">
                <a:moveTo>
                  <a:pt x="0" y="0"/>
                </a:moveTo>
                <a:lnTo>
                  <a:pt x="112847" y="5698"/>
                </a:lnTo>
                <a:cubicBezTo>
                  <a:pt x="1133967" y="109398"/>
                  <a:pt x="1944821" y="924349"/>
                  <a:pt x="2042189" y="1947326"/>
                </a:cubicBezTo>
                <a:lnTo>
                  <a:pt x="2046887" y="2046545"/>
                </a:lnTo>
                <a:lnTo>
                  <a:pt x="1686887" y="2046545"/>
                </a:lnTo>
                <a:lnTo>
                  <a:pt x="1683824" y="1981862"/>
                </a:lnTo>
                <a:cubicBezTo>
                  <a:pt x="1602684" y="1129381"/>
                  <a:pt x="926972" y="450256"/>
                  <a:pt x="76040" y="363839"/>
                </a:cubicBezTo>
                <a:lnTo>
                  <a:pt x="0" y="35999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tx1">
                  <a:alpha val="1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9B74E40C-311A-C326-6CC6-F3D139C7DEEE}"/>
              </a:ext>
            </a:extLst>
          </p:cNvPr>
          <p:cNvSpPr/>
          <p:nvPr/>
        </p:nvSpPr>
        <p:spPr>
          <a:xfrm>
            <a:off x="6204001" y="3753000"/>
            <a:ext cx="2046887" cy="2046548"/>
          </a:xfrm>
          <a:custGeom>
            <a:avLst/>
            <a:gdLst>
              <a:gd name="connsiteX0" fmla="*/ 1686887 w 2046887"/>
              <a:gd name="connsiteY0" fmla="*/ 0 h 2046548"/>
              <a:gd name="connsiteX1" fmla="*/ 2046887 w 2046887"/>
              <a:gd name="connsiteY1" fmla="*/ 0 h 2046548"/>
              <a:gd name="connsiteX2" fmla="*/ 2042189 w 2046887"/>
              <a:gd name="connsiteY2" fmla="*/ 99221 h 2046548"/>
              <a:gd name="connsiteX3" fmla="*/ 112847 w 2046887"/>
              <a:gd name="connsiteY3" fmla="*/ 2040849 h 2046548"/>
              <a:gd name="connsiteX4" fmla="*/ 0 w 2046887"/>
              <a:gd name="connsiteY4" fmla="*/ 2046548 h 2046548"/>
              <a:gd name="connsiteX5" fmla="*/ 0 w 2046887"/>
              <a:gd name="connsiteY5" fmla="*/ 1686548 h 2046548"/>
              <a:gd name="connsiteX6" fmla="*/ 76040 w 2046887"/>
              <a:gd name="connsiteY6" fmla="*/ 1682708 h 2046548"/>
              <a:gd name="connsiteX7" fmla="*/ 1683824 w 2046887"/>
              <a:gd name="connsiteY7" fmla="*/ 64685 h 2046548"/>
              <a:gd name="connsiteX8" fmla="*/ 1686887 w 2046887"/>
              <a:gd name="connsiteY8" fmla="*/ 0 h 204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6887" h="2046548">
                <a:moveTo>
                  <a:pt x="1686887" y="0"/>
                </a:moveTo>
                <a:lnTo>
                  <a:pt x="2046887" y="0"/>
                </a:lnTo>
                <a:lnTo>
                  <a:pt x="2042189" y="99221"/>
                </a:lnTo>
                <a:cubicBezTo>
                  <a:pt x="1944821" y="1122199"/>
                  <a:pt x="1133967" y="1937150"/>
                  <a:pt x="112847" y="2040849"/>
                </a:cubicBezTo>
                <a:lnTo>
                  <a:pt x="0" y="2046548"/>
                </a:lnTo>
                <a:lnTo>
                  <a:pt x="0" y="1686548"/>
                </a:lnTo>
                <a:lnTo>
                  <a:pt x="76040" y="1682708"/>
                </a:lnTo>
                <a:cubicBezTo>
                  <a:pt x="926972" y="1596291"/>
                  <a:pt x="1602684" y="917166"/>
                  <a:pt x="1683824" y="64685"/>
                </a:cubicBezTo>
                <a:lnTo>
                  <a:pt x="1686887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tx1">
                  <a:alpha val="1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0D4B93D-085D-418C-4D89-A71EE64A46C7}"/>
              </a:ext>
            </a:extLst>
          </p:cNvPr>
          <p:cNvCxnSpPr>
            <a:cxnSpLocks/>
          </p:cNvCxnSpPr>
          <p:nvPr/>
        </p:nvCxnSpPr>
        <p:spPr>
          <a:xfrm>
            <a:off x="410400" y="4401000"/>
            <a:ext cx="3669600" cy="0"/>
          </a:xfrm>
          <a:prstGeom prst="line">
            <a:avLst/>
          </a:prstGeom>
          <a:ln w="9525">
            <a:solidFill>
              <a:srgbClr val="29B5E8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5C1F5BC-2DA9-780F-66F4-6653A4E2D178}"/>
              </a:ext>
            </a:extLst>
          </p:cNvPr>
          <p:cNvCxnSpPr>
            <a:cxnSpLocks/>
          </p:cNvCxnSpPr>
          <p:nvPr/>
        </p:nvCxnSpPr>
        <p:spPr>
          <a:xfrm>
            <a:off x="410400" y="2138455"/>
            <a:ext cx="4101600" cy="0"/>
          </a:xfrm>
          <a:prstGeom prst="line">
            <a:avLst/>
          </a:prstGeom>
          <a:ln w="9525">
            <a:solidFill>
              <a:srgbClr val="29B5E8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30DB301-1ECF-08BA-D8B1-77D2A1CC5EBE}"/>
              </a:ext>
            </a:extLst>
          </p:cNvPr>
          <p:cNvCxnSpPr>
            <a:cxnSpLocks/>
          </p:cNvCxnSpPr>
          <p:nvPr/>
        </p:nvCxnSpPr>
        <p:spPr>
          <a:xfrm>
            <a:off x="8112000" y="4401000"/>
            <a:ext cx="3672000" cy="0"/>
          </a:xfrm>
          <a:prstGeom prst="line">
            <a:avLst/>
          </a:prstGeom>
          <a:ln w="9525">
            <a:solidFill>
              <a:srgbClr val="29B5E8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DCA4CF5-2537-FB49-2F52-817363F64321}"/>
              </a:ext>
            </a:extLst>
          </p:cNvPr>
          <p:cNvCxnSpPr>
            <a:cxnSpLocks/>
          </p:cNvCxnSpPr>
          <p:nvPr/>
        </p:nvCxnSpPr>
        <p:spPr>
          <a:xfrm>
            <a:off x="7679999" y="2138455"/>
            <a:ext cx="4104000" cy="0"/>
          </a:xfrm>
          <a:prstGeom prst="line">
            <a:avLst/>
          </a:prstGeom>
          <a:ln w="9525">
            <a:solidFill>
              <a:srgbClr val="29B5E8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71AA3DC6-B7D3-08BD-73CD-06DC7AD04A54}"/>
              </a:ext>
            </a:extLst>
          </p:cNvPr>
          <p:cNvSpPr/>
          <p:nvPr/>
        </p:nvSpPr>
        <p:spPr>
          <a:xfrm>
            <a:off x="411163" y="1778455"/>
            <a:ext cx="3456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Technology that works together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D7DFCF-1BE6-117E-DE07-4F761A2C2011}"/>
              </a:ext>
            </a:extLst>
          </p:cNvPr>
          <p:cNvSpPr/>
          <p:nvPr/>
        </p:nvSpPr>
        <p:spPr>
          <a:xfrm>
            <a:off x="411163" y="4041000"/>
            <a:ext cx="3456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Common storage initiatives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53C6675-5160-C387-4739-09D3054220B9}"/>
              </a:ext>
            </a:extLst>
          </p:cNvPr>
          <p:cNvSpPr/>
          <p:nvPr/>
        </p:nvSpPr>
        <p:spPr>
          <a:xfrm>
            <a:off x="8328000" y="1778455"/>
            <a:ext cx="3456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Major players competing along cost and innovation fronts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BF281D3-01A1-00B1-4922-8505E85EA9BD}"/>
              </a:ext>
            </a:extLst>
          </p:cNvPr>
          <p:cNvSpPr/>
          <p:nvPr/>
        </p:nvSpPr>
        <p:spPr>
          <a:xfrm>
            <a:off x="8328000" y="4041000"/>
            <a:ext cx="3456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Scalability and flexibility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3D7F30E-01F1-3F2D-32A0-8E59AB79E101}"/>
              </a:ext>
            </a:extLst>
          </p:cNvPr>
          <p:cNvSpPr/>
          <p:nvPr/>
        </p:nvSpPr>
        <p:spPr>
          <a:xfrm>
            <a:off x="411163" y="2133000"/>
            <a:ext cx="345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towards interoperability and cultivate a toolchain that facilitates seamless native connections.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736A385-5AE1-66FB-A1D6-DF5D9AD84C7A}"/>
              </a:ext>
            </a:extLst>
          </p:cNvPr>
          <p:cNvSpPr/>
          <p:nvPr/>
        </p:nvSpPr>
        <p:spPr>
          <a:xfrm>
            <a:off x="411163" y="4395545"/>
            <a:ext cx="345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Facilitate the implementation of storage solutions that are vendor-agnostic, support open-source table formats and maintain compatibility with S3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7308D8D-4023-43C1-A759-59DAA2CABD8F}"/>
              </a:ext>
            </a:extLst>
          </p:cNvPr>
          <p:cNvSpPr/>
          <p:nvPr/>
        </p:nvSpPr>
        <p:spPr>
          <a:xfrm>
            <a:off x="8328000" y="2133000"/>
            <a:ext cx="345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Every cloud vendor recognizes data as a key asset and has launched innovation initiatives on data processing and analysis.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F365D6B-76DD-B84D-4591-CB791DDCC764}"/>
              </a:ext>
            </a:extLst>
          </p:cNvPr>
          <p:cNvSpPr/>
          <p:nvPr/>
        </p:nvSpPr>
        <p:spPr>
          <a:xfrm>
            <a:off x="8328000" y="4395545"/>
            <a:ext cx="3456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Steer clear of vendor-specific solutions and promote flexibility by embracing modular interchangeable options across vendors. Ensure the stability of the IT landscape when solutions are changed across the layers.</a:t>
            </a:r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D74BAAE7-00C9-50FF-1788-C144035BA4BD}"/>
              </a:ext>
            </a:extLst>
          </p:cNvPr>
          <p:cNvGrpSpPr>
            <a:grpSpLocks noChangeAspect="1"/>
          </p:cNvGrpSpPr>
          <p:nvPr/>
        </p:nvGrpSpPr>
        <p:grpSpPr>
          <a:xfrm>
            <a:off x="4633614" y="2902975"/>
            <a:ext cx="907085" cy="288000"/>
            <a:chOff x="2725555" y="1450001"/>
            <a:chExt cx="2524328" cy="801476"/>
          </a:xfrm>
        </p:grpSpPr>
        <p:pic>
          <p:nvPicPr>
            <p:cNvPr id="63" name="Picture 38">
              <a:extLst>
                <a:ext uri="{FF2B5EF4-FFF2-40B4-BE49-F238E27FC236}">
                  <a16:creationId xmlns:a16="http://schemas.microsoft.com/office/drawing/2014/main" id="{2291E057-E432-C944-9981-6747115281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5555" y="1450001"/>
              <a:ext cx="2524328" cy="801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38">
              <a:extLst>
                <a:ext uri="{FF2B5EF4-FFF2-40B4-BE49-F238E27FC236}">
                  <a16:creationId xmlns:a16="http://schemas.microsoft.com/office/drawing/2014/main" id="{950DDAC9-A40F-B119-D2E8-6ABED76FC7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26"/>
            <a:stretch/>
          </p:blipFill>
          <p:spPr bwMode="auto">
            <a:xfrm>
              <a:off x="3455747" y="1450001"/>
              <a:ext cx="1794135" cy="801476"/>
            </a:xfrm>
            <a:prstGeom prst="round2Same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246B44B2-C702-5354-0D07-725AF1683AD1}"/>
              </a:ext>
            </a:extLst>
          </p:cNvPr>
          <p:cNvGrpSpPr>
            <a:grpSpLocks noChangeAspect="1"/>
          </p:cNvGrpSpPr>
          <p:nvPr/>
        </p:nvGrpSpPr>
        <p:grpSpPr>
          <a:xfrm>
            <a:off x="6158084" y="3481861"/>
            <a:ext cx="1344438" cy="326278"/>
            <a:chOff x="2444572" y="3227288"/>
            <a:chExt cx="904346" cy="219475"/>
          </a:xfrm>
        </p:grpSpPr>
        <p:pic>
          <p:nvPicPr>
            <p:cNvPr id="68" name="Picture 8">
              <a:extLst>
                <a:ext uri="{FF2B5EF4-FFF2-40B4-BE49-F238E27FC236}">
                  <a16:creationId xmlns:a16="http://schemas.microsoft.com/office/drawing/2014/main" id="{EB107E9E-81EA-5130-F10B-DF023FB4DA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481"/>
            <a:stretch/>
          </p:blipFill>
          <p:spPr bwMode="auto">
            <a:xfrm>
              <a:off x="2444572" y="3227288"/>
              <a:ext cx="221535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2C9DA938-FBAD-62A8-053B-0B202AE24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2666107" y="3227288"/>
              <a:ext cx="682811" cy="219475"/>
            </a:xfrm>
            <a:prstGeom prst="rect">
              <a:avLst/>
            </a:prstGeom>
          </p:spPr>
        </p:pic>
      </p:grpSp>
      <p:grpSp>
        <p:nvGrpSpPr>
          <p:cNvPr id="33" name="Gruppieren 30">
            <a:extLst>
              <a:ext uri="{FF2B5EF4-FFF2-40B4-BE49-F238E27FC236}">
                <a16:creationId xmlns:a16="http://schemas.microsoft.com/office/drawing/2014/main" id="{7D7AB21D-1672-DDE1-ECD1-A66724A14EAE}"/>
              </a:ext>
            </a:extLst>
          </p:cNvPr>
          <p:cNvGrpSpPr>
            <a:grpSpLocks noChangeAspect="1"/>
          </p:cNvGrpSpPr>
          <p:nvPr/>
        </p:nvGrpSpPr>
        <p:grpSpPr>
          <a:xfrm>
            <a:off x="5770363" y="2251417"/>
            <a:ext cx="692698" cy="324000"/>
            <a:chOff x="4898814" y="2439286"/>
            <a:chExt cx="3693520" cy="1727594"/>
          </a:xfrm>
        </p:grpSpPr>
        <p:pic>
          <p:nvPicPr>
            <p:cNvPr id="34" name="Grafik 129">
              <a:extLst>
                <a:ext uri="{FF2B5EF4-FFF2-40B4-BE49-F238E27FC236}">
                  <a16:creationId xmlns:a16="http://schemas.microsoft.com/office/drawing/2014/main" id="{2427CBEC-69D1-B90A-936D-0A5A49ED5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3941"/>
            <a:stretch/>
          </p:blipFill>
          <p:spPr>
            <a:xfrm>
              <a:off x="6455999" y="2439286"/>
              <a:ext cx="2136335" cy="1727594"/>
            </a:xfrm>
            <a:prstGeom prst="rect">
              <a:avLst/>
            </a:prstGeom>
          </p:spPr>
        </p:pic>
        <p:pic>
          <p:nvPicPr>
            <p:cNvPr id="39" name="Grafik 130">
              <a:extLst>
                <a:ext uri="{FF2B5EF4-FFF2-40B4-BE49-F238E27FC236}">
                  <a16:creationId xmlns:a16="http://schemas.microsoft.com/office/drawing/2014/main" id="{80411E82-E16A-2FB4-DF91-2FA120C01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4642" r="41776"/>
                      </a14:imgEffect>
                    </a14:imgLayer>
                  </a14:imgProps>
                </a:ext>
              </a:extLst>
            </a:blip>
            <a:srcRect t="23677" r="53582" b="24746"/>
            <a:stretch/>
          </p:blipFill>
          <p:spPr>
            <a:xfrm>
              <a:off x="4898814" y="2654408"/>
              <a:ext cx="1770956" cy="1350590"/>
            </a:xfrm>
            <a:prstGeom prst="rect">
              <a:avLst/>
            </a:prstGeom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57D63A62-E2DD-BD9F-C560-BB03DF4F5204}"/>
              </a:ext>
            </a:extLst>
          </p:cNvPr>
          <p:cNvGrpSpPr/>
          <p:nvPr/>
        </p:nvGrpSpPr>
        <p:grpSpPr>
          <a:xfrm>
            <a:off x="6669752" y="2880399"/>
            <a:ext cx="947369" cy="252000"/>
            <a:chOff x="6805909" y="2682365"/>
            <a:chExt cx="947369" cy="252000"/>
          </a:xfrm>
        </p:grpSpPr>
        <p:pic>
          <p:nvPicPr>
            <p:cNvPr id="62" name="Grafik 111">
              <a:extLst>
                <a:ext uri="{FF2B5EF4-FFF2-40B4-BE49-F238E27FC236}">
                  <a16:creationId xmlns:a16="http://schemas.microsoft.com/office/drawing/2014/main" id="{1191C196-A250-1379-439C-E02E5EEECE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30911"/>
            <a:stretch/>
          </p:blipFill>
          <p:spPr>
            <a:xfrm>
              <a:off x="7098747" y="2682365"/>
              <a:ext cx="654531" cy="252000"/>
            </a:xfrm>
            <a:prstGeom prst="rect">
              <a:avLst/>
            </a:prstGeom>
          </p:spPr>
        </p:pic>
        <p:pic>
          <p:nvPicPr>
            <p:cNvPr id="65" name="Grafik 112">
              <a:extLst>
                <a:ext uri="{FF2B5EF4-FFF2-40B4-BE49-F238E27FC236}">
                  <a16:creationId xmlns:a16="http://schemas.microsoft.com/office/drawing/2014/main" id="{A7A03A08-C27D-590A-D591-93272B2B7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69089"/>
            <a:stretch/>
          </p:blipFill>
          <p:spPr>
            <a:xfrm>
              <a:off x="6805909" y="2682365"/>
              <a:ext cx="292837" cy="252000"/>
            </a:xfrm>
            <a:prstGeom prst="rect">
              <a:avLst/>
            </a:prstGeom>
          </p:spPr>
        </p:pic>
      </p:grpSp>
      <p:grpSp>
        <p:nvGrpSpPr>
          <p:cNvPr id="70" name="Gruppieren 335">
            <a:extLst>
              <a:ext uri="{FF2B5EF4-FFF2-40B4-BE49-F238E27FC236}">
                <a16:creationId xmlns:a16="http://schemas.microsoft.com/office/drawing/2014/main" id="{96C319C3-0A4E-3213-ACF8-C797D7CAB6FE}"/>
              </a:ext>
            </a:extLst>
          </p:cNvPr>
          <p:cNvGrpSpPr>
            <a:grpSpLocks noChangeAspect="1"/>
          </p:cNvGrpSpPr>
          <p:nvPr/>
        </p:nvGrpSpPr>
        <p:grpSpPr>
          <a:xfrm>
            <a:off x="4784011" y="4222646"/>
            <a:ext cx="617139" cy="216000"/>
            <a:chOff x="1913398" y="1648883"/>
            <a:chExt cx="3429000" cy="1200150"/>
          </a:xfrm>
        </p:grpSpPr>
        <p:pic>
          <p:nvPicPr>
            <p:cNvPr id="71" name="Grafik 336">
              <a:extLst>
                <a:ext uri="{FF2B5EF4-FFF2-40B4-BE49-F238E27FC236}">
                  <a16:creationId xmlns:a16="http://schemas.microsoft.com/office/drawing/2014/main" id="{50983A10-5EF5-EF3B-FBBB-D02112CE68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l="63185"/>
            <a:stretch/>
          </p:blipFill>
          <p:spPr>
            <a:xfrm>
              <a:off x="4080000" y="1648883"/>
              <a:ext cx="1262398" cy="1200150"/>
            </a:xfrm>
            <a:prstGeom prst="rect">
              <a:avLst/>
            </a:prstGeom>
          </p:spPr>
        </p:pic>
        <p:pic>
          <p:nvPicPr>
            <p:cNvPr id="72" name="Grafik 337">
              <a:extLst>
                <a:ext uri="{FF2B5EF4-FFF2-40B4-BE49-F238E27FC236}">
                  <a16:creationId xmlns:a16="http://schemas.microsoft.com/office/drawing/2014/main" id="{B60F96E2-B831-6034-12B0-FFF4D0806C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r="36815"/>
            <a:stretch/>
          </p:blipFill>
          <p:spPr>
            <a:xfrm>
              <a:off x="1913398" y="1648883"/>
              <a:ext cx="2166602" cy="1200150"/>
            </a:xfrm>
            <a:prstGeom prst="rect">
              <a:avLst/>
            </a:prstGeom>
          </p:spPr>
        </p:pic>
        <p:sp>
          <p:nvSpPr>
            <p:cNvPr id="73" name="Ellipse 338">
              <a:extLst>
                <a:ext uri="{FF2B5EF4-FFF2-40B4-BE49-F238E27FC236}">
                  <a16:creationId xmlns:a16="http://schemas.microsoft.com/office/drawing/2014/main" id="{4CC4D03F-D4BB-157D-C8AE-47CC7869904C}"/>
                </a:ext>
              </a:extLst>
            </p:cNvPr>
            <p:cNvSpPr/>
            <p:nvPr/>
          </p:nvSpPr>
          <p:spPr>
            <a:xfrm>
              <a:off x="4465400" y="2065250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4" name="Gruppieren 50">
            <a:extLst>
              <a:ext uri="{FF2B5EF4-FFF2-40B4-BE49-F238E27FC236}">
                <a16:creationId xmlns:a16="http://schemas.microsoft.com/office/drawing/2014/main" id="{2DE91585-B740-E81A-6996-9BB88A2CE6CE}"/>
              </a:ext>
            </a:extLst>
          </p:cNvPr>
          <p:cNvGrpSpPr>
            <a:grpSpLocks noChangeAspect="1"/>
          </p:cNvGrpSpPr>
          <p:nvPr/>
        </p:nvGrpSpPr>
        <p:grpSpPr>
          <a:xfrm>
            <a:off x="6500282" y="4116854"/>
            <a:ext cx="895809" cy="504000"/>
            <a:chOff x="7404850" y="2407942"/>
            <a:chExt cx="986074" cy="554784"/>
          </a:xfrm>
        </p:grpSpPr>
        <p:pic>
          <p:nvPicPr>
            <p:cNvPr id="75" name="Grafik 104">
              <a:extLst>
                <a:ext uri="{FF2B5EF4-FFF2-40B4-BE49-F238E27FC236}">
                  <a16:creationId xmlns:a16="http://schemas.microsoft.com/office/drawing/2014/main" id="{3E043E1C-C1BD-B950-A862-30923FD0FB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06"/>
            <a:stretch/>
          </p:blipFill>
          <p:spPr bwMode="auto">
            <a:xfrm>
              <a:off x="7404850" y="2408042"/>
              <a:ext cx="248395" cy="554585"/>
            </a:xfrm>
            <a:custGeom>
              <a:avLst/>
              <a:gdLst>
                <a:gd name="connsiteX0" fmla="*/ 0 w 248395"/>
                <a:gd name="connsiteY0" fmla="*/ 0 h 554585"/>
                <a:gd name="connsiteX1" fmla="*/ 248395 w 248395"/>
                <a:gd name="connsiteY1" fmla="*/ 0 h 554585"/>
                <a:gd name="connsiteX2" fmla="*/ 248395 w 248395"/>
                <a:gd name="connsiteY2" fmla="*/ 554585 h 554585"/>
                <a:gd name="connsiteX3" fmla="*/ 0 w 248395"/>
                <a:gd name="connsiteY3" fmla="*/ 554585 h 55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395" h="554585">
                  <a:moveTo>
                    <a:pt x="0" y="0"/>
                  </a:moveTo>
                  <a:lnTo>
                    <a:pt x="248395" y="0"/>
                  </a:lnTo>
                  <a:lnTo>
                    <a:pt x="248395" y="554585"/>
                  </a:lnTo>
                  <a:lnTo>
                    <a:pt x="0" y="55458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Grafik 105">
              <a:extLst>
                <a:ext uri="{FF2B5EF4-FFF2-40B4-BE49-F238E27FC236}">
                  <a16:creationId xmlns:a16="http://schemas.microsoft.com/office/drawing/2014/main" id="{E9B618EB-A418-81D1-99FF-6CFD186C0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biLevel thresh="25000"/>
            </a:blip>
            <a:stretch>
              <a:fillRect/>
            </a:stretch>
          </p:blipFill>
          <p:spPr>
            <a:xfrm>
              <a:off x="7653244" y="2407942"/>
              <a:ext cx="737680" cy="554784"/>
            </a:xfrm>
            <a:prstGeom prst="rect">
              <a:avLst/>
            </a:prstGeom>
          </p:spPr>
        </p:pic>
      </p:grpSp>
      <p:grpSp>
        <p:nvGrpSpPr>
          <p:cNvPr id="80" name="Gruppieren 59">
            <a:extLst>
              <a:ext uri="{FF2B5EF4-FFF2-40B4-BE49-F238E27FC236}">
                <a16:creationId xmlns:a16="http://schemas.microsoft.com/office/drawing/2014/main" id="{3B1C2980-8B5C-4798-A9B1-A489792AD6F1}"/>
              </a:ext>
            </a:extLst>
          </p:cNvPr>
          <p:cNvGrpSpPr>
            <a:grpSpLocks noChangeAspect="1"/>
          </p:cNvGrpSpPr>
          <p:nvPr/>
        </p:nvGrpSpPr>
        <p:grpSpPr>
          <a:xfrm>
            <a:off x="5753673" y="4732343"/>
            <a:ext cx="756655" cy="288000"/>
            <a:chOff x="12371250" y="2740612"/>
            <a:chExt cx="2855975" cy="1087047"/>
          </a:xfrm>
        </p:grpSpPr>
        <p:pic>
          <p:nvPicPr>
            <p:cNvPr id="81" name="Grafik 90">
              <a:extLst>
                <a:ext uri="{FF2B5EF4-FFF2-40B4-BE49-F238E27FC236}">
                  <a16:creationId xmlns:a16="http://schemas.microsoft.com/office/drawing/2014/main" id="{65B12844-EE14-9E5D-6E41-C0DEDCAC2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25000"/>
            </a:blip>
            <a:stretch>
              <a:fillRect/>
            </a:stretch>
          </p:blipFill>
          <p:spPr>
            <a:xfrm>
              <a:off x="13428749" y="2740612"/>
              <a:ext cx="1798476" cy="1085182"/>
            </a:xfrm>
            <a:prstGeom prst="rect">
              <a:avLst/>
            </a:prstGeom>
          </p:spPr>
        </p:pic>
        <p:pic>
          <p:nvPicPr>
            <p:cNvPr id="82" name="Grafik 91">
              <a:extLst>
                <a:ext uri="{FF2B5EF4-FFF2-40B4-BE49-F238E27FC236}">
                  <a16:creationId xmlns:a16="http://schemas.microsoft.com/office/drawing/2014/main" id="{A2FF2DE4-BE43-A057-78AB-60F39ADEC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/>
            <a:srcRect r="62598"/>
            <a:stretch/>
          </p:blipFill>
          <p:spPr>
            <a:xfrm>
              <a:off x="12371250" y="2740612"/>
              <a:ext cx="1068750" cy="1085850"/>
            </a:xfrm>
            <a:prstGeom prst="rect">
              <a:avLst/>
            </a:prstGeom>
          </p:spPr>
        </p:pic>
        <p:pic>
          <p:nvPicPr>
            <p:cNvPr id="83" name="Grafik 92">
              <a:extLst>
                <a:ext uri="{FF2B5EF4-FFF2-40B4-BE49-F238E27FC236}">
                  <a16:creationId xmlns:a16="http://schemas.microsoft.com/office/drawing/2014/main" id="{F377AA38-7790-2537-CE02-94A7CF448F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lum bright="70000" contrast="-70000"/>
            </a:blip>
            <a:srcRect r="62598"/>
            <a:stretch/>
          </p:blipFill>
          <p:spPr>
            <a:xfrm>
              <a:off x="12371250" y="2741809"/>
              <a:ext cx="1068750" cy="1085850"/>
            </a:xfrm>
            <a:custGeom>
              <a:avLst/>
              <a:gdLst>
                <a:gd name="connsiteX0" fmla="*/ 0 w 1068750"/>
                <a:gd name="connsiteY0" fmla="*/ 1061161 h 1085850"/>
                <a:gd name="connsiteX1" fmla="*/ 30889 w 1068750"/>
                <a:gd name="connsiteY1" fmla="*/ 1085850 h 1085850"/>
                <a:gd name="connsiteX2" fmla="*/ 0 w 1068750"/>
                <a:gd name="connsiteY2" fmla="*/ 1085850 h 1085850"/>
                <a:gd name="connsiteX3" fmla="*/ 1068750 w 1068750"/>
                <a:gd name="connsiteY3" fmla="*/ 950351 h 1085850"/>
                <a:gd name="connsiteX4" fmla="*/ 1068750 w 1068750"/>
                <a:gd name="connsiteY4" fmla="*/ 1085850 h 1085850"/>
                <a:gd name="connsiteX5" fmla="*/ 932133 w 1068750"/>
                <a:gd name="connsiteY5" fmla="*/ 1085850 h 1085850"/>
                <a:gd name="connsiteX6" fmla="*/ 998576 w 1068750"/>
                <a:gd name="connsiteY6" fmla="*/ 1032744 h 1085850"/>
                <a:gd name="connsiteX7" fmla="*/ 481511 w 1068750"/>
                <a:gd name="connsiteY7" fmla="*/ 298595 h 1085850"/>
                <a:gd name="connsiteX8" fmla="*/ 722289 w 1068750"/>
                <a:gd name="connsiteY8" fmla="*/ 531845 h 1085850"/>
                <a:gd name="connsiteX9" fmla="*/ 481511 w 1068750"/>
                <a:gd name="connsiteY9" fmla="*/ 765095 h 1085850"/>
                <a:gd name="connsiteX10" fmla="*/ 240733 w 1068750"/>
                <a:gd name="connsiteY10" fmla="*/ 531845 h 1085850"/>
                <a:gd name="connsiteX11" fmla="*/ 481511 w 1068750"/>
                <a:gd name="connsiteY11" fmla="*/ 298595 h 1085850"/>
                <a:gd name="connsiteX12" fmla="*/ 959858 w 1068750"/>
                <a:gd name="connsiteY12" fmla="*/ 0 h 1085850"/>
                <a:gd name="connsiteX13" fmla="*/ 1068750 w 1068750"/>
                <a:gd name="connsiteY13" fmla="*/ 0 h 1085850"/>
                <a:gd name="connsiteX14" fmla="*/ 1068750 w 1068750"/>
                <a:gd name="connsiteY14" fmla="*/ 113339 h 1085850"/>
                <a:gd name="connsiteX15" fmla="*/ 998576 w 1068750"/>
                <a:gd name="connsiteY15" fmla="*/ 30946 h 1085850"/>
                <a:gd name="connsiteX16" fmla="*/ 0 w 1068750"/>
                <a:gd name="connsiteY16" fmla="*/ 0 h 1085850"/>
                <a:gd name="connsiteX17" fmla="*/ 3164 w 1068750"/>
                <a:gd name="connsiteY17" fmla="*/ 0 h 1085850"/>
                <a:gd name="connsiteX18" fmla="*/ 0 w 1068750"/>
                <a:gd name="connsiteY18" fmla="*/ 2529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68750" h="1085850">
                  <a:moveTo>
                    <a:pt x="0" y="1061161"/>
                  </a:moveTo>
                  <a:lnTo>
                    <a:pt x="30889" y="1085850"/>
                  </a:lnTo>
                  <a:lnTo>
                    <a:pt x="0" y="1085850"/>
                  </a:lnTo>
                  <a:close/>
                  <a:moveTo>
                    <a:pt x="1068750" y="950351"/>
                  </a:moveTo>
                  <a:lnTo>
                    <a:pt x="1068750" y="1085850"/>
                  </a:lnTo>
                  <a:lnTo>
                    <a:pt x="932133" y="1085850"/>
                  </a:lnTo>
                  <a:lnTo>
                    <a:pt x="998576" y="1032744"/>
                  </a:lnTo>
                  <a:close/>
                  <a:moveTo>
                    <a:pt x="481511" y="298595"/>
                  </a:moveTo>
                  <a:cubicBezTo>
                    <a:pt x="614489" y="298595"/>
                    <a:pt x="722289" y="403025"/>
                    <a:pt x="722289" y="531845"/>
                  </a:cubicBezTo>
                  <a:cubicBezTo>
                    <a:pt x="722289" y="660665"/>
                    <a:pt x="614489" y="765095"/>
                    <a:pt x="481511" y="765095"/>
                  </a:cubicBezTo>
                  <a:cubicBezTo>
                    <a:pt x="348533" y="765095"/>
                    <a:pt x="240733" y="660665"/>
                    <a:pt x="240733" y="531845"/>
                  </a:cubicBezTo>
                  <a:cubicBezTo>
                    <a:pt x="240733" y="403025"/>
                    <a:pt x="348533" y="298595"/>
                    <a:pt x="481511" y="298595"/>
                  </a:cubicBezTo>
                  <a:close/>
                  <a:moveTo>
                    <a:pt x="959858" y="0"/>
                  </a:moveTo>
                  <a:lnTo>
                    <a:pt x="1068750" y="0"/>
                  </a:lnTo>
                  <a:lnTo>
                    <a:pt x="1068750" y="113339"/>
                  </a:lnTo>
                  <a:lnTo>
                    <a:pt x="998576" y="30946"/>
                  </a:lnTo>
                  <a:close/>
                  <a:moveTo>
                    <a:pt x="0" y="0"/>
                  </a:moveTo>
                  <a:lnTo>
                    <a:pt x="3164" y="0"/>
                  </a:lnTo>
                  <a:lnTo>
                    <a:pt x="0" y="2529"/>
                  </a:lnTo>
                  <a:close/>
                </a:path>
              </a:pathLst>
            </a:cu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71F3316-F2EC-E984-ACA4-7974160E1A52}"/>
              </a:ext>
            </a:extLst>
          </p:cNvPr>
          <p:cNvGrpSpPr/>
          <p:nvPr/>
        </p:nvGrpSpPr>
        <p:grpSpPr>
          <a:xfrm>
            <a:off x="5254980" y="3493498"/>
            <a:ext cx="687042" cy="410766"/>
            <a:chOff x="6527917" y="2134532"/>
            <a:chExt cx="4330224" cy="2588936"/>
          </a:xfrm>
        </p:grpSpPr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79FD3559-461D-305A-A2D2-D43A459BF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lum bright="70000" contrast="-70000"/>
            </a:blip>
            <a:srcRect b="37504"/>
            <a:stretch/>
          </p:blipFill>
          <p:spPr>
            <a:xfrm>
              <a:off x="6527917" y="2134532"/>
              <a:ext cx="4330224" cy="1617974"/>
            </a:xfrm>
            <a:prstGeom prst="rect">
              <a:avLst/>
            </a:prstGeom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465068C3-D801-648E-8A6D-665B96EC31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t="54172"/>
            <a:stretch/>
          </p:blipFill>
          <p:spPr>
            <a:xfrm>
              <a:off x="6527917" y="3537000"/>
              <a:ext cx="4330224" cy="11864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19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5EE73E2-F15F-CC40-BF82-34CCEA741975}"/>
              </a:ext>
            </a:extLst>
          </p:cNvPr>
          <p:cNvCxnSpPr>
            <a:cxnSpLocks/>
          </p:cNvCxnSpPr>
          <p:nvPr/>
        </p:nvCxnSpPr>
        <p:spPr>
          <a:xfrm>
            <a:off x="2711568" y="1942797"/>
            <a:ext cx="720136" cy="0"/>
          </a:xfrm>
          <a:prstGeom prst="line">
            <a:avLst/>
          </a:prstGeom>
          <a:ln w="9525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6F4D5AD-D305-7EC7-AE5B-1F0B3F59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400" b="0">
                <a:solidFill>
                  <a:prstClr val="white"/>
                </a:solidFill>
                <a:latin typeface="Arial"/>
              </a:rPr>
              <a:t>2</a:t>
            </a: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Synergies of LDF Data Platform within SDC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/>
              <a:t>Delivering comprehensive value across all roles in the LDF Data Platform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C26D30-33C6-C1BE-916E-EDB111CF07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0B2D52-0CD4-B1D1-E070-D8BCFBAD9A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66DE6AF-FAA0-74B6-D4A0-DE975823F1A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2459568" y="3260706"/>
            <a:ext cx="0" cy="286401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125975B1-80B5-8202-5EE1-9C6E38E482C7}"/>
              </a:ext>
            </a:extLst>
          </p:cNvPr>
          <p:cNvCxnSpPr>
            <a:cxnSpLocks/>
          </p:cNvCxnSpPr>
          <p:nvPr/>
        </p:nvCxnSpPr>
        <p:spPr>
          <a:xfrm>
            <a:off x="0" y="1414463"/>
            <a:ext cx="2459568" cy="0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6CBA72D-E715-A6A1-5356-FB9CD586F1C8}"/>
              </a:ext>
            </a:extLst>
          </p:cNvPr>
          <p:cNvCxnSpPr>
            <a:cxnSpLocks/>
          </p:cNvCxnSpPr>
          <p:nvPr/>
        </p:nvCxnSpPr>
        <p:spPr>
          <a:xfrm>
            <a:off x="2459568" y="6167438"/>
            <a:ext cx="9732432" cy="0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B0F4F76-8839-4F56-E54F-12A19DD8809D}"/>
              </a:ext>
            </a:extLst>
          </p:cNvPr>
          <p:cNvCxnSpPr>
            <a:cxnSpLocks/>
            <a:stCxn id="26" idx="0"/>
            <a:endCxn id="30" idx="4"/>
          </p:cNvCxnSpPr>
          <p:nvPr/>
        </p:nvCxnSpPr>
        <p:spPr>
          <a:xfrm flipV="1">
            <a:off x="2459568" y="3122952"/>
            <a:ext cx="0" cy="424155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A1569F2-4F23-EC52-570B-A9340C233105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V="1">
            <a:off x="2459568" y="2194797"/>
            <a:ext cx="0" cy="424155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EE65984-38A0-03AB-21A3-B9CADDCE31A8}"/>
              </a:ext>
            </a:extLst>
          </p:cNvPr>
          <p:cNvCxnSpPr>
            <a:cxnSpLocks/>
            <a:stCxn id="26" idx="4"/>
            <a:endCxn id="32" idx="0"/>
          </p:cNvCxnSpPr>
          <p:nvPr/>
        </p:nvCxnSpPr>
        <p:spPr>
          <a:xfrm>
            <a:off x="2459568" y="4051107"/>
            <a:ext cx="0" cy="404021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7C36789-D312-43C7-F9B8-4BA4A94989AE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2459568" y="4959128"/>
            <a:ext cx="0" cy="414088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D2F396D-DB0C-0E61-FF28-C7AA478479E1}"/>
              </a:ext>
            </a:extLst>
          </p:cNvPr>
          <p:cNvCxnSpPr>
            <a:cxnSpLocks/>
            <a:endCxn id="33" idx="4"/>
          </p:cNvCxnSpPr>
          <p:nvPr/>
        </p:nvCxnSpPr>
        <p:spPr>
          <a:xfrm flipV="1">
            <a:off x="2459568" y="5877216"/>
            <a:ext cx="0" cy="290222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C728B505-B9DA-7CB2-2701-703921604192}"/>
              </a:ext>
            </a:extLst>
          </p:cNvPr>
          <p:cNvSpPr/>
          <p:nvPr/>
        </p:nvSpPr>
        <p:spPr>
          <a:xfrm>
            <a:off x="411163" y="2690932"/>
            <a:ext cx="165238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r"/>
            <a:r>
              <a:rPr lang="en-US" sz="1200"/>
              <a:t>Data Analysts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E475EDB-C92A-C071-5250-EF23F26FFBF6}"/>
              </a:ext>
            </a:extLst>
          </p:cNvPr>
          <p:cNvSpPr/>
          <p:nvPr/>
        </p:nvSpPr>
        <p:spPr>
          <a:xfrm>
            <a:off x="2207568" y="2618952"/>
            <a:ext cx="504000" cy="504000"/>
          </a:xfrm>
          <a:prstGeom prst="ellipse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73F1E874-A524-2563-11A9-3942EAD8C4E5}"/>
              </a:ext>
            </a:extLst>
          </p:cNvPr>
          <p:cNvCxnSpPr>
            <a:cxnSpLocks/>
          </p:cNvCxnSpPr>
          <p:nvPr/>
        </p:nvCxnSpPr>
        <p:spPr>
          <a:xfrm>
            <a:off x="2711568" y="2870952"/>
            <a:ext cx="720136" cy="0"/>
          </a:xfrm>
          <a:prstGeom prst="line">
            <a:avLst/>
          </a:prstGeom>
          <a:ln w="9525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D5D85D9A-6131-92E0-4584-DEDA793A6F59}"/>
              </a:ext>
            </a:extLst>
          </p:cNvPr>
          <p:cNvSpPr/>
          <p:nvPr/>
        </p:nvSpPr>
        <p:spPr>
          <a:xfrm>
            <a:off x="411163" y="4527108"/>
            <a:ext cx="165238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r"/>
            <a:r>
              <a:rPr lang="en-US" sz="1200"/>
              <a:t>Business User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DD6CCCF-D108-6AD9-FFC1-25A1EBB5FB77}"/>
              </a:ext>
            </a:extLst>
          </p:cNvPr>
          <p:cNvSpPr/>
          <p:nvPr/>
        </p:nvSpPr>
        <p:spPr>
          <a:xfrm>
            <a:off x="2207568" y="4455128"/>
            <a:ext cx="504000" cy="504000"/>
          </a:xfrm>
          <a:prstGeom prst="ellipse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440D5BBC-8BE2-5650-311D-AE7DCBC6F28B}"/>
              </a:ext>
            </a:extLst>
          </p:cNvPr>
          <p:cNvCxnSpPr>
            <a:cxnSpLocks/>
          </p:cNvCxnSpPr>
          <p:nvPr/>
        </p:nvCxnSpPr>
        <p:spPr>
          <a:xfrm>
            <a:off x="2711568" y="4707128"/>
            <a:ext cx="720136" cy="0"/>
          </a:xfrm>
          <a:prstGeom prst="line">
            <a:avLst/>
          </a:prstGeom>
          <a:ln w="9525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:a16="http://schemas.microsoft.com/office/drawing/2014/main" id="{F97CA080-627F-851E-5F6A-1D3CF7A7030D}"/>
              </a:ext>
            </a:extLst>
          </p:cNvPr>
          <p:cNvSpPr/>
          <p:nvPr/>
        </p:nvSpPr>
        <p:spPr>
          <a:xfrm>
            <a:off x="2207568" y="5373216"/>
            <a:ext cx="504000" cy="504000"/>
          </a:xfrm>
          <a:prstGeom prst="ellipse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C669615-EFCA-6BEB-03BE-DEED16B756D7}"/>
              </a:ext>
            </a:extLst>
          </p:cNvPr>
          <p:cNvSpPr/>
          <p:nvPr/>
        </p:nvSpPr>
        <p:spPr>
          <a:xfrm>
            <a:off x="411163" y="5445196"/>
            <a:ext cx="165238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r"/>
            <a:r>
              <a:rPr lang="en-US" sz="1200"/>
              <a:t>General User</a:t>
            </a: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92CB9555-15E0-A1DA-EF26-A8C9E8F36439}"/>
              </a:ext>
            </a:extLst>
          </p:cNvPr>
          <p:cNvCxnSpPr>
            <a:cxnSpLocks/>
          </p:cNvCxnSpPr>
          <p:nvPr/>
        </p:nvCxnSpPr>
        <p:spPr>
          <a:xfrm>
            <a:off x="2711568" y="5625216"/>
            <a:ext cx="720136" cy="0"/>
          </a:xfrm>
          <a:prstGeom prst="line">
            <a:avLst/>
          </a:prstGeom>
          <a:ln w="9525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hteck 100">
            <a:extLst>
              <a:ext uri="{FF2B5EF4-FFF2-40B4-BE49-F238E27FC236}">
                <a16:creationId xmlns:a16="http://schemas.microsoft.com/office/drawing/2014/main" id="{EEB38640-ECB8-4D61-C896-D0EE706AD8DC}"/>
              </a:ext>
            </a:extLst>
          </p:cNvPr>
          <p:cNvSpPr/>
          <p:nvPr/>
        </p:nvSpPr>
        <p:spPr>
          <a:xfrm>
            <a:off x="3631266" y="542680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D6AFD405-6DC9-0EC8-CBF1-78535FA0DF8A}"/>
              </a:ext>
            </a:extLst>
          </p:cNvPr>
          <p:cNvSpPr/>
          <p:nvPr/>
        </p:nvSpPr>
        <p:spPr>
          <a:xfrm>
            <a:off x="4934516" y="542680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20A7B9C6-2D25-43B9-CBCE-E8ABC2D169BF}"/>
              </a:ext>
            </a:extLst>
          </p:cNvPr>
          <p:cNvSpPr/>
          <p:nvPr/>
        </p:nvSpPr>
        <p:spPr>
          <a:xfrm>
            <a:off x="6230660" y="542680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29" name="Gruppieren 50">
            <a:extLst>
              <a:ext uri="{FF2B5EF4-FFF2-40B4-BE49-F238E27FC236}">
                <a16:creationId xmlns:a16="http://schemas.microsoft.com/office/drawing/2014/main" id="{B6B99672-CA43-DB32-A5DC-49F5D05BDE34}"/>
              </a:ext>
            </a:extLst>
          </p:cNvPr>
          <p:cNvGrpSpPr>
            <a:grpSpLocks noChangeAspect="1"/>
          </p:cNvGrpSpPr>
          <p:nvPr/>
        </p:nvGrpSpPr>
        <p:grpSpPr>
          <a:xfrm>
            <a:off x="6286756" y="5373216"/>
            <a:ext cx="895809" cy="504000"/>
            <a:chOff x="7404850" y="2407942"/>
            <a:chExt cx="986074" cy="554784"/>
          </a:xfrm>
        </p:grpSpPr>
        <p:pic>
          <p:nvPicPr>
            <p:cNvPr id="35" name="Grafik 104" descr="Tableau Logo : histoire, signification de l'emblème">
              <a:extLst>
                <a:ext uri="{FF2B5EF4-FFF2-40B4-BE49-F238E27FC236}">
                  <a16:creationId xmlns:a16="http://schemas.microsoft.com/office/drawing/2014/main" id="{DFAF7004-74AE-5741-74B3-A0208286A1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06"/>
            <a:stretch/>
          </p:blipFill>
          <p:spPr bwMode="auto">
            <a:xfrm>
              <a:off x="7404850" y="2408042"/>
              <a:ext cx="248395" cy="554585"/>
            </a:xfrm>
            <a:custGeom>
              <a:avLst/>
              <a:gdLst>
                <a:gd name="connsiteX0" fmla="*/ 0 w 248395"/>
                <a:gd name="connsiteY0" fmla="*/ 0 h 554585"/>
                <a:gd name="connsiteX1" fmla="*/ 248395 w 248395"/>
                <a:gd name="connsiteY1" fmla="*/ 0 h 554585"/>
                <a:gd name="connsiteX2" fmla="*/ 248395 w 248395"/>
                <a:gd name="connsiteY2" fmla="*/ 554585 h 554585"/>
                <a:gd name="connsiteX3" fmla="*/ 0 w 248395"/>
                <a:gd name="connsiteY3" fmla="*/ 554585 h 55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395" h="554585">
                  <a:moveTo>
                    <a:pt x="0" y="0"/>
                  </a:moveTo>
                  <a:lnTo>
                    <a:pt x="248395" y="0"/>
                  </a:lnTo>
                  <a:lnTo>
                    <a:pt x="248395" y="554585"/>
                  </a:lnTo>
                  <a:lnTo>
                    <a:pt x="0" y="55458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Grafik 105">
              <a:extLst>
                <a:ext uri="{FF2B5EF4-FFF2-40B4-BE49-F238E27FC236}">
                  <a16:creationId xmlns:a16="http://schemas.microsoft.com/office/drawing/2014/main" id="{18702A14-3AD9-B288-27DA-6CF863CE8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7653244" y="2407942"/>
              <a:ext cx="737680" cy="554784"/>
            </a:xfrm>
            <a:prstGeom prst="rect">
              <a:avLst/>
            </a:prstGeom>
          </p:spPr>
        </p:pic>
      </p:grpSp>
      <p:pic>
        <p:nvPicPr>
          <p:cNvPr id="85" name="Grafik 52">
            <a:extLst>
              <a:ext uri="{FF2B5EF4-FFF2-40B4-BE49-F238E27FC236}">
                <a16:creationId xmlns:a16="http://schemas.microsoft.com/office/drawing/2014/main" id="{EDAEA55E-C5B8-91AA-330F-2E3F46C88CA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739266" y="5416714"/>
            <a:ext cx="792000" cy="396000"/>
          </a:xfrm>
          <a:prstGeom prst="rect">
            <a:avLst/>
          </a:prstGeom>
        </p:spPr>
      </p:pic>
      <p:grpSp>
        <p:nvGrpSpPr>
          <p:cNvPr id="86" name="Gruppieren 51">
            <a:extLst>
              <a:ext uri="{FF2B5EF4-FFF2-40B4-BE49-F238E27FC236}">
                <a16:creationId xmlns:a16="http://schemas.microsoft.com/office/drawing/2014/main" id="{29325FA4-9FCD-60AB-CDA3-086BF7BC6398}"/>
              </a:ext>
            </a:extLst>
          </p:cNvPr>
          <p:cNvGrpSpPr>
            <a:grpSpLocks noChangeAspect="1"/>
          </p:cNvGrpSpPr>
          <p:nvPr/>
        </p:nvGrpSpPr>
        <p:grpSpPr>
          <a:xfrm>
            <a:off x="5078517" y="5499216"/>
            <a:ext cx="719999" cy="252000"/>
            <a:chOff x="1913398" y="1648883"/>
            <a:chExt cx="3429000" cy="1200150"/>
          </a:xfrm>
        </p:grpSpPr>
        <p:pic>
          <p:nvPicPr>
            <p:cNvPr id="87" name="Grafik 101" descr="Ein Bild, das Schrift, Grafiken, Logo, Grafikdesign enthält.&#10;&#10;Automatisch generierte Beschreibung">
              <a:extLst>
                <a:ext uri="{FF2B5EF4-FFF2-40B4-BE49-F238E27FC236}">
                  <a16:creationId xmlns:a16="http://schemas.microsoft.com/office/drawing/2014/main" id="{EBD6E821-470E-8A02-7EF4-C1D897998B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l="63185"/>
            <a:stretch/>
          </p:blipFill>
          <p:spPr>
            <a:xfrm>
              <a:off x="4080000" y="1648883"/>
              <a:ext cx="1262398" cy="1200150"/>
            </a:xfrm>
            <a:prstGeom prst="rect">
              <a:avLst/>
            </a:prstGeom>
          </p:spPr>
        </p:pic>
        <p:pic>
          <p:nvPicPr>
            <p:cNvPr id="88" name="Grafik 102" descr="Ein Bild, das Schrift, Grafiken, Logo, Grafikdesign enthält.&#10;&#10;Automatisch generierte Beschreibung">
              <a:extLst>
                <a:ext uri="{FF2B5EF4-FFF2-40B4-BE49-F238E27FC236}">
                  <a16:creationId xmlns:a16="http://schemas.microsoft.com/office/drawing/2014/main" id="{93CF390F-860E-FAAD-2AAD-30A4EC666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r="36815"/>
            <a:stretch/>
          </p:blipFill>
          <p:spPr>
            <a:xfrm>
              <a:off x="1913398" y="1648883"/>
              <a:ext cx="2166602" cy="1200150"/>
            </a:xfrm>
            <a:prstGeom prst="rect">
              <a:avLst/>
            </a:prstGeom>
          </p:spPr>
        </p:pic>
        <p:sp>
          <p:nvSpPr>
            <p:cNvPr id="89" name="Ellipse 103">
              <a:extLst>
                <a:ext uri="{FF2B5EF4-FFF2-40B4-BE49-F238E27FC236}">
                  <a16:creationId xmlns:a16="http://schemas.microsoft.com/office/drawing/2014/main" id="{DA7F3D54-20D2-894D-25CA-EC5A2B333678}"/>
                </a:ext>
              </a:extLst>
            </p:cNvPr>
            <p:cNvSpPr/>
            <p:nvPr/>
          </p:nvSpPr>
          <p:spPr>
            <a:xfrm>
              <a:off x="4465400" y="2065250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9" name="Rechteck 98">
            <a:extLst>
              <a:ext uri="{FF2B5EF4-FFF2-40B4-BE49-F238E27FC236}">
                <a16:creationId xmlns:a16="http://schemas.microsoft.com/office/drawing/2014/main" id="{04BB3F3E-3E56-36A3-DE1C-5402CE6CB75C}"/>
              </a:ext>
            </a:extLst>
          </p:cNvPr>
          <p:cNvSpPr/>
          <p:nvPr/>
        </p:nvSpPr>
        <p:spPr>
          <a:xfrm>
            <a:off x="3631266" y="451639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4D7ECBA8-3B9C-BC80-A728-5C019A848274}"/>
              </a:ext>
            </a:extLst>
          </p:cNvPr>
          <p:cNvSpPr/>
          <p:nvPr/>
        </p:nvSpPr>
        <p:spPr>
          <a:xfrm>
            <a:off x="4934516" y="451639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E78A9BAD-A720-15C6-6A29-B27DEBCC9BAB}"/>
              </a:ext>
            </a:extLst>
          </p:cNvPr>
          <p:cNvSpPr/>
          <p:nvPr/>
        </p:nvSpPr>
        <p:spPr>
          <a:xfrm>
            <a:off x="6230660" y="4516396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80" name="Gruppieren 51">
            <a:extLst>
              <a:ext uri="{FF2B5EF4-FFF2-40B4-BE49-F238E27FC236}">
                <a16:creationId xmlns:a16="http://schemas.microsoft.com/office/drawing/2014/main" id="{F8499D69-7D17-8F6B-C1C5-9512CF813BA8}"/>
              </a:ext>
            </a:extLst>
          </p:cNvPr>
          <p:cNvGrpSpPr>
            <a:grpSpLocks noChangeAspect="1"/>
          </p:cNvGrpSpPr>
          <p:nvPr/>
        </p:nvGrpSpPr>
        <p:grpSpPr>
          <a:xfrm>
            <a:off x="5078517" y="4571188"/>
            <a:ext cx="719999" cy="252000"/>
            <a:chOff x="1913398" y="1648883"/>
            <a:chExt cx="3429000" cy="1200150"/>
          </a:xfrm>
        </p:grpSpPr>
        <p:pic>
          <p:nvPicPr>
            <p:cNvPr id="81" name="Grafik 101" descr="Ein Bild, das Schrift, Grafiken, Logo, Grafikdesign enthält.&#10;&#10;Automatisch generierte Beschreibung">
              <a:extLst>
                <a:ext uri="{FF2B5EF4-FFF2-40B4-BE49-F238E27FC236}">
                  <a16:creationId xmlns:a16="http://schemas.microsoft.com/office/drawing/2014/main" id="{3D07E450-9347-CC2E-EB23-021B935D3D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l="63185"/>
            <a:stretch/>
          </p:blipFill>
          <p:spPr>
            <a:xfrm>
              <a:off x="4080000" y="1648883"/>
              <a:ext cx="1262398" cy="1200150"/>
            </a:xfrm>
            <a:prstGeom prst="rect">
              <a:avLst/>
            </a:prstGeom>
          </p:spPr>
        </p:pic>
        <p:pic>
          <p:nvPicPr>
            <p:cNvPr id="82" name="Grafik 102" descr="Ein Bild, das Schrift, Grafiken, Logo, Grafikdesign enthält.&#10;&#10;Automatisch generierte Beschreibung">
              <a:extLst>
                <a:ext uri="{FF2B5EF4-FFF2-40B4-BE49-F238E27FC236}">
                  <a16:creationId xmlns:a16="http://schemas.microsoft.com/office/drawing/2014/main" id="{B8D74FBD-DA57-D980-99A3-D2DA9D7ADE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524" b="92063" l="3889" r="95556">
                          <a14:foregroundMark x1="19167" y1="70635" x2="19167" y2="70635"/>
                          <a14:foregroundMark x1="30556" y1="50794" x2="30556" y2="50794"/>
                          <a14:foregroundMark x1="39722" y1="44444" x2="39722" y2="44444"/>
                          <a14:foregroundMark x1="37500" y1="23810" x2="37500" y2="23810"/>
                          <a14:foregroundMark x1="21667" y1="46825" x2="21667" y2="46825"/>
                          <a14:foregroundMark x1="21667" y1="57143" x2="21667" y2="57143"/>
                          <a14:foregroundMark x1="17222" y1="71429" x2="17222" y2="71429"/>
                          <a14:foregroundMark x1="4167" y1="70635" x2="4167" y2="70635"/>
                          <a14:foregroundMark x1="3889" y1="44444" x2="3889" y2="44444"/>
                          <a14:foregroundMark x1="47222" y1="59524" x2="47222" y2="59524"/>
                          <a14:foregroundMark x1="68889" y1="57937" x2="68889" y2="57937"/>
                          <a14:foregroundMark x1="80278" y1="49206" x2="80278" y2="49206"/>
                          <a14:foregroundMark x1="71667" y1="27778" x2="71667" y2="27778"/>
                          <a14:foregroundMark x1="71389" y1="73016" x2="71389" y2="73016"/>
                          <a14:foregroundMark x1="88333" y1="76190" x2="89722" y2="73016"/>
                          <a14:foregroundMark x1="91667" y1="60317" x2="91944" y2="50794"/>
                          <a14:foregroundMark x1="91667" y1="42857" x2="91667" y2="42857"/>
                          <a14:foregroundMark x1="80833" y1="53175" x2="78056" y2="54762"/>
                          <a14:foregroundMark x1="81667" y1="46825" x2="81667" y2="54762"/>
                          <a14:foregroundMark x1="78611" y1="46032" x2="78611" y2="46032"/>
                          <a14:foregroundMark x1="95833" y1="84127" x2="95833" y2="84127"/>
                          <a14:foregroundMark x1="80556" y1="89683" x2="80556" y2="89683"/>
                          <a14:foregroundMark x1="93611" y1="92063" x2="93611" y2="92063"/>
                          <a14:foregroundMark x1="55556" y1="69048" x2="53056" y2="59524"/>
                          <a14:backgroundMark x1="4444" y1="72222" x2="4444" y2="72222"/>
                          <a14:backgroundMark x1="4167" y1="69841" x2="4167" y2="69841"/>
                        </a14:backgroundRemoval>
                      </a14:imgEffect>
                    </a14:imgLayer>
                  </a14:imgProps>
                </a:ext>
              </a:extLst>
            </a:blip>
            <a:srcRect r="36815"/>
            <a:stretch/>
          </p:blipFill>
          <p:spPr>
            <a:xfrm>
              <a:off x="1913398" y="1648883"/>
              <a:ext cx="2166602" cy="1200150"/>
            </a:xfrm>
            <a:prstGeom prst="rect">
              <a:avLst/>
            </a:prstGeom>
          </p:spPr>
        </p:pic>
        <p:sp>
          <p:nvSpPr>
            <p:cNvPr id="83" name="Ellipse 103">
              <a:extLst>
                <a:ext uri="{FF2B5EF4-FFF2-40B4-BE49-F238E27FC236}">
                  <a16:creationId xmlns:a16="http://schemas.microsoft.com/office/drawing/2014/main" id="{A5834593-227B-7351-AECE-E5AB43358FDD}"/>
                </a:ext>
              </a:extLst>
            </p:cNvPr>
            <p:cNvSpPr/>
            <p:nvPr/>
          </p:nvSpPr>
          <p:spPr>
            <a:xfrm>
              <a:off x="4465400" y="2065250"/>
              <a:ext cx="396000" cy="39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84" name="Grafik 52">
            <a:extLst>
              <a:ext uri="{FF2B5EF4-FFF2-40B4-BE49-F238E27FC236}">
                <a16:creationId xmlns:a16="http://schemas.microsoft.com/office/drawing/2014/main" id="{B62075F2-A16D-1804-7940-9ED6673ED7B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739266" y="4507408"/>
            <a:ext cx="792000" cy="396000"/>
          </a:xfrm>
          <a:prstGeom prst="rect">
            <a:avLst/>
          </a:prstGeom>
        </p:spPr>
      </p:pic>
      <p:grpSp>
        <p:nvGrpSpPr>
          <p:cNvPr id="218" name="Gruppieren 50">
            <a:extLst>
              <a:ext uri="{FF2B5EF4-FFF2-40B4-BE49-F238E27FC236}">
                <a16:creationId xmlns:a16="http://schemas.microsoft.com/office/drawing/2014/main" id="{2B1701F9-88E2-A594-D09C-08E88C9162B9}"/>
              </a:ext>
            </a:extLst>
          </p:cNvPr>
          <p:cNvGrpSpPr>
            <a:grpSpLocks noChangeAspect="1"/>
          </p:cNvGrpSpPr>
          <p:nvPr/>
        </p:nvGrpSpPr>
        <p:grpSpPr>
          <a:xfrm>
            <a:off x="6286756" y="4455128"/>
            <a:ext cx="895809" cy="504000"/>
            <a:chOff x="7404850" y="2407942"/>
            <a:chExt cx="986074" cy="554784"/>
          </a:xfrm>
        </p:grpSpPr>
        <p:pic>
          <p:nvPicPr>
            <p:cNvPr id="219" name="Grafik 104" descr="Tableau Logo : histoire, signification de l'emblème">
              <a:extLst>
                <a:ext uri="{FF2B5EF4-FFF2-40B4-BE49-F238E27FC236}">
                  <a16:creationId xmlns:a16="http://schemas.microsoft.com/office/drawing/2014/main" id="{EC8ACD03-3E02-FF94-89B2-2428B43C33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06"/>
            <a:stretch/>
          </p:blipFill>
          <p:spPr bwMode="auto">
            <a:xfrm>
              <a:off x="7404850" y="2408042"/>
              <a:ext cx="248395" cy="554585"/>
            </a:xfrm>
            <a:custGeom>
              <a:avLst/>
              <a:gdLst>
                <a:gd name="connsiteX0" fmla="*/ 0 w 248395"/>
                <a:gd name="connsiteY0" fmla="*/ 0 h 554585"/>
                <a:gd name="connsiteX1" fmla="*/ 248395 w 248395"/>
                <a:gd name="connsiteY1" fmla="*/ 0 h 554585"/>
                <a:gd name="connsiteX2" fmla="*/ 248395 w 248395"/>
                <a:gd name="connsiteY2" fmla="*/ 554585 h 554585"/>
                <a:gd name="connsiteX3" fmla="*/ 0 w 248395"/>
                <a:gd name="connsiteY3" fmla="*/ 554585 h 554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8395" h="554585">
                  <a:moveTo>
                    <a:pt x="0" y="0"/>
                  </a:moveTo>
                  <a:lnTo>
                    <a:pt x="248395" y="0"/>
                  </a:lnTo>
                  <a:lnTo>
                    <a:pt x="248395" y="554585"/>
                  </a:lnTo>
                  <a:lnTo>
                    <a:pt x="0" y="55458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0" name="Grafik 105">
              <a:extLst>
                <a:ext uri="{FF2B5EF4-FFF2-40B4-BE49-F238E27FC236}">
                  <a16:creationId xmlns:a16="http://schemas.microsoft.com/office/drawing/2014/main" id="{301CFD8D-9CB4-FE17-2180-A6811A443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7653244" y="2407942"/>
              <a:ext cx="737680" cy="554784"/>
            </a:xfrm>
            <a:prstGeom prst="rect">
              <a:avLst/>
            </a:prstGeom>
          </p:spPr>
        </p:pic>
      </p:grpSp>
      <p:sp>
        <p:nvSpPr>
          <p:cNvPr id="246" name="Rechteck 245">
            <a:extLst>
              <a:ext uri="{FF2B5EF4-FFF2-40B4-BE49-F238E27FC236}">
                <a16:creationId xmlns:a16="http://schemas.microsoft.com/office/drawing/2014/main" id="{BD757004-BBBB-E03C-7F9C-B597423F0126}"/>
              </a:ext>
            </a:extLst>
          </p:cNvPr>
          <p:cNvSpPr/>
          <p:nvPr/>
        </p:nvSpPr>
        <p:spPr>
          <a:xfrm>
            <a:off x="410399" y="1414462"/>
            <a:ext cx="144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800" i="1">
                <a:solidFill>
                  <a:schemeClr val="tx1"/>
                </a:solidFill>
              </a:rPr>
              <a:t>Data Pipeline</a:t>
            </a:r>
          </a:p>
        </p:txBody>
      </p:sp>
      <p:pic>
        <p:nvPicPr>
          <p:cNvPr id="248" name="Grafik 247" descr="Benutzer mit einfarbiger Füllung">
            <a:extLst>
              <a:ext uri="{FF2B5EF4-FFF2-40B4-BE49-F238E27FC236}">
                <a16:creationId xmlns:a16="http://schemas.microsoft.com/office/drawing/2014/main" id="{5E419D25-A524-8CE9-8DFF-D3718E429E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9568" y="5445216"/>
            <a:ext cx="360000" cy="360000"/>
          </a:xfrm>
          <a:prstGeom prst="rect">
            <a:avLst/>
          </a:prstGeom>
        </p:spPr>
      </p:pic>
      <p:pic>
        <p:nvPicPr>
          <p:cNvPr id="252" name="Grafik 251" descr="Zahnräder mit einfarbiger Füllung">
            <a:extLst>
              <a:ext uri="{FF2B5EF4-FFF2-40B4-BE49-F238E27FC236}">
                <a16:creationId xmlns:a16="http://schemas.microsoft.com/office/drawing/2014/main" id="{25B40CE6-0EB2-C916-A2CB-18807C9F73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79568" y="4527128"/>
            <a:ext cx="360000" cy="360000"/>
          </a:xfrm>
          <a:prstGeom prst="rect">
            <a:avLst/>
          </a:prstGeom>
        </p:spPr>
      </p:pic>
      <p:pic>
        <p:nvPicPr>
          <p:cNvPr id="254" name="Grafik 253" descr="Statistiken mit einfarbiger Füllung">
            <a:extLst>
              <a:ext uri="{FF2B5EF4-FFF2-40B4-BE49-F238E27FC236}">
                <a16:creationId xmlns:a16="http://schemas.microsoft.com/office/drawing/2014/main" id="{E825B2BF-03B3-E916-91DD-BD517AFE01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79568" y="2690952"/>
            <a:ext cx="360000" cy="360000"/>
          </a:xfrm>
          <a:prstGeom prst="rect">
            <a:avLst/>
          </a:prstGeom>
        </p:spPr>
      </p:pic>
      <p:sp>
        <p:nvSpPr>
          <p:cNvPr id="34" name="Rechteck 33">
            <a:extLst>
              <a:ext uri="{FF2B5EF4-FFF2-40B4-BE49-F238E27FC236}">
                <a16:creationId xmlns:a16="http://schemas.microsoft.com/office/drawing/2014/main" id="{9134C915-3D61-EEC3-09BB-B724486F401E}"/>
              </a:ext>
            </a:extLst>
          </p:cNvPr>
          <p:cNvSpPr/>
          <p:nvPr/>
        </p:nvSpPr>
        <p:spPr>
          <a:xfrm>
            <a:off x="411163" y="1762777"/>
            <a:ext cx="165238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r"/>
            <a:r>
              <a:rPr lang="en-US" sz="1200"/>
              <a:t>Data Engineer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D446CAE6-522C-63E5-303D-321E2FE9BBA8}"/>
              </a:ext>
            </a:extLst>
          </p:cNvPr>
          <p:cNvSpPr/>
          <p:nvPr/>
        </p:nvSpPr>
        <p:spPr>
          <a:xfrm>
            <a:off x="2207568" y="1690797"/>
            <a:ext cx="504000" cy="504000"/>
          </a:xfrm>
          <a:prstGeom prst="ellipse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7D460B3-B9C5-2CCB-8BD6-8555105D1B4A}"/>
              </a:ext>
            </a:extLst>
          </p:cNvPr>
          <p:cNvSpPr/>
          <p:nvPr/>
        </p:nvSpPr>
        <p:spPr>
          <a:xfrm>
            <a:off x="3631266" y="1762797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26AD0EBB-610A-35CD-52E2-1F3B2A149853}"/>
              </a:ext>
            </a:extLst>
          </p:cNvPr>
          <p:cNvSpPr/>
          <p:nvPr/>
        </p:nvSpPr>
        <p:spPr>
          <a:xfrm>
            <a:off x="4934516" y="1762797"/>
            <a:ext cx="1008000" cy="360000"/>
          </a:xfrm>
          <a:prstGeom prst="rect">
            <a:avLst/>
          </a:prstGeom>
          <a:solidFill>
            <a:srgbClr val="00042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A38C4502-71B7-8799-A642-1206291B52AF}"/>
              </a:ext>
            </a:extLst>
          </p:cNvPr>
          <p:cNvSpPr/>
          <p:nvPr/>
        </p:nvSpPr>
        <p:spPr>
          <a:xfrm>
            <a:off x="6230660" y="1762797"/>
            <a:ext cx="1008000" cy="360000"/>
          </a:xfrm>
          <a:prstGeom prst="rect">
            <a:avLst/>
          </a:prstGeom>
          <a:solidFill>
            <a:srgbClr val="00042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33C11D2E-C258-332F-72FE-0820AA313982}"/>
              </a:ext>
            </a:extLst>
          </p:cNvPr>
          <p:cNvSpPr/>
          <p:nvPr/>
        </p:nvSpPr>
        <p:spPr>
          <a:xfrm>
            <a:off x="7522210" y="1762797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47" name="Gruppieren 44">
            <a:extLst>
              <a:ext uri="{FF2B5EF4-FFF2-40B4-BE49-F238E27FC236}">
                <a16:creationId xmlns:a16="http://schemas.microsoft.com/office/drawing/2014/main" id="{3E216CD1-D5D9-EEAB-9EB6-DDE4BB5BFFB9}"/>
              </a:ext>
            </a:extLst>
          </p:cNvPr>
          <p:cNvGrpSpPr>
            <a:grpSpLocks noChangeAspect="1"/>
          </p:cNvGrpSpPr>
          <p:nvPr/>
        </p:nvGrpSpPr>
        <p:grpSpPr>
          <a:xfrm>
            <a:off x="3727392" y="1816797"/>
            <a:ext cx="815749" cy="252000"/>
            <a:chOff x="1055701" y="1696332"/>
            <a:chExt cx="4608975" cy="1423800"/>
          </a:xfrm>
        </p:grpSpPr>
        <p:pic>
          <p:nvPicPr>
            <p:cNvPr id="49" name="Grafik 113" descr="Ein Bild, das Grafiken, Schrift, Screenshot, Grafikdesign enthält.&#10;&#10;Automatisch generierte Beschreibung">
              <a:extLst>
                <a:ext uri="{FF2B5EF4-FFF2-40B4-BE49-F238E27FC236}">
                  <a16:creationId xmlns:a16="http://schemas.microsoft.com/office/drawing/2014/main" id="{DDCEFFF6-A185-7AC8-02CE-4728E28BC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55701" y="1696332"/>
              <a:ext cx="4608000" cy="1423800"/>
            </a:xfrm>
            <a:prstGeom prst="rect">
              <a:avLst/>
            </a:prstGeom>
          </p:spPr>
        </p:pic>
        <p:pic>
          <p:nvPicPr>
            <p:cNvPr id="50" name="Grafik 114">
              <a:extLst>
                <a:ext uri="{FF2B5EF4-FFF2-40B4-BE49-F238E27FC236}">
                  <a16:creationId xmlns:a16="http://schemas.microsoft.com/office/drawing/2014/main" id="{CC1CEA2B-FB1E-3C37-C0E8-11B43AAD2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rcRect/>
            <a:stretch>
              <a:fillRect/>
            </a:stretch>
          </p:blipFill>
          <p:spPr>
            <a:xfrm>
              <a:off x="1055701" y="1696332"/>
              <a:ext cx="4608975" cy="1420491"/>
            </a:xfrm>
            <a:custGeom>
              <a:avLst/>
              <a:gdLst>
                <a:gd name="connsiteX0" fmla="*/ 2815920 w 4608975"/>
                <a:gd name="connsiteY0" fmla="*/ 751510 h 1420491"/>
                <a:gd name="connsiteX1" fmla="*/ 2689920 w 4608975"/>
                <a:gd name="connsiteY1" fmla="*/ 877510 h 1420491"/>
                <a:gd name="connsiteX2" fmla="*/ 2815920 w 4608975"/>
                <a:gd name="connsiteY2" fmla="*/ 1003510 h 1420491"/>
                <a:gd name="connsiteX3" fmla="*/ 2941920 w 4608975"/>
                <a:gd name="connsiteY3" fmla="*/ 877510 h 1420491"/>
                <a:gd name="connsiteX4" fmla="*/ 2815920 w 4608975"/>
                <a:gd name="connsiteY4" fmla="*/ 751510 h 1420491"/>
                <a:gd name="connsiteX5" fmla="*/ 852838 w 4608975"/>
                <a:gd name="connsiteY5" fmla="*/ 751510 h 1420491"/>
                <a:gd name="connsiteX6" fmla="*/ 726838 w 4608975"/>
                <a:gd name="connsiteY6" fmla="*/ 877510 h 1420491"/>
                <a:gd name="connsiteX7" fmla="*/ 852838 w 4608975"/>
                <a:gd name="connsiteY7" fmla="*/ 1003510 h 1420491"/>
                <a:gd name="connsiteX8" fmla="*/ 978838 w 4608975"/>
                <a:gd name="connsiteY8" fmla="*/ 877510 h 1420491"/>
                <a:gd name="connsiteX9" fmla="*/ 852838 w 4608975"/>
                <a:gd name="connsiteY9" fmla="*/ 751510 h 1420491"/>
                <a:gd name="connsiteX10" fmla="*/ 0 w 4608975"/>
                <a:gd name="connsiteY10" fmla="*/ 0 h 1420491"/>
                <a:gd name="connsiteX11" fmla="*/ 4608975 w 4608975"/>
                <a:gd name="connsiteY11" fmla="*/ 0 h 1420491"/>
                <a:gd name="connsiteX12" fmla="*/ 4608975 w 4608975"/>
                <a:gd name="connsiteY12" fmla="*/ 1420491 h 1420491"/>
                <a:gd name="connsiteX13" fmla="*/ 0 w 4608975"/>
                <a:gd name="connsiteY13" fmla="*/ 1420491 h 14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08975" h="1420491">
                  <a:moveTo>
                    <a:pt x="2815920" y="751510"/>
                  </a:moveTo>
                  <a:cubicBezTo>
                    <a:pt x="2746332" y="751510"/>
                    <a:pt x="2689920" y="807922"/>
                    <a:pt x="2689920" y="877510"/>
                  </a:cubicBezTo>
                  <a:cubicBezTo>
                    <a:pt x="2689920" y="947098"/>
                    <a:pt x="2746332" y="1003510"/>
                    <a:pt x="2815920" y="1003510"/>
                  </a:cubicBezTo>
                  <a:cubicBezTo>
                    <a:pt x="2885508" y="1003510"/>
                    <a:pt x="2941920" y="947098"/>
                    <a:pt x="2941920" y="877510"/>
                  </a:cubicBezTo>
                  <a:cubicBezTo>
                    <a:pt x="2941920" y="807922"/>
                    <a:pt x="2885508" y="751510"/>
                    <a:pt x="2815920" y="751510"/>
                  </a:cubicBezTo>
                  <a:close/>
                  <a:moveTo>
                    <a:pt x="852838" y="751510"/>
                  </a:moveTo>
                  <a:cubicBezTo>
                    <a:pt x="783250" y="751510"/>
                    <a:pt x="726838" y="807922"/>
                    <a:pt x="726838" y="877510"/>
                  </a:cubicBezTo>
                  <a:cubicBezTo>
                    <a:pt x="726838" y="947098"/>
                    <a:pt x="783250" y="1003510"/>
                    <a:pt x="852838" y="1003510"/>
                  </a:cubicBezTo>
                  <a:cubicBezTo>
                    <a:pt x="922426" y="1003510"/>
                    <a:pt x="978838" y="947098"/>
                    <a:pt x="978838" y="877510"/>
                  </a:cubicBezTo>
                  <a:cubicBezTo>
                    <a:pt x="978838" y="807922"/>
                    <a:pt x="922426" y="751510"/>
                    <a:pt x="852838" y="751510"/>
                  </a:cubicBezTo>
                  <a:close/>
                  <a:moveTo>
                    <a:pt x="0" y="0"/>
                  </a:moveTo>
                  <a:lnTo>
                    <a:pt x="4608975" y="0"/>
                  </a:lnTo>
                  <a:lnTo>
                    <a:pt x="4608975" y="1420491"/>
                  </a:lnTo>
                  <a:lnTo>
                    <a:pt x="0" y="1420491"/>
                  </a:lnTo>
                  <a:close/>
                </a:path>
              </a:pathLst>
            </a:custGeom>
          </p:spPr>
        </p:pic>
      </p:grpSp>
      <p:sp>
        <p:nvSpPr>
          <p:cNvPr id="157" name="Freeform 248">
            <a:extLst>
              <a:ext uri="{FF2B5EF4-FFF2-40B4-BE49-F238E27FC236}">
                <a16:creationId xmlns:a16="http://schemas.microsoft.com/office/drawing/2014/main" id="{3028273E-9899-09C2-9588-24CFF01EC759}"/>
              </a:ext>
            </a:extLst>
          </p:cNvPr>
          <p:cNvSpPr>
            <a:spLocks/>
          </p:cNvSpPr>
          <p:nvPr/>
        </p:nvSpPr>
        <p:spPr bwMode="auto">
          <a:xfrm>
            <a:off x="2528110" y="193974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75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1" name="Gruppieren 28">
            <a:extLst>
              <a:ext uri="{FF2B5EF4-FFF2-40B4-BE49-F238E27FC236}">
                <a16:creationId xmlns:a16="http://schemas.microsoft.com/office/drawing/2014/main" id="{6624028A-54D7-698B-7A13-2D3636CAA31B}"/>
              </a:ext>
            </a:extLst>
          </p:cNvPr>
          <p:cNvGrpSpPr>
            <a:grpSpLocks noChangeAspect="1"/>
          </p:cNvGrpSpPr>
          <p:nvPr/>
        </p:nvGrpSpPr>
        <p:grpSpPr>
          <a:xfrm>
            <a:off x="5112369" y="1816797"/>
            <a:ext cx="652295" cy="252000"/>
            <a:chOff x="2646467" y="1787509"/>
            <a:chExt cx="931850" cy="360000"/>
          </a:xfrm>
        </p:grpSpPr>
        <p:pic>
          <p:nvPicPr>
            <p:cNvPr id="222" name="Picture 16" descr="Apache Airflow — Wikipédia">
              <a:extLst>
                <a:ext uri="{FF2B5EF4-FFF2-40B4-BE49-F238E27FC236}">
                  <a16:creationId xmlns:a16="http://schemas.microsoft.com/office/drawing/2014/main" id="{E79AD625-88FD-27C5-2270-80B0130D4D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939"/>
            <a:stretch/>
          </p:blipFill>
          <p:spPr bwMode="auto">
            <a:xfrm>
              <a:off x="3000000" y="1787509"/>
              <a:ext cx="578317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3" name="Picture 16" descr="Apache Airflow — Wikipédia">
              <a:extLst>
                <a:ext uri="{FF2B5EF4-FFF2-40B4-BE49-F238E27FC236}">
                  <a16:creationId xmlns:a16="http://schemas.microsoft.com/office/drawing/2014/main" id="{229E9779-73DA-C27D-CA2B-15E4B8366E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061"/>
            <a:stretch/>
          </p:blipFill>
          <p:spPr bwMode="auto">
            <a:xfrm>
              <a:off x="2646467" y="1787509"/>
              <a:ext cx="353534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5" name="Gruppieren 30">
            <a:extLst>
              <a:ext uri="{FF2B5EF4-FFF2-40B4-BE49-F238E27FC236}">
                <a16:creationId xmlns:a16="http://schemas.microsoft.com/office/drawing/2014/main" id="{7A590105-6717-D955-21FB-39B247B87C6D}"/>
              </a:ext>
            </a:extLst>
          </p:cNvPr>
          <p:cNvGrpSpPr>
            <a:grpSpLocks noChangeAspect="1"/>
          </p:cNvGrpSpPr>
          <p:nvPr/>
        </p:nvGrpSpPr>
        <p:grpSpPr>
          <a:xfrm>
            <a:off x="6388311" y="1780797"/>
            <a:ext cx="692698" cy="324000"/>
            <a:chOff x="4898814" y="2439286"/>
            <a:chExt cx="3693520" cy="1727594"/>
          </a:xfrm>
        </p:grpSpPr>
        <p:pic>
          <p:nvPicPr>
            <p:cNvPr id="226" name="Grafik 129" descr="Ein Bild, das Schrift, Grafiken, Logo, Symbol enthält.&#10;&#10;Automatisch generierte Beschreibung">
              <a:extLst>
                <a:ext uri="{FF2B5EF4-FFF2-40B4-BE49-F238E27FC236}">
                  <a16:creationId xmlns:a16="http://schemas.microsoft.com/office/drawing/2014/main" id="{B24DEDC0-08D0-5059-6454-E4F44B29A5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43941"/>
            <a:stretch/>
          </p:blipFill>
          <p:spPr>
            <a:xfrm>
              <a:off x="6455999" y="2439286"/>
              <a:ext cx="2136335" cy="1727594"/>
            </a:xfrm>
            <a:prstGeom prst="rect">
              <a:avLst/>
            </a:prstGeom>
          </p:spPr>
        </p:pic>
        <p:pic>
          <p:nvPicPr>
            <p:cNvPr id="227" name="Grafik 130" descr="Ein Bild, das Schrift, Logo, Grafiken, Symbol enthält.&#10;&#10;Automatisch generierte Beschreibung">
              <a:extLst>
                <a:ext uri="{FF2B5EF4-FFF2-40B4-BE49-F238E27FC236}">
                  <a16:creationId xmlns:a16="http://schemas.microsoft.com/office/drawing/2014/main" id="{77BBC309-AC14-B53B-EA9C-7A7D620A32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10000" b="90000" l="4642" r="41776"/>
                      </a14:imgEffect>
                    </a14:imgLayer>
                  </a14:imgProps>
                </a:ext>
              </a:extLst>
            </a:blip>
            <a:srcRect t="23677" r="53582" b="24746"/>
            <a:stretch/>
          </p:blipFill>
          <p:spPr>
            <a:xfrm>
              <a:off x="4898814" y="2654408"/>
              <a:ext cx="1770956" cy="1350590"/>
            </a:xfrm>
            <a:prstGeom prst="rect">
              <a:avLst/>
            </a:prstGeom>
          </p:spPr>
        </p:pic>
      </p:grpSp>
      <p:pic>
        <p:nvPicPr>
          <p:cNvPr id="250" name="Grafik 249" descr="Kopf mit Zahnrädern mit einfarbiger Füllung">
            <a:extLst>
              <a:ext uri="{FF2B5EF4-FFF2-40B4-BE49-F238E27FC236}">
                <a16:creationId xmlns:a16="http://schemas.microsoft.com/office/drawing/2014/main" id="{29D64B1D-75A1-BD4D-62AA-5DC25A79360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79568" y="1762797"/>
            <a:ext cx="360000" cy="360000"/>
          </a:xfrm>
          <a:prstGeom prst="rect">
            <a:avLst/>
          </a:prstGeom>
        </p:spPr>
      </p:pic>
      <p:pic>
        <p:nvPicPr>
          <p:cNvPr id="7" name="Grafik 38">
            <a:extLst>
              <a:ext uri="{FF2B5EF4-FFF2-40B4-BE49-F238E27FC236}">
                <a16:creationId xmlns:a16="http://schemas.microsoft.com/office/drawing/2014/main" id="{0CFBC4BB-ED74-91D0-B170-9605F9EA1BF3}"/>
              </a:ext>
            </a:extLst>
          </p:cNvPr>
          <p:cNvPicPr>
            <a:picLocks noChangeAspect="1"/>
          </p:cNvPicPr>
          <p:nvPr/>
        </p:nvPicPr>
        <p:blipFill>
          <a:blip r:embed="rId21">
            <a:biLevel thresh="25000"/>
          </a:blip>
          <a:stretch>
            <a:fillRect/>
          </a:stretch>
        </p:blipFill>
        <p:spPr>
          <a:xfrm>
            <a:off x="7558210" y="1851532"/>
            <a:ext cx="936000" cy="244174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44720A7-8CCE-2827-B9F8-FE349E872033}"/>
              </a:ext>
            </a:extLst>
          </p:cNvPr>
          <p:cNvSpPr/>
          <p:nvPr/>
        </p:nvSpPr>
        <p:spPr>
          <a:xfrm>
            <a:off x="411163" y="3619087"/>
            <a:ext cx="165238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r"/>
            <a:r>
              <a:rPr lang="en-US" sz="1200"/>
              <a:t>Data Scientists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9B314D6-C4E1-E34B-1AFA-DD4EFCE22D2B}"/>
              </a:ext>
            </a:extLst>
          </p:cNvPr>
          <p:cNvSpPr/>
          <p:nvPr/>
        </p:nvSpPr>
        <p:spPr>
          <a:xfrm>
            <a:off x="2207568" y="3547107"/>
            <a:ext cx="504000" cy="504000"/>
          </a:xfrm>
          <a:prstGeom prst="ellipse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tx1">
                  <a:alpha val="30000"/>
                </a:schemeClr>
              </a:gs>
            </a:gsLst>
            <a:lin ang="14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1200">
              <a:solidFill>
                <a:prstClr val="white"/>
              </a:solidFill>
              <a:latin typeface="Arial"/>
            </a:endParaRP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13E48B5-6C1C-0228-1AFB-E80FFB629930}"/>
              </a:ext>
            </a:extLst>
          </p:cNvPr>
          <p:cNvCxnSpPr>
            <a:cxnSpLocks/>
            <a:stCxn id="26" idx="6"/>
          </p:cNvCxnSpPr>
          <p:nvPr/>
        </p:nvCxnSpPr>
        <p:spPr>
          <a:xfrm>
            <a:off x="2711568" y="3799107"/>
            <a:ext cx="720136" cy="0"/>
          </a:xfrm>
          <a:prstGeom prst="line">
            <a:avLst/>
          </a:prstGeom>
          <a:ln w="9525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8F8B664A-FAC0-AE1C-3124-B926367AC11B}"/>
              </a:ext>
            </a:extLst>
          </p:cNvPr>
          <p:cNvSpPr/>
          <p:nvPr/>
        </p:nvSpPr>
        <p:spPr>
          <a:xfrm>
            <a:off x="3631266" y="3605385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17A77BE6-ED6E-21E1-9C94-FDD1A01FE194}"/>
              </a:ext>
            </a:extLst>
          </p:cNvPr>
          <p:cNvSpPr/>
          <p:nvPr/>
        </p:nvSpPr>
        <p:spPr>
          <a:xfrm>
            <a:off x="4934516" y="3605385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5696EB54-C044-363A-A6EC-5226E32734DD}"/>
              </a:ext>
            </a:extLst>
          </p:cNvPr>
          <p:cNvSpPr/>
          <p:nvPr/>
        </p:nvSpPr>
        <p:spPr>
          <a:xfrm>
            <a:off x="6230660" y="3605385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EC9C556B-18B7-B4A0-201B-EBA2939F4281}"/>
              </a:ext>
            </a:extLst>
          </p:cNvPr>
          <p:cNvSpPr/>
          <p:nvPr/>
        </p:nvSpPr>
        <p:spPr>
          <a:xfrm>
            <a:off x="7522210" y="3605385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59" name="Gruppieren 44">
            <a:extLst>
              <a:ext uri="{FF2B5EF4-FFF2-40B4-BE49-F238E27FC236}">
                <a16:creationId xmlns:a16="http://schemas.microsoft.com/office/drawing/2014/main" id="{5D413DC0-5883-0C6A-8908-DF1C4BA918F1}"/>
              </a:ext>
            </a:extLst>
          </p:cNvPr>
          <p:cNvGrpSpPr>
            <a:grpSpLocks noChangeAspect="1"/>
          </p:cNvGrpSpPr>
          <p:nvPr/>
        </p:nvGrpSpPr>
        <p:grpSpPr>
          <a:xfrm>
            <a:off x="3727392" y="3641321"/>
            <a:ext cx="815749" cy="252000"/>
            <a:chOff x="1055701" y="1696332"/>
            <a:chExt cx="4608975" cy="1423800"/>
          </a:xfrm>
        </p:grpSpPr>
        <p:pic>
          <p:nvPicPr>
            <p:cNvPr id="61" name="Grafik 113" descr="Ein Bild, das Grafiken, Schrift, Screenshot, Grafikdesign enthält.&#10;&#10;Automatisch generierte Beschreibung">
              <a:extLst>
                <a:ext uri="{FF2B5EF4-FFF2-40B4-BE49-F238E27FC236}">
                  <a16:creationId xmlns:a16="http://schemas.microsoft.com/office/drawing/2014/main" id="{E85D0E97-4FB1-EE8D-2B18-0836FD2B4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55701" y="1696332"/>
              <a:ext cx="4608000" cy="1423800"/>
            </a:xfrm>
            <a:prstGeom prst="rect">
              <a:avLst/>
            </a:prstGeom>
          </p:spPr>
        </p:pic>
        <p:pic>
          <p:nvPicPr>
            <p:cNvPr id="72" name="Grafik 114">
              <a:extLst>
                <a:ext uri="{FF2B5EF4-FFF2-40B4-BE49-F238E27FC236}">
                  <a16:creationId xmlns:a16="http://schemas.microsoft.com/office/drawing/2014/main" id="{000904E7-1B29-A295-52F2-A1549570E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rcRect/>
            <a:stretch>
              <a:fillRect/>
            </a:stretch>
          </p:blipFill>
          <p:spPr>
            <a:xfrm>
              <a:off x="1055701" y="1696332"/>
              <a:ext cx="4608975" cy="1420491"/>
            </a:xfrm>
            <a:custGeom>
              <a:avLst/>
              <a:gdLst>
                <a:gd name="connsiteX0" fmla="*/ 2815920 w 4608975"/>
                <a:gd name="connsiteY0" fmla="*/ 751510 h 1420491"/>
                <a:gd name="connsiteX1" fmla="*/ 2689920 w 4608975"/>
                <a:gd name="connsiteY1" fmla="*/ 877510 h 1420491"/>
                <a:gd name="connsiteX2" fmla="*/ 2815920 w 4608975"/>
                <a:gd name="connsiteY2" fmla="*/ 1003510 h 1420491"/>
                <a:gd name="connsiteX3" fmla="*/ 2941920 w 4608975"/>
                <a:gd name="connsiteY3" fmla="*/ 877510 h 1420491"/>
                <a:gd name="connsiteX4" fmla="*/ 2815920 w 4608975"/>
                <a:gd name="connsiteY4" fmla="*/ 751510 h 1420491"/>
                <a:gd name="connsiteX5" fmla="*/ 852838 w 4608975"/>
                <a:gd name="connsiteY5" fmla="*/ 751510 h 1420491"/>
                <a:gd name="connsiteX6" fmla="*/ 726838 w 4608975"/>
                <a:gd name="connsiteY6" fmla="*/ 877510 h 1420491"/>
                <a:gd name="connsiteX7" fmla="*/ 852838 w 4608975"/>
                <a:gd name="connsiteY7" fmla="*/ 1003510 h 1420491"/>
                <a:gd name="connsiteX8" fmla="*/ 978838 w 4608975"/>
                <a:gd name="connsiteY8" fmla="*/ 877510 h 1420491"/>
                <a:gd name="connsiteX9" fmla="*/ 852838 w 4608975"/>
                <a:gd name="connsiteY9" fmla="*/ 751510 h 1420491"/>
                <a:gd name="connsiteX10" fmla="*/ 0 w 4608975"/>
                <a:gd name="connsiteY10" fmla="*/ 0 h 1420491"/>
                <a:gd name="connsiteX11" fmla="*/ 4608975 w 4608975"/>
                <a:gd name="connsiteY11" fmla="*/ 0 h 1420491"/>
                <a:gd name="connsiteX12" fmla="*/ 4608975 w 4608975"/>
                <a:gd name="connsiteY12" fmla="*/ 1420491 h 1420491"/>
                <a:gd name="connsiteX13" fmla="*/ 0 w 4608975"/>
                <a:gd name="connsiteY13" fmla="*/ 1420491 h 14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08975" h="1420491">
                  <a:moveTo>
                    <a:pt x="2815920" y="751510"/>
                  </a:moveTo>
                  <a:cubicBezTo>
                    <a:pt x="2746332" y="751510"/>
                    <a:pt x="2689920" y="807922"/>
                    <a:pt x="2689920" y="877510"/>
                  </a:cubicBezTo>
                  <a:cubicBezTo>
                    <a:pt x="2689920" y="947098"/>
                    <a:pt x="2746332" y="1003510"/>
                    <a:pt x="2815920" y="1003510"/>
                  </a:cubicBezTo>
                  <a:cubicBezTo>
                    <a:pt x="2885508" y="1003510"/>
                    <a:pt x="2941920" y="947098"/>
                    <a:pt x="2941920" y="877510"/>
                  </a:cubicBezTo>
                  <a:cubicBezTo>
                    <a:pt x="2941920" y="807922"/>
                    <a:pt x="2885508" y="751510"/>
                    <a:pt x="2815920" y="751510"/>
                  </a:cubicBezTo>
                  <a:close/>
                  <a:moveTo>
                    <a:pt x="852838" y="751510"/>
                  </a:moveTo>
                  <a:cubicBezTo>
                    <a:pt x="783250" y="751510"/>
                    <a:pt x="726838" y="807922"/>
                    <a:pt x="726838" y="877510"/>
                  </a:cubicBezTo>
                  <a:cubicBezTo>
                    <a:pt x="726838" y="947098"/>
                    <a:pt x="783250" y="1003510"/>
                    <a:pt x="852838" y="1003510"/>
                  </a:cubicBezTo>
                  <a:cubicBezTo>
                    <a:pt x="922426" y="1003510"/>
                    <a:pt x="978838" y="947098"/>
                    <a:pt x="978838" y="877510"/>
                  </a:cubicBezTo>
                  <a:cubicBezTo>
                    <a:pt x="978838" y="807922"/>
                    <a:pt x="922426" y="751510"/>
                    <a:pt x="852838" y="751510"/>
                  </a:cubicBezTo>
                  <a:close/>
                  <a:moveTo>
                    <a:pt x="0" y="0"/>
                  </a:moveTo>
                  <a:lnTo>
                    <a:pt x="4608975" y="0"/>
                  </a:lnTo>
                  <a:lnTo>
                    <a:pt x="4608975" y="1420491"/>
                  </a:lnTo>
                  <a:lnTo>
                    <a:pt x="0" y="1420491"/>
                  </a:lnTo>
                  <a:close/>
                </a:path>
              </a:pathLst>
            </a:custGeom>
          </p:spPr>
        </p:pic>
      </p:grpSp>
      <p:pic>
        <p:nvPicPr>
          <p:cNvPr id="224" name="Grafik 29" descr="Ein Bild, das Schrift, Grafiken, Text, Logo enthält.&#10;&#10;Automatisch generierte Beschreibung">
            <a:extLst>
              <a:ext uri="{FF2B5EF4-FFF2-40B4-BE49-F238E27FC236}">
                <a16:creationId xmlns:a16="http://schemas.microsoft.com/office/drawing/2014/main" id="{D273A271-60E0-7515-079C-C371CAC2236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83903" y="3646370"/>
            <a:ext cx="484615" cy="252000"/>
          </a:xfrm>
          <a:prstGeom prst="rect">
            <a:avLst/>
          </a:prstGeom>
        </p:spPr>
      </p:pic>
      <p:grpSp>
        <p:nvGrpSpPr>
          <p:cNvPr id="234" name="Gruppieren 47">
            <a:extLst>
              <a:ext uri="{FF2B5EF4-FFF2-40B4-BE49-F238E27FC236}">
                <a16:creationId xmlns:a16="http://schemas.microsoft.com/office/drawing/2014/main" id="{629CE9BD-5C48-CA4C-4103-3AE53628CF06}"/>
              </a:ext>
            </a:extLst>
          </p:cNvPr>
          <p:cNvGrpSpPr>
            <a:grpSpLocks noChangeAspect="1"/>
          </p:cNvGrpSpPr>
          <p:nvPr/>
        </p:nvGrpSpPr>
        <p:grpSpPr>
          <a:xfrm>
            <a:off x="6603527" y="3641321"/>
            <a:ext cx="262266" cy="303994"/>
            <a:chOff x="8890780" y="4659289"/>
            <a:chExt cx="481864" cy="558533"/>
          </a:xfrm>
        </p:grpSpPr>
        <p:pic>
          <p:nvPicPr>
            <p:cNvPr id="235" name="Grafik 106">
              <a:extLst>
                <a:ext uri="{FF2B5EF4-FFF2-40B4-BE49-F238E27FC236}">
                  <a16:creationId xmlns:a16="http://schemas.microsoft.com/office/drawing/2014/main" id="{9352BA8B-530E-1B6F-5E2D-5A97FC1A81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780" y="4659289"/>
              <a:ext cx="481864" cy="558533"/>
            </a:xfrm>
            <a:custGeom>
              <a:avLst/>
              <a:gdLst>
                <a:gd name="connsiteX0" fmla="*/ 0 w 481864"/>
                <a:gd name="connsiteY0" fmla="*/ 344187 h 558533"/>
                <a:gd name="connsiteX1" fmla="*/ 481864 w 481864"/>
                <a:gd name="connsiteY1" fmla="*/ 344187 h 558533"/>
                <a:gd name="connsiteX2" fmla="*/ 481864 w 481864"/>
                <a:gd name="connsiteY2" fmla="*/ 558533 h 558533"/>
                <a:gd name="connsiteX3" fmla="*/ 0 w 481864"/>
                <a:gd name="connsiteY3" fmla="*/ 558533 h 558533"/>
                <a:gd name="connsiteX4" fmla="*/ 0 w 481864"/>
                <a:gd name="connsiteY4" fmla="*/ 0 h 558533"/>
                <a:gd name="connsiteX5" fmla="*/ 481864 w 481864"/>
                <a:gd name="connsiteY5" fmla="*/ 0 h 558533"/>
                <a:gd name="connsiteX6" fmla="*/ 481864 w 481864"/>
                <a:gd name="connsiteY6" fmla="*/ 200187 h 558533"/>
                <a:gd name="connsiteX7" fmla="*/ 0 w 481864"/>
                <a:gd name="connsiteY7" fmla="*/ 200187 h 55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864" h="558533">
                  <a:moveTo>
                    <a:pt x="0" y="344187"/>
                  </a:moveTo>
                  <a:lnTo>
                    <a:pt x="481864" y="344187"/>
                  </a:lnTo>
                  <a:lnTo>
                    <a:pt x="481864" y="558533"/>
                  </a:lnTo>
                  <a:lnTo>
                    <a:pt x="0" y="558533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200187"/>
                  </a:lnTo>
                  <a:lnTo>
                    <a:pt x="0" y="20018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6" name="Grafik 107">
              <a:extLst>
                <a:ext uri="{FF2B5EF4-FFF2-40B4-BE49-F238E27FC236}">
                  <a16:creationId xmlns:a16="http://schemas.microsoft.com/office/drawing/2014/main" id="{E87D007E-B912-248B-32CC-9942AC17B5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547" b="36671"/>
            <a:stretch/>
          </p:blipFill>
          <p:spPr bwMode="auto">
            <a:xfrm>
              <a:off x="8890780" y="4869000"/>
              <a:ext cx="481864" cy="144000"/>
            </a:xfrm>
            <a:custGeom>
              <a:avLst/>
              <a:gdLst>
                <a:gd name="connsiteX0" fmla="*/ 481864 w 481864"/>
                <a:gd name="connsiteY0" fmla="*/ 141952 h 144000"/>
                <a:gd name="connsiteX1" fmla="*/ 481864 w 481864"/>
                <a:gd name="connsiteY1" fmla="*/ 144000 h 144000"/>
                <a:gd name="connsiteX2" fmla="*/ 480692 w 481864"/>
                <a:gd name="connsiteY2" fmla="*/ 144000 h 144000"/>
                <a:gd name="connsiteX3" fmla="*/ 0 w 481864"/>
                <a:gd name="connsiteY3" fmla="*/ 0 h 144000"/>
                <a:gd name="connsiteX4" fmla="*/ 481864 w 481864"/>
                <a:gd name="connsiteY4" fmla="*/ 0 h 144000"/>
                <a:gd name="connsiteX5" fmla="*/ 481864 w 481864"/>
                <a:gd name="connsiteY5" fmla="*/ 141952 h 144000"/>
                <a:gd name="connsiteX6" fmla="*/ 445864 w 481864"/>
                <a:gd name="connsiteY6" fmla="*/ 115894 h 144000"/>
                <a:gd name="connsiteX7" fmla="*/ 409864 w 481864"/>
                <a:gd name="connsiteY7" fmla="*/ 141952 h 144000"/>
                <a:gd name="connsiteX8" fmla="*/ 411036 w 481864"/>
                <a:gd name="connsiteY8" fmla="*/ 144000 h 144000"/>
                <a:gd name="connsiteX9" fmla="*/ 102346 w 481864"/>
                <a:gd name="connsiteY9" fmla="*/ 144000 h 144000"/>
                <a:gd name="connsiteX10" fmla="*/ 103518 w 481864"/>
                <a:gd name="connsiteY10" fmla="*/ 141952 h 144000"/>
                <a:gd name="connsiteX11" fmla="*/ 67518 w 481864"/>
                <a:gd name="connsiteY11" fmla="*/ 115894 h 144000"/>
                <a:gd name="connsiteX12" fmla="*/ 31518 w 481864"/>
                <a:gd name="connsiteY12" fmla="*/ 141952 h 144000"/>
                <a:gd name="connsiteX13" fmla="*/ 32690 w 481864"/>
                <a:gd name="connsiteY13" fmla="*/ 144000 h 144000"/>
                <a:gd name="connsiteX14" fmla="*/ 0 w 481864"/>
                <a:gd name="connsiteY14" fmla="*/ 144000 h 1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1864" h="144000">
                  <a:moveTo>
                    <a:pt x="481864" y="141952"/>
                  </a:moveTo>
                  <a:lnTo>
                    <a:pt x="481864" y="144000"/>
                  </a:lnTo>
                  <a:lnTo>
                    <a:pt x="480692" y="144000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141952"/>
                  </a:lnTo>
                  <a:cubicBezTo>
                    <a:pt x="481864" y="127561"/>
                    <a:pt x="465746" y="115894"/>
                    <a:pt x="445864" y="115894"/>
                  </a:cubicBezTo>
                  <a:cubicBezTo>
                    <a:pt x="425982" y="115894"/>
                    <a:pt x="409864" y="127561"/>
                    <a:pt x="409864" y="141952"/>
                  </a:cubicBezTo>
                  <a:lnTo>
                    <a:pt x="411036" y="144000"/>
                  </a:lnTo>
                  <a:lnTo>
                    <a:pt x="102346" y="144000"/>
                  </a:lnTo>
                  <a:lnTo>
                    <a:pt x="103518" y="141952"/>
                  </a:lnTo>
                  <a:cubicBezTo>
                    <a:pt x="103518" y="127561"/>
                    <a:pt x="87400" y="115894"/>
                    <a:pt x="67518" y="115894"/>
                  </a:cubicBezTo>
                  <a:cubicBezTo>
                    <a:pt x="47636" y="115894"/>
                    <a:pt x="31518" y="127561"/>
                    <a:pt x="31518" y="141952"/>
                  </a:cubicBezTo>
                  <a:lnTo>
                    <a:pt x="32690" y="144000"/>
                  </a:lnTo>
                  <a:lnTo>
                    <a:pt x="0" y="144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7" name="Grafik 108">
              <a:extLst>
                <a:ext uri="{FF2B5EF4-FFF2-40B4-BE49-F238E27FC236}">
                  <a16:creationId xmlns:a16="http://schemas.microsoft.com/office/drawing/2014/main" id="{11508FD6-53E4-ADF5-096F-BF0A0D787E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780" y="4659289"/>
              <a:ext cx="481864" cy="558533"/>
            </a:xfrm>
            <a:custGeom>
              <a:avLst/>
              <a:gdLst>
                <a:gd name="connsiteX0" fmla="*/ 0 w 481864"/>
                <a:gd name="connsiteY0" fmla="*/ 344187 h 558533"/>
                <a:gd name="connsiteX1" fmla="*/ 13021 w 481864"/>
                <a:gd name="connsiteY1" fmla="*/ 344187 h 558533"/>
                <a:gd name="connsiteX2" fmla="*/ 20726 w 481864"/>
                <a:gd name="connsiteY2" fmla="*/ 369007 h 558533"/>
                <a:gd name="connsiteX3" fmla="*/ 236337 w 481864"/>
                <a:gd name="connsiteY3" fmla="*/ 511923 h 558533"/>
                <a:gd name="connsiteX4" fmla="*/ 451948 w 481864"/>
                <a:gd name="connsiteY4" fmla="*/ 369007 h 558533"/>
                <a:gd name="connsiteX5" fmla="*/ 459653 w 481864"/>
                <a:gd name="connsiteY5" fmla="*/ 344187 h 558533"/>
                <a:gd name="connsiteX6" fmla="*/ 481864 w 481864"/>
                <a:gd name="connsiteY6" fmla="*/ 344187 h 558533"/>
                <a:gd name="connsiteX7" fmla="*/ 481864 w 481864"/>
                <a:gd name="connsiteY7" fmla="*/ 558533 h 558533"/>
                <a:gd name="connsiteX8" fmla="*/ 0 w 481864"/>
                <a:gd name="connsiteY8" fmla="*/ 558533 h 558533"/>
                <a:gd name="connsiteX9" fmla="*/ 0 w 481864"/>
                <a:gd name="connsiteY9" fmla="*/ 0 h 558533"/>
                <a:gd name="connsiteX10" fmla="*/ 481864 w 481864"/>
                <a:gd name="connsiteY10" fmla="*/ 0 h 558533"/>
                <a:gd name="connsiteX11" fmla="*/ 481864 w 481864"/>
                <a:gd name="connsiteY11" fmla="*/ 200187 h 558533"/>
                <a:gd name="connsiteX12" fmla="*/ 456091 w 481864"/>
                <a:gd name="connsiteY12" fmla="*/ 200187 h 558533"/>
                <a:gd name="connsiteX13" fmla="*/ 451948 w 481864"/>
                <a:gd name="connsiteY13" fmla="*/ 186840 h 558533"/>
                <a:gd name="connsiteX14" fmla="*/ 236337 w 481864"/>
                <a:gd name="connsiteY14" fmla="*/ 43923 h 558533"/>
                <a:gd name="connsiteX15" fmla="*/ 20726 w 481864"/>
                <a:gd name="connsiteY15" fmla="*/ 186840 h 558533"/>
                <a:gd name="connsiteX16" fmla="*/ 16583 w 481864"/>
                <a:gd name="connsiteY16" fmla="*/ 200187 h 558533"/>
                <a:gd name="connsiteX17" fmla="*/ 0 w 481864"/>
                <a:gd name="connsiteY17" fmla="*/ 200187 h 55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1864" h="558533">
                  <a:moveTo>
                    <a:pt x="0" y="344187"/>
                  </a:moveTo>
                  <a:lnTo>
                    <a:pt x="13021" y="344187"/>
                  </a:lnTo>
                  <a:lnTo>
                    <a:pt x="20726" y="369007"/>
                  </a:lnTo>
                  <a:cubicBezTo>
                    <a:pt x="56249" y="452993"/>
                    <a:pt x="139411" y="511923"/>
                    <a:pt x="236337" y="511923"/>
                  </a:cubicBezTo>
                  <a:cubicBezTo>
                    <a:pt x="333263" y="511923"/>
                    <a:pt x="416425" y="452993"/>
                    <a:pt x="451948" y="369007"/>
                  </a:cubicBezTo>
                  <a:lnTo>
                    <a:pt x="459653" y="344187"/>
                  </a:lnTo>
                  <a:lnTo>
                    <a:pt x="481864" y="344187"/>
                  </a:lnTo>
                  <a:lnTo>
                    <a:pt x="481864" y="558533"/>
                  </a:lnTo>
                  <a:lnTo>
                    <a:pt x="0" y="558533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200187"/>
                  </a:lnTo>
                  <a:lnTo>
                    <a:pt x="456091" y="200187"/>
                  </a:lnTo>
                  <a:lnTo>
                    <a:pt x="451948" y="186840"/>
                  </a:lnTo>
                  <a:cubicBezTo>
                    <a:pt x="416425" y="102854"/>
                    <a:pt x="333263" y="43923"/>
                    <a:pt x="236337" y="43923"/>
                  </a:cubicBezTo>
                  <a:cubicBezTo>
                    <a:pt x="139411" y="43923"/>
                    <a:pt x="56249" y="102854"/>
                    <a:pt x="20726" y="186840"/>
                  </a:cubicBezTo>
                  <a:lnTo>
                    <a:pt x="16583" y="200187"/>
                  </a:lnTo>
                  <a:lnTo>
                    <a:pt x="0" y="20018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8" name="Gruppieren 46">
            <a:extLst>
              <a:ext uri="{FF2B5EF4-FFF2-40B4-BE49-F238E27FC236}">
                <a16:creationId xmlns:a16="http://schemas.microsoft.com/office/drawing/2014/main" id="{A28D500A-1FD6-57B3-5C2A-6A40AC0D119F}"/>
              </a:ext>
            </a:extLst>
          </p:cNvPr>
          <p:cNvGrpSpPr>
            <a:grpSpLocks noChangeAspect="1"/>
          </p:cNvGrpSpPr>
          <p:nvPr/>
        </p:nvGrpSpPr>
        <p:grpSpPr>
          <a:xfrm>
            <a:off x="5043179" y="3606896"/>
            <a:ext cx="790675" cy="396000"/>
            <a:chOff x="7082362" y="3857619"/>
            <a:chExt cx="1403538" cy="702945"/>
          </a:xfrm>
        </p:grpSpPr>
        <p:pic>
          <p:nvPicPr>
            <p:cNvPr id="239" name="Grafik 109">
              <a:extLst>
                <a:ext uri="{FF2B5EF4-FFF2-40B4-BE49-F238E27FC236}">
                  <a16:creationId xmlns:a16="http://schemas.microsoft.com/office/drawing/2014/main" id="{16780404-4D05-6FDD-35A5-952CFA911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biLevel thresh="25000"/>
            </a:blip>
            <a:stretch>
              <a:fillRect/>
            </a:stretch>
          </p:blipFill>
          <p:spPr>
            <a:xfrm>
              <a:off x="7608000" y="3857619"/>
              <a:ext cx="877900" cy="701101"/>
            </a:xfrm>
            <a:prstGeom prst="rect">
              <a:avLst/>
            </a:prstGeom>
          </p:spPr>
        </p:pic>
        <p:pic>
          <p:nvPicPr>
            <p:cNvPr id="240" name="Picture 30" descr="Tuning your Model HyperParameters with AWS SageMaker | by Rodrigo Dutcosky  | AWS in Plain English">
              <a:extLst>
                <a:ext uri="{FF2B5EF4-FFF2-40B4-BE49-F238E27FC236}">
                  <a16:creationId xmlns:a16="http://schemas.microsoft.com/office/drawing/2014/main" id="{4A1248A0-6187-2B2D-8B13-A3610242E6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612"/>
            <a:stretch/>
          </p:blipFill>
          <p:spPr bwMode="auto">
            <a:xfrm>
              <a:off x="7082362" y="3857619"/>
              <a:ext cx="525638" cy="702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7" name="Grafik 216" descr="Atom mit einfarbiger Füllung">
            <a:extLst>
              <a:ext uri="{FF2B5EF4-FFF2-40B4-BE49-F238E27FC236}">
                <a16:creationId xmlns:a16="http://schemas.microsoft.com/office/drawing/2014/main" id="{7317A45B-AB8C-27D7-3D68-CFB33A6DDAC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79568" y="3619107"/>
            <a:ext cx="360000" cy="360000"/>
          </a:xfrm>
          <a:prstGeom prst="rect">
            <a:avLst/>
          </a:prstGeom>
        </p:spPr>
      </p:pic>
      <p:cxnSp>
        <p:nvCxnSpPr>
          <p:cNvPr id="265" name="Gerader Verbinder 264">
            <a:extLst>
              <a:ext uri="{FF2B5EF4-FFF2-40B4-BE49-F238E27FC236}">
                <a16:creationId xmlns:a16="http://schemas.microsoft.com/office/drawing/2014/main" id="{42FC177C-2E94-9044-0222-588BC85AEF8C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2459568" y="1414462"/>
            <a:ext cx="0" cy="276335"/>
          </a:xfrm>
          <a:prstGeom prst="line">
            <a:avLst/>
          </a:prstGeom>
          <a:ln w="2857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1BC0BA-F387-E6AC-D81F-6166A8054D9D}"/>
              </a:ext>
            </a:extLst>
          </p:cNvPr>
          <p:cNvSpPr txBox="1"/>
          <p:nvPr/>
        </p:nvSpPr>
        <p:spPr>
          <a:xfrm rot="16200000">
            <a:off x="-1430102" y="3290501"/>
            <a:ext cx="4007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>
                <a:solidFill>
                  <a:schemeClr val="tx1"/>
                </a:solidFill>
              </a:rPr>
              <a:t>Personas Platform Users</a:t>
            </a:r>
          </a:p>
        </p:txBody>
      </p:sp>
      <p:sp>
        <p:nvSpPr>
          <p:cNvPr id="244" name="Rechteck 243">
            <a:extLst>
              <a:ext uri="{FF2B5EF4-FFF2-40B4-BE49-F238E27FC236}">
                <a16:creationId xmlns:a16="http://schemas.microsoft.com/office/drawing/2014/main" id="{545663A8-D934-3005-1E2A-5B8529842DA3}"/>
              </a:ext>
            </a:extLst>
          </p:cNvPr>
          <p:cNvSpPr/>
          <p:nvPr/>
        </p:nvSpPr>
        <p:spPr>
          <a:xfrm>
            <a:off x="10128560" y="1762797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247" name="Gruppieren 43">
            <a:extLst>
              <a:ext uri="{FF2B5EF4-FFF2-40B4-BE49-F238E27FC236}">
                <a16:creationId xmlns:a16="http://schemas.microsoft.com/office/drawing/2014/main" id="{A9A666C6-DBDF-070A-E2A1-5CB6E9CA47F8}"/>
              </a:ext>
            </a:extLst>
          </p:cNvPr>
          <p:cNvGrpSpPr>
            <a:grpSpLocks noChangeAspect="1"/>
          </p:cNvGrpSpPr>
          <p:nvPr/>
        </p:nvGrpSpPr>
        <p:grpSpPr>
          <a:xfrm>
            <a:off x="10238180" y="1816797"/>
            <a:ext cx="788761" cy="252000"/>
            <a:chOff x="2915635" y="2000501"/>
            <a:chExt cx="985005" cy="314698"/>
          </a:xfrm>
        </p:grpSpPr>
        <p:pic>
          <p:nvPicPr>
            <p:cNvPr id="249" name="Grafik 115">
              <a:extLst>
                <a:ext uri="{FF2B5EF4-FFF2-40B4-BE49-F238E27FC236}">
                  <a16:creationId xmlns:a16="http://schemas.microsoft.com/office/drawing/2014/main" id="{25B82EA9-DF1D-06A4-3753-4F70C373F0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r="62197"/>
            <a:stretch/>
          </p:blipFill>
          <p:spPr>
            <a:xfrm>
              <a:off x="2915635" y="2000501"/>
              <a:ext cx="372365" cy="314698"/>
            </a:xfrm>
            <a:prstGeom prst="rect">
              <a:avLst/>
            </a:prstGeom>
          </p:spPr>
        </p:pic>
        <p:pic>
          <p:nvPicPr>
            <p:cNvPr id="251" name="Grafik 116">
              <a:extLst>
                <a:ext uri="{FF2B5EF4-FFF2-40B4-BE49-F238E27FC236}">
                  <a16:creationId xmlns:a16="http://schemas.microsoft.com/office/drawing/2014/main" id="{FBE10F7D-07B3-3FBA-C14E-43B0E9FE10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l="30494"/>
            <a:stretch/>
          </p:blipFill>
          <p:spPr>
            <a:xfrm>
              <a:off x="3215999" y="2000501"/>
              <a:ext cx="684641" cy="314698"/>
            </a:xfrm>
            <a:prstGeom prst="rect">
              <a:avLst/>
            </a:prstGeom>
          </p:spPr>
        </p:pic>
      </p:grpSp>
      <p:sp>
        <p:nvSpPr>
          <p:cNvPr id="253" name="Rechteck 252">
            <a:extLst>
              <a:ext uri="{FF2B5EF4-FFF2-40B4-BE49-F238E27FC236}">
                <a16:creationId xmlns:a16="http://schemas.microsoft.com/office/drawing/2014/main" id="{7073B20F-CBC7-D5A8-CA0A-B75B9847F2B1}"/>
              </a:ext>
            </a:extLst>
          </p:cNvPr>
          <p:cNvSpPr/>
          <p:nvPr/>
        </p:nvSpPr>
        <p:spPr>
          <a:xfrm>
            <a:off x="8845747" y="1762797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pic>
        <p:nvPicPr>
          <p:cNvPr id="38" name="Grafik 29" descr="Ein Bild, das Schrift, Grafiken, Text, Logo enthält.&#10;&#10;Automatisch generierte Beschreibung">
            <a:extLst>
              <a:ext uri="{FF2B5EF4-FFF2-40B4-BE49-F238E27FC236}">
                <a16:creationId xmlns:a16="http://schemas.microsoft.com/office/drawing/2014/main" id="{EB2E4A92-EC84-17B7-DE1C-F12C130C196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7440" y="1816797"/>
            <a:ext cx="484615" cy="252000"/>
          </a:xfrm>
          <a:prstGeom prst="rect">
            <a:avLst/>
          </a:prstGeom>
        </p:spPr>
      </p:pic>
      <p:sp>
        <p:nvSpPr>
          <p:cNvPr id="68" name="Rechteck 67">
            <a:extLst>
              <a:ext uri="{FF2B5EF4-FFF2-40B4-BE49-F238E27FC236}">
                <a16:creationId xmlns:a16="http://schemas.microsoft.com/office/drawing/2014/main" id="{851E1875-3E00-B5A3-06A0-BF91B9EA3953}"/>
              </a:ext>
            </a:extLst>
          </p:cNvPr>
          <p:cNvSpPr/>
          <p:nvPr/>
        </p:nvSpPr>
        <p:spPr>
          <a:xfrm>
            <a:off x="3631266" y="2678691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8EC26977-1B1E-5B82-2FC7-DC48B4C5D24E}"/>
              </a:ext>
            </a:extLst>
          </p:cNvPr>
          <p:cNvSpPr/>
          <p:nvPr/>
        </p:nvSpPr>
        <p:spPr>
          <a:xfrm>
            <a:off x="4934516" y="2678691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320D94F0-B3A5-776E-2365-DFE8A76E1FC8}"/>
              </a:ext>
            </a:extLst>
          </p:cNvPr>
          <p:cNvSpPr/>
          <p:nvPr/>
        </p:nvSpPr>
        <p:spPr>
          <a:xfrm>
            <a:off x="6230660" y="2678691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16" name="Gruppieren 55">
            <a:extLst>
              <a:ext uri="{FF2B5EF4-FFF2-40B4-BE49-F238E27FC236}">
                <a16:creationId xmlns:a16="http://schemas.microsoft.com/office/drawing/2014/main" id="{CA70EB3D-C9E5-EFBB-503F-45EF7B8161AB}"/>
              </a:ext>
            </a:extLst>
          </p:cNvPr>
          <p:cNvGrpSpPr>
            <a:grpSpLocks noChangeAspect="1"/>
          </p:cNvGrpSpPr>
          <p:nvPr/>
        </p:nvGrpSpPr>
        <p:grpSpPr>
          <a:xfrm>
            <a:off x="6363815" y="2764416"/>
            <a:ext cx="741691" cy="180000"/>
            <a:chOff x="2444572" y="3227288"/>
            <a:chExt cx="904346" cy="219475"/>
          </a:xfrm>
        </p:grpSpPr>
        <p:pic>
          <p:nvPicPr>
            <p:cNvPr id="17" name="Picture 8">
              <a:extLst>
                <a:ext uri="{FF2B5EF4-FFF2-40B4-BE49-F238E27FC236}">
                  <a16:creationId xmlns:a16="http://schemas.microsoft.com/office/drawing/2014/main" id="{55DD98A2-6B4A-93EA-14B1-9E6D0958BA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481"/>
            <a:stretch/>
          </p:blipFill>
          <p:spPr bwMode="auto">
            <a:xfrm>
              <a:off x="2444572" y="3227288"/>
              <a:ext cx="221535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Grafik 96">
              <a:extLst>
                <a:ext uri="{FF2B5EF4-FFF2-40B4-BE49-F238E27FC236}">
                  <a16:creationId xmlns:a16="http://schemas.microsoft.com/office/drawing/2014/main" id="{93BEC05C-0C8F-689A-0715-2EA9442B5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biLevel thresh="25000"/>
            </a:blip>
            <a:stretch>
              <a:fillRect/>
            </a:stretch>
          </p:blipFill>
          <p:spPr>
            <a:xfrm>
              <a:off x="2666107" y="3227288"/>
              <a:ext cx="682811" cy="219475"/>
            </a:xfrm>
            <a:prstGeom prst="rect">
              <a:avLst/>
            </a:prstGeom>
          </p:spPr>
        </p:pic>
      </p:grpSp>
      <p:grpSp>
        <p:nvGrpSpPr>
          <p:cNvPr id="19" name="Gruppieren 270">
            <a:extLst>
              <a:ext uri="{FF2B5EF4-FFF2-40B4-BE49-F238E27FC236}">
                <a16:creationId xmlns:a16="http://schemas.microsoft.com/office/drawing/2014/main" id="{F30C3C78-DEC3-18B8-3CE3-142D90B3E113}"/>
              </a:ext>
            </a:extLst>
          </p:cNvPr>
          <p:cNvGrpSpPr>
            <a:grpSpLocks noChangeAspect="1"/>
          </p:cNvGrpSpPr>
          <p:nvPr/>
        </p:nvGrpSpPr>
        <p:grpSpPr>
          <a:xfrm>
            <a:off x="5041667" y="2740624"/>
            <a:ext cx="793699" cy="252000"/>
            <a:chOff x="2725555" y="1450001"/>
            <a:chExt cx="2524328" cy="801476"/>
          </a:xfrm>
        </p:grpSpPr>
        <p:pic>
          <p:nvPicPr>
            <p:cNvPr id="20" name="Picture 38" descr="Dremio">
              <a:extLst>
                <a:ext uri="{FF2B5EF4-FFF2-40B4-BE49-F238E27FC236}">
                  <a16:creationId xmlns:a16="http://schemas.microsoft.com/office/drawing/2014/main" id="{80B38E38-3A07-D142-66A5-1EDCBA077F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5555" y="1450001"/>
              <a:ext cx="2524328" cy="801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38" descr="Dremio">
              <a:extLst>
                <a:ext uri="{FF2B5EF4-FFF2-40B4-BE49-F238E27FC236}">
                  <a16:creationId xmlns:a16="http://schemas.microsoft.com/office/drawing/2014/main" id="{6796D779-6873-E114-1A49-ABC98DF5E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26"/>
            <a:stretch/>
          </p:blipFill>
          <p:spPr bwMode="auto">
            <a:xfrm>
              <a:off x="3455747" y="1450001"/>
              <a:ext cx="1794135" cy="801476"/>
            </a:xfrm>
            <a:prstGeom prst="round2Same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uppieren 44">
            <a:extLst>
              <a:ext uri="{FF2B5EF4-FFF2-40B4-BE49-F238E27FC236}">
                <a16:creationId xmlns:a16="http://schemas.microsoft.com/office/drawing/2014/main" id="{BE2ACBDF-3393-2275-14A1-7B855B8C4EB1}"/>
              </a:ext>
            </a:extLst>
          </p:cNvPr>
          <p:cNvGrpSpPr>
            <a:grpSpLocks noChangeAspect="1"/>
          </p:cNvGrpSpPr>
          <p:nvPr/>
        </p:nvGrpSpPr>
        <p:grpSpPr>
          <a:xfrm>
            <a:off x="3727392" y="2715010"/>
            <a:ext cx="815749" cy="252000"/>
            <a:chOff x="1055701" y="1696332"/>
            <a:chExt cx="4608975" cy="1423800"/>
          </a:xfrm>
        </p:grpSpPr>
        <p:pic>
          <p:nvPicPr>
            <p:cNvPr id="53" name="Grafik 113" descr="Ein Bild, das Grafiken, Schrift, Screenshot, Grafikdesign enthält.&#10;&#10;Automatisch generierte Beschreibung">
              <a:extLst>
                <a:ext uri="{FF2B5EF4-FFF2-40B4-BE49-F238E27FC236}">
                  <a16:creationId xmlns:a16="http://schemas.microsoft.com/office/drawing/2014/main" id="{7E46A41C-746C-2223-718C-60B366F61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55701" y="1696332"/>
              <a:ext cx="4608000" cy="1423800"/>
            </a:xfrm>
            <a:prstGeom prst="rect">
              <a:avLst/>
            </a:prstGeom>
          </p:spPr>
        </p:pic>
        <p:pic>
          <p:nvPicPr>
            <p:cNvPr id="55" name="Grafik 114">
              <a:extLst>
                <a:ext uri="{FF2B5EF4-FFF2-40B4-BE49-F238E27FC236}">
                  <a16:creationId xmlns:a16="http://schemas.microsoft.com/office/drawing/2014/main" id="{1AAEE1F5-3C64-2CE0-2CA9-637DBC8C6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rcRect/>
            <a:stretch>
              <a:fillRect/>
            </a:stretch>
          </p:blipFill>
          <p:spPr>
            <a:xfrm>
              <a:off x="1055701" y="1696332"/>
              <a:ext cx="4608975" cy="1420491"/>
            </a:xfrm>
            <a:custGeom>
              <a:avLst/>
              <a:gdLst>
                <a:gd name="connsiteX0" fmla="*/ 2815920 w 4608975"/>
                <a:gd name="connsiteY0" fmla="*/ 751510 h 1420491"/>
                <a:gd name="connsiteX1" fmla="*/ 2689920 w 4608975"/>
                <a:gd name="connsiteY1" fmla="*/ 877510 h 1420491"/>
                <a:gd name="connsiteX2" fmla="*/ 2815920 w 4608975"/>
                <a:gd name="connsiteY2" fmla="*/ 1003510 h 1420491"/>
                <a:gd name="connsiteX3" fmla="*/ 2941920 w 4608975"/>
                <a:gd name="connsiteY3" fmla="*/ 877510 h 1420491"/>
                <a:gd name="connsiteX4" fmla="*/ 2815920 w 4608975"/>
                <a:gd name="connsiteY4" fmla="*/ 751510 h 1420491"/>
                <a:gd name="connsiteX5" fmla="*/ 852838 w 4608975"/>
                <a:gd name="connsiteY5" fmla="*/ 751510 h 1420491"/>
                <a:gd name="connsiteX6" fmla="*/ 726838 w 4608975"/>
                <a:gd name="connsiteY6" fmla="*/ 877510 h 1420491"/>
                <a:gd name="connsiteX7" fmla="*/ 852838 w 4608975"/>
                <a:gd name="connsiteY7" fmla="*/ 1003510 h 1420491"/>
                <a:gd name="connsiteX8" fmla="*/ 978838 w 4608975"/>
                <a:gd name="connsiteY8" fmla="*/ 877510 h 1420491"/>
                <a:gd name="connsiteX9" fmla="*/ 852838 w 4608975"/>
                <a:gd name="connsiteY9" fmla="*/ 751510 h 1420491"/>
                <a:gd name="connsiteX10" fmla="*/ 0 w 4608975"/>
                <a:gd name="connsiteY10" fmla="*/ 0 h 1420491"/>
                <a:gd name="connsiteX11" fmla="*/ 4608975 w 4608975"/>
                <a:gd name="connsiteY11" fmla="*/ 0 h 1420491"/>
                <a:gd name="connsiteX12" fmla="*/ 4608975 w 4608975"/>
                <a:gd name="connsiteY12" fmla="*/ 1420491 h 1420491"/>
                <a:gd name="connsiteX13" fmla="*/ 0 w 4608975"/>
                <a:gd name="connsiteY13" fmla="*/ 1420491 h 14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08975" h="1420491">
                  <a:moveTo>
                    <a:pt x="2815920" y="751510"/>
                  </a:moveTo>
                  <a:cubicBezTo>
                    <a:pt x="2746332" y="751510"/>
                    <a:pt x="2689920" y="807922"/>
                    <a:pt x="2689920" y="877510"/>
                  </a:cubicBezTo>
                  <a:cubicBezTo>
                    <a:pt x="2689920" y="947098"/>
                    <a:pt x="2746332" y="1003510"/>
                    <a:pt x="2815920" y="1003510"/>
                  </a:cubicBezTo>
                  <a:cubicBezTo>
                    <a:pt x="2885508" y="1003510"/>
                    <a:pt x="2941920" y="947098"/>
                    <a:pt x="2941920" y="877510"/>
                  </a:cubicBezTo>
                  <a:cubicBezTo>
                    <a:pt x="2941920" y="807922"/>
                    <a:pt x="2885508" y="751510"/>
                    <a:pt x="2815920" y="751510"/>
                  </a:cubicBezTo>
                  <a:close/>
                  <a:moveTo>
                    <a:pt x="852838" y="751510"/>
                  </a:moveTo>
                  <a:cubicBezTo>
                    <a:pt x="783250" y="751510"/>
                    <a:pt x="726838" y="807922"/>
                    <a:pt x="726838" y="877510"/>
                  </a:cubicBezTo>
                  <a:cubicBezTo>
                    <a:pt x="726838" y="947098"/>
                    <a:pt x="783250" y="1003510"/>
                    <a:pt x="852838" y="1003510"/>
                  </a:cubicBezTo>
                  <a:cubicBezTo>
                    <a:pt x="922426" y="1003510"/>
                    <a:pt x="978838" y="947098"/>
                    <a:pt x="978838" y="877510"/>
                  </a:cubicBezTo>
                  <a:cubicBezTo>
                    <a:pt x="978838" y="807922"/>
                    <a:pt x="922426" y="751510"/>
                    <a:pt x="852838" y="751510"/>
                  </a:cubicBezTo>
                  <a:close/>
                  <a:moveTo>
                    <a:pt x="0" y="0"/>
                  </a:moveTo>
                  <a:lnTo>
                    <a:pt x="4608975" y="0"/>
                  </a:lnTo>
                  <a:lnTo>
                    <a:pt x="4608975" y="1420491"/>
                  </a:lnTo>
                  <a:lnTo>
                    <a:pt x="0" y="1420491"/>
                  </a:lnTo>
                  <a:close/>
                </a:path>
              </a:pathLst>
            </a:custGeom>
          </p:spPr>
        </p:pic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FDF25B67-EA2F-C00D-3EA9-351AA6214F51}"/>
              </a:ext>
            </a:extLst>
          </p:cNvPr>
          <p:cNvSpPr/>
          <p:nvPr/>
        </p:nvSpPr>
        <p:spPr>
          <a:xfrm>
            <a:off x="7522210" y="2683019"/>
            <a:ext cx="1008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42" name="Gruppieren 47">
            <a:extLst>
              <a:ext uri="{FF2B5EF4-FFF2-40B4-BE49-F238E27FC236}">
                <a16:creationId xmlns:a16="http://schemas.microsoft.com/office/drawing/2014/main" id="{8A72931F-CDB7-9E8E-5479-140293DBBB4A}"/>
              </a:ext>
            </a:extLst>
          </p:cNvPr>
          <p:cNvGrpSpPr>
            <a:grpSpLocks noChangeAspect="1"/>
          </p:cNvGrpSpPr>
          <p:nvPr/>
        </p:nvGrpSpPr>
        <p:grpSpPr>
          <a:xfrm>
            <a:off x="7895077" y="2718955"/>
            <a:ext cx="262266" cy="303994"/>
            <a:chOff x="8890780" y="4659289"/>
            <a:chExt cx="481864" cy="558533"/>
          </a:xfrm>
        </p:grpSpPr>
        <p:pic>
          <p:nvPicPr>
            <p:cNvPr id="54" name="Grafik 106">
              <a:extLst>
                <a:ext uri="{FF2B5EF4-FFF2-40B4-BE49-F238E27FC236}">
                  <a16:creationId xmlns:a16="http://schemas.microsoft.com/office/drawing/2014/main" id="{2031C3BB-557C-EB0A-6B67-85288972C6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780" y="4659289"/>
              <a:ext cx="481864" cy="558533"/>
            </a:xfrm>
            <a:custGeom>
              <a:avLst/>
              <a:gdLst>
                <a:gd name="connsiteX0" fmla="*/ 0 w 481864"/>
                <a:gd name="connsiteY0" fmla="*/ 344187 h 558533"/>
                <a:gd name="connsiteX1" fmla="*/ 481864 w 481864"/>
                <a:gd name="connsiteY1" fmla="*/ 344187 h 558533"/>
                <a:gd name="connsiteX2" fmla="*/ 481864 w 481864"/>
                <a:gd name="connsiteY2" fmla="*/ 558533 h 558533"/>
                <a:gd name="connsiteX3" fmla="*/ 0 w 481864"/>
                <a:gd name="connsiteY3" fmla="*/ 558533 h 558533"/>
                <a:gd name="connsiteX4" fmla="*/ 0 w 481864"/>
                <a:gd name="connsiteY4" fmla="*/ 0 h 558533"/>
                <a:gd name="connsiteX5" fmla="*/ 481864 w 481864"/>
                <a:gd name="connsiteY5" fmla="*/ 0 h 558533"/>
                <a:gd name="connsiteX6" fmla="*/ 481864 w 481864"/>
                <a:gd name="connsiteY6" fmla="*/ 200187 h 558533"/>
                <a:gd name="connsiteX7" fmla="*/ 0 w 481864"/>
                <a:gd name="connsiteY7" fmla="*/ 200187 h 55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864" h="558533">
                  <a:moveTo>
                    <a:pt x="0" y="344187"/>
                  </a:moveTo>
                  <a:lnTo>
                    <a:pt x="481864" y="344187"/>
                  </a:lnTo>
                  <a:lnTo>
                    <a:pt x="481864" y="558533"/>
                  </a:lnTo>
                  <a:lnTo>
                    <a:pt x="0" y="558533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200187"/>
                  </a:lnTo>
                  <a:lnTo>
                    <a:pt x="0" y="20018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6" name="Grafik 107">
              <a:extLst>
                <a:ext uri="{FF2B5EF4-FFF2-40B4-BE49-F238E27FC236}">
                  <a16:creationId xmlns:a16="http://schemas.microsoft.com/office/drawing/2014/main" id="{F5C92FCA-62F2-5D30-D286-3C807D33CF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547" b="36671"/>
            <a:stretch/>
          </p:blipFill>
          <p:spPr bwMode="auto">
            <a:xfrm>
              <a:off x="8890780" y="4869000"/>
              <a:ext cx="481864" cy="144000"/>
            </a:xfrm>
            <a:custGeom>
              <a:avLst/>
              <a:gdLst>
                <a:gd name="connsiteX0" fmla="*/ 481864 w 481864"/>
                <a:gd name="connsiteY0" fmla="*/ 141952 h 144000"/>
                <a:gd name="connsiteX1" fmla="*/ 481864 w 481864"/>
                <a:gd name="connsiteY1" fmla="*/ 144000 h 144000"/>
                <a:gd name="connsiteX2" fmla="*/ 480692 w 481864"/>
                <a:gd name="connsiteY2" fmla="*/ 144000 h 144000"/>
                <a:gd name="connsiteX3" fmla="*/ 0 w 481864"/>
                <a:gd name="connsiteY3" fmla="*/ 0 h 144000"/>
                <a:gd name="connsiteX4" fmla="*/ 481864 w 481864"/>
                <a:gd name="connsiteY4" fmla="*/ 0 h 144000"/>
                <a:gd name="connsiteX5" fmla="*/ 481864 w 481864"/>
                <a:gd name="connsiteY5" fmla="*/ 141952 h 144000"/>
                <a:gd name="connsiteX6" fmla="*/ 445864 w 481864"/>
                <a:gd name="connsiteY6" fmla="*/ 115894 h 144000"/>
                <a:gd name="connsiteX7" fmla="*/ 409864 w 481864"/>
                <a:gd name="connsiteY7" fmla="*/ 141952 h 144000"/>
                <a:gd name="connsiteX8" fmla="*/ 411036 w 481864"/>
                <a:gd name="connsiteY8" fmla="*/ 144000 h 144000"/>
                <a:gd name="connsiteX9" fmla="*/ 102346 w 481864"/>
                <a:gd name="connsiteY9" fmla="*/ 144000 h 144000"/>
                <a:gd name="connsiteX10" fmla="*/ 103518 w 481864"/>
                <a:gd name="connsiteY10" fmla="*/ 141952 h 144000"/>
                <a:gd name="connsiteX11" fmla="*/ 67518 w 481864"/>
                <a:gd name="connsiteY11" fmla="*/ 115894 h 144000"/>
                <a:gd name="connsiteX12" fmla="*/ 31518 w 481864"/>
                <a:gd name="connsiteY12" fmla="*/ 141952 h 144000"/>
                <a:gd name="connsiteX13" fmla="*/ 32690 w 481864"/>
                <a:gd name="connsiteY13" fmla="*/ 144000 h 144000"/>
                <a:gd name="connsiteX14" fmla="*/ 0 w 481864"/>
                <a:gd name="connsiteY14" fmla="*/ 144000 h 1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1864" h="144000">
                  <a:moveTo>
                    <a:pt x="481864" y="141952"/>
                  </a:moveTo>
                  <a:lnTo>
                    <a:pt x="481864" y="144000"/>
                  </a:lnTo>
                  <a:lnTo>
                    <a:pt x="480692" y="144000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141952"/>
                  </a:lnTo>
                  <a:cubicBezTo>
                    <a:pt x="481864" y="127561"/>
                    <a:pt x="465746" y="115894"/>
                    <a:pt x="445864" y="115894"/>
                  </a:cubicBezTo>
                  <a:cubicBezTo>
                    <a:pt x="425982" y="115894"/>
                    <a:pt x="409864" y="127561"/>
                    <a:pt x="409864" y="141952"/>
                  </a:cubicBezTo>
                  <a:lnTo>
                    <a:pt x="411036" y="144000"/>
                  </a:lnTo>
                  <a:lnTo>
                    <a:pt x="102346" y="144000"/>
                  </a:lnTo>
                  <a:lnTo>
                    <a:pt x="103518" y="141952"/>
                  </a:lnTo>
                  <a:cubicBezTo>
                    <a:pt x="103518" y="127561"/>
                    <a:pt x="87400" y="115894"/>
                    <a:pt x="67518" y="115894"/>
                  </a:cubicBezTo>
                  <a:cubicBezTo>
                    <a:pt x="47636" y="115894"/>
                    <a:pt x="31518" y="127561"/>
                    <a:pt x="31518" y="141952"/>
                  </a:cubicBezTo>
                  <a:lnTo>
                    <a:pt x="32690" y="144000"/>
                  </a:lnTo>
                  <a:lnTo>
                    <a:pt x="0" y="144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7" name="Grafik 108">
              <a:extLst>
                <a:ext uri="{FF2B5EF4-FFF2-40B4-BE49-F238E27FC236}">
                  <a16:creationId xmlns:a16="http://schemas.microsoft.com/office/drawing/2014/main" id="{CC4075B1-D2C1-3CDE-E374-EFC37C07E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780" y="4659289"/>
              <a:ext cx="481864" cy="558533"/>
            </a:xfrm>
            <a:custGeom>
              <a:avLst/>
              <a:gdLst>
                <a:gd name="connsiteX0" fmla="*/ 0 w 481864"/>
                <a:gd name="connsiteY0" fmla="*/ 344187 h 558533"/>
                <a:gd name="connsiteX1" fmla="*/ 13021 w 481864"/>
                <a:gd name="connsiteY1" fmla="*/ 344187 h 558533"/>
                <a:gd name="connsiteX2" fmla="*/ 20726 w 481864"/>
                <a:gd name="connsiteY2" fmla="*/ 369007 h 558533"/>
                <a:gd name="connsiteX3" fmla="*/ 236337 w 481864"/>
                <a:gd name="connsiteY3" fmla="*/ 511923 h 558533"/>
                <a:gd name="connsiteX4" fmla="*/ 451948 w 481864"/>
                <a:gd name="connsiteY4" fmla="*/ 369007 h 558533"/>
                <a:gd name="connsiteX5" fmla="*/ 459653 w 481864"/>
                <a:gd name="connsiteY5" fmla="*/ 344187 h 558533"/>
                <a:gd name="connsiteX6" fmla="*/ 481864 w 481864"/>
                <a:gd name="connsiteY6" fmla="*/ 344187 h 558533"/>
                <a:gd name="connsiteX7" fmla="*/ 481864 w 481864"/>
                <a:gd name="connsiteY7" fmla="*/ 558533 h 558533"/>
                <a:gd name="connsiteX8" fmla="*/ 0 w 481864"/>
                <a:gd name="connsiteY8" fmla="*/ 558533 h 558533"/>
                <a:gd name="connsiteX9" fmla="*/ 0 w 481864"/>
                <a:gd name="connsiteY9" fmla="*/ 0 h 558533"/>
                <a:gd name="connsiteX10" fmla="*/ 481864 w 481864"/>
                <a:gd name="connsiteY10" fmla="*/ 0 h 558533"/>
                <a:gd name="connsiteX11" fmla="*/ 481864 w 481864"/>
                <a:gd name="connsiteY11" fmla="*/ 200187 h 558533"/>
                <a:gd name="connsiteX12" fmla="*/ 456091 w 481864"/>
                <a:gd name="connsiteY12" fmla="*/ 200187 h 558533"/>
                <a:gd name="connsiteX13" fmla="*/ 451948 w 481864"/>
                <a:gd name="connsiteY13" fmla="*/ 186840 h 558533"/>
                <a:gd name="connsiteX14" fmla="*/ 236337 w 481864"/>
                <a:gd name="connsiteY14" fmla="*/ 43923 h 558533"/>
                <a:gd name="connsiteX15" fmla="*/ 20726 w 481864"/>
                <a:gd name="connsiteY15" fmla="*/ 186840 h 558533"/>
                <a:gd name="connsiteX16" fmla="*/ 16583 w 481864"/>
                <a:gd name="connsiteY16" fmla="*/ 200187 h 558533"/>
                <a:gd name="connsiteX17" fmla="*/ 0 w 481864"/>
                <a:gd name="connsiteY17" fmla="*/ 200187 h 55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1864" h="558533">
                  <a:moveTo>
                    <a:pt x="0" y="344187"/>
                  </a:moveTo>
                  <a:lnTo>
                    <a:pt x="13021" y="344187"/>
                  </a:lnTo>
                  <a:lnTo>
                    <a:pt x="20726" y="369007"/>
                  </a:lnTo>
                  <a:cubicBezTo>
                    <a:pt x="56249" y="452993"/>
                    <a:pt x="139411" y="511923"/>
                    <a:pt x="236337" y="511923"/>
                  </a:cubicBezTo>
                  <a:cubicBezTo>
                    <a:pt x="333263" y="511923"/>
                    <a:pt x="416425" y="452993"/>
                    <a:pt x="451948" y="369007"/>
                  </a:cubicBezTo>
                  <a:lnTo>
                    <a:pt x="459653" y="344187"/>
                  </a:lnTo>
                  <a:lnTo>
                    <a:pt x="481864" y="344187"/>
                  </a:lnTo>
                  <a:lnTo>
                    <a:pt x="481864" y="558533"/>
                  </a:lnTo>
                  <a:lnTo>
                    <a:pt x="0" y="558533"/>
                  </a:lnTo>
                  <a:close/>
                  <a:moveTo>
                    <a:pt x="0" y="0"/>
                  </a:moveTo>
                  <a:lnTo>
                    <a:pt x="481864" y="0"/>
                  </a:lnTo>
                  <a:lnTo>
                    <a:pt x="481864" y="200187"/>
                  </a:lnTo>
                  <a:lnTo>
                    <a:pt x="456091" y="200187"/>
                  </a:lnTo>
                  <a:lnTo>
                    <a:pt x="451948" y="186840"/>
                  </a:lnTo>
                  <a:cubicBezTo>
                    <a:pt x="416425" y="102854"/>
                    <a:pt x="333263" y="43923"/>
                    <a:pt x="236337" y="43923"/>
                  </a:cubicBezTo>
                  <a:cubicBezTo>
                    <a:pt x="139411" y="43923"/>
                    <a:pt x="56249" y="102854"/>
                    <a:pt x="20726" y="186840"/>
                  </a:cubicBezTo>
                  <a:lnTo>
                    <a:pt x="16583" y="200187"/>
                  </a:lnTo>
                  <a:lnTo>
                    <a:pt x="0" y="20018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B3BF450E-8A45-E399-F1E7-373B756D3D7E}"/>
              </a:ext>
            </a:extLst>
          </p:cNvPr>
          <p:cNvSpPr/>
          <p:nvPr/>
        </p:nvSpPr>
        <p:spPr>
          <a:xfrm>
            <a:off x="7392144" y="5426806"/>
            <a:ext cx="1008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/>
              <a:t>…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BC79931-53A1-3C95-54FF-F4DF8B5D7C8E}"/>
              </a:ext>
            </a:extLst>
          </p:cNvPr>
          <p:cNvSpPr/>
          <p:nvPr/>
        </p:nvSpPr>
        <p:spPr>
          <a:xfrm>
            <a:off x="7392144" y="4516396"/>
            <a:ext cx="1008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/>
              <a:t>…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DB6E0EC-D6BE-DA31-D392-F448D731DD82}"/>
              </a:ext>
            </a:extLst>
          </p:cNvPr>
          <p:cNvSpPr/>
          <p:nvPr/>
        </p:nvSpPr>
        <p:spPr>
          <a:xfrm>
            <a:off x="8715681" y="3605385"/>
            <a:ext cx="1008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/>
              <a:t>…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9DCD95D-5B8C-7B96-5DAC-DB33EC9B4650}"/>
              </a:ext>
            </a:extLst>
          </p:cNvPr>
          <p:cNvSpPr/>
          <p:nvPr/>
        </p:nvSpPr>
        <p:spPr>
          <a:xfrm>
            <a:off x="8715681" y="2683019"/>
            <a:ext cx="1008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/>
              <a:t>…</a:t>
            </a:r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E49EE8CA-00FE-7263-1630-E93C0AAD684B}"/>
              </a:ext>
            </a:extLst>
          </p:cNvPr>
          <p:cNvSpPr/>
          <p:nvPr/>
        </p:nvSpPr>
        <p:spPr>
          <a:xfrm>
            <a:off x="11281307" y="1762797"/>
            <a:ext cx="1008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/>
              <a:t>…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BCA3E6-D7A6-5C23-A39F-ECEC90414185}"/>
              </a:ext>
            </a:extLst>
          </p:cNvPr>
          <p:cNvSpPr/>
          <p:nvPr/>
        </p:nvSpPr>
        <p:spPr>
          <a:xfrm>
            <a:off x="3631266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Catalog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8A11234-21B5-97B2-B13B-F46D09893179}"/>
              </a:ext>
            </a:extLst>
          </p:cNvPr>
          <p:cNvSpPr/>
          <p:nvPr/>
        </p:nvSpPr>
        <p:spPr>
          <a:xfrm>
            <a:off x="4927672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Orchestration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14B12A-960A-E6A2-002E-4DAC4191BB7C}"/>
              </a:ext>
            </a:extLst>
          </p:cNvPr>
          <p:cNvSpPr/>
          <p:nvPr/>
        </p:nvSpPr>
        <p:spPr>
          <a:xfrm>
            <a:off x="6224078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Transformation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55C0888D-ADF9-ACE0-18E5-27E0E26A6208}"/>
              </a:ext>
            </a:extLst>
          </p:cNvPr>
          <p:cNvSpPr/>
          <p:nvPr/>
        </p:nvSpPr>
        <p:spPr>
          <a:xfrm>
            <a:off x="7520484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Ingestion</a:t>
            </a:r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21E31081-2221-741B-5E8F-73E30E3B417A}"/>
              </a:ext>
            </a:extLst>
          </p:cNvPr>
          <p:cNvSpPr/>
          <p:nvPr/>
        </p:nvSpPr>
        <p:spPr>
          <a:xfrm>
            <a:off x="8816890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Transformation</a:t>
            </a:r>
          </a:p>
        </p:txBody>
      </p:sp>
      <p:sp>
        <p:nvSpPr>
          <p:cNvPr id="231" name="Rechteck 230">
            <a:extLst>
              <a:ext uri="{FF2B5EF4-FFF2-40B4-BE49-F238E27FC236}">
                <a16:creationId xmlns:a16="http://schemas.microsoft.com/office/drawing/2014/main" id="{BCEB870F-92A2-DC72-EA7B-03B821953B79}"/>
              </a:ext>
            </a:extLst>
          </p:cNvPr>
          <p:cNvSpPr/>
          <p:nvPr/>
        </p:nvSpPr>
        <p:spPr>
          <a:xfrm>
            <a:off x="10113297" y="2122797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Concept &amp; Bus. glossary</a:t>
            </a:r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62495E5B-AD94-6170-4E13-A0C0FA2640A9}"/>
              </a:ext>
            </a:extLst>
          </p:cNvPr>
          <p:cNvSpPr/>
          <p:nvPr/>
        </p:nvSpPr>
        <p:spPr>
          <a:xfrm>
            <a:off x="3631266" y="3068992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Catalog</a:t>
            </a:r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C397775A-1B59-369C-3475-79C0670AF313}"/>
              </a:ext>
            </a:extLst>
          </p:cNvPr>
          <p:cNvSpPr/>
          <p:nvPr/>
        </p:nvSpPr>
        <p:spPr>
          <a:xfrm>
            <a:off x="4927672" y="3068992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SQL Engines</a:t>
            </a:r>
          </a:p>
        </p:txBody>
      </p:sp>
      <p:sp>
        <p:nvSpPr>
          <p:cNvPr id="241" name="Rechteck 240">
            <a:extLst>
              <a:ext uri="{FF2B5EF4-FFF2-40B4-BE49-F238E27FC236}">
                <a16:creationId xmlns:a16="http://schemas.microsoft.com/office/drawing/2014/main" id="{3712F6CF-FC7D-3DE3-7543-3F8BEB404AD0}"/>
              </a:ext>
            </a:extLst>
          </p:cNvPr>
          <p:cNvSpPr/>
          <p:nvPr/>
        </p:nvSpPr>
        <p:spPr>
          <a:xfrm>
            <a:off x="6224078" y="3068992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SQL Engines</a:t>
            </a:r>
          </a:p>
        </p:txBody>
      </p:sp>
      <p:sp>
        <p:nvSpPr>
          <p:cNvPr id="242" name="Rechteck 241">
            <a:extLst>
              <a:ext uri="{FF2B5EF4-FFF2-40B4-BE49-F238E27FC236}">
                <a16:creationId xmlns:a16="http://schemas.microsoft.com/office/drawing/2014/main" id="{17BFD7D0-B940-D0B5-8749-F3087A585FFF}"/>
              </a:ext>
            </a:extLst>
          </p:cNvPr>
          <p:cNvSpPr/>
          <p:nvPr/>
        </p:nvSpPr>
        <p:spPr>
          <a:xfrm>
            <a:off x="7520484" y="3068992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Science</a:t>
            </a:r>
          </a:p>
        </p:txBody>
      </p:sp>
      <p:sp>
        <p:nvSpPr>
          <p:cNvPr id="245" name="Rechteck 244">
            <a:extLst>
              <a:ext uri="{FF2B5EF4-FFF2-40B4-BE49-F238E27FC236}">
                <a16:creationId xmlns:a16="http://schemas.microsoft.com/office/drawing/2014/main" id="{C6038983-C034-E3B8-4B6E-812014B5D066}"/>
              </a:ext>
            </a:extLst>
          </p:cNvPr>
          <p:cNvSpPr/>
          <p:nvPr/>
        </p:nvSpPr>
        <p:spPr>
          <a:xfrm>
            <a:off x="3631266" y="3965289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Catalog</a:t>
            </a:r>
          </a:p>
        </p:txBody>
      </p:sp>
      <p:sp>
        <p:nvSpPr>
          <p:cNvPr id="255" name="Rechteck 254">
            <a:extLst>
              <a:ext uri="{FF2B5EF4-FFF2-40B4-BE49-F238E27FC236}">
                <a16:creationId xmlns:a16="http://schemas.microsoft.com/office/drawing/2014/main" id="{1F6D527A-52F8-7016-0D83-8FC39933A0E0}"/>
              </a:ext>
            </a:extLst>
          </p:cNvPr>
          <p:cNvSpPr/>
          <p:nvPr/>
        </p:nvSpPr>
        <p:spPr>
          <a:xfrm>
            <a:off x="4927672" y="3965289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Science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C95404F-E73B-2E86-3EA3-E4E6693F5BC0}"/>
              </a:ext>
            </a:extLst>
          </p:cNvPr>
          <p:cNvSpPr/>
          <p:nvPr/>
        </p:nvSpPr>
        <p:spPr>
          <a:xfrm>
            <a:off x="6224078" y="3965289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Science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E97139C7-6194-25BE-094D-6BFD548B58DB}"/>
              </a:ext>
            </a:extLst>
          </p:cNvPr>
          <p:cNvSpPr/>
          <p:nvPr/>
        </p:nvSpPr>
        <p:spPr>
          <a:xfrm>
            <a:off x="7520484" y="3965289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Data Transformation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DFA41123-E0E2-3D8B-37DA-107A826814C4}"/>
              </a:ext>
            </a:extLst>
          </p:cNvPr>
          <p:cNvSpPr/>
          <p:nvPr/>
        </p:nvSpPr>
        <p:spPr>
          <a:xfrm>
            <a:off x="3631265" y="4885261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F8E35A00-0E09-815D-EE7B-93207610AFBA}"/>
              </a:ext>
            </a:extLst>
          </p:cNvPr>
          <p:cNvSpPr/>
          <p:nvPr/>
        </p:nvSpPr>
        <p:spPr>
          <a:xfrm>
            <a:off x="4927672" y="4885261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D12A1101-810B-17B9-3020-729CF85DBA73}"/>
              </a:ext>
            </a:extLst>
          </p:cNvPr>
          <p:cNvSpPr/>
          <p:nvPr/>
        </p:nvSpPr>
        <p:spPr>
          <a:xfrm>
            <a:off x="6224078" y="4885261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  <p:sp>
        <p:nvSpPr>
          <p:cNvPr id="259" name="Rechteck 258">
            <a:extLst>
              <a:ext uri="{FF2B5EF4-FFF2-40B4-BE49-F238E27FC236}">
                <a16:creationId xmlns:a16="http://schemas.microsoft.com/office/drawing/2014/main" id="{19BC9390-F660-8B2A-2872-52CC16317475}"/>
              </a:ext>
            </a:extLst>
          </p:cNvPr>
          <p:cNvSpPr/>
          <p:nvPr/>
        </p:nvSpPr>
        <p:spPr>
          <a:xfrm>
            <a:off x="3622283" y="5805264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43259C5C-5A11-0F36-492C-EBF0D9E88473}"/>
              </a:ext>
            </a:extLst>
          </p:cNvPr>
          <p:cNvSpPr/>
          <p:nvPr/>
        </p:nvSpPr>
        <p:spPr>
          <a:xfrm>
            <a:off x="4927672" y="5805264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  <p:sp>
        <p:nvSpPr>
          <p:cNvPr id="261" name="Rechteck 260">
            <a:extLst>
              <a:ext uri="{FF2B5EF4-FFF2-40B4-BE49-F238E27FC236}">
                <a16:creationId xmlns:a16="http://schemas.microsoft.com/office/drawing/2014/main" id="{2C198AFD-0879-18F2-59D8-5A5922816380}"/>
              </a:ext>
            </a:extLst>
          </p:cNvPr>
          <p:cNvSpPr/>
          <p:nvPr/>
        </p:nvSpPr>
        <p:spPr>
          <a:xfrm>
            <a:off x="6224078" y="5805264"/>
            <a:ext cx="1038525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Dashboards &amp; Reports</a:t>
            </a:r>
          </a:p>
        </p:txBody>
      </p:sp>
    </p:spTree>
    <p:extLst>
      <p:ext uri="{BB962C8B-B14F-4D97-AF65-F5344CB8AC3E}">
        <p14:creationId xmlns:p14="http://schemas.microsoft.com/office/powerpoint/2010/main" val="298072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499EA4-45A7-85E9-4AF3-FCD3AD48FC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50E920-C3ED-F71D-07A0-E43DD19F1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355D05-FC97-1BFB-C61F-6E7D7532664B}"/>
              </a:ext>
            </a:extLst>
          </p:cNvPr>
          <p:cNvSpPr/>
          <p:nvPr/>
        </p:nvSpPr>
        <p:spPr>
          <a:xfrm>
            <a:off x="411163" y="1414463"/>
            <a:ext cx="2790006" cy="2340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400">
                <a:latin typeface="+mj-lt"/>
              </a:rPr>
              <a:t>Benefits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8172139-6C82-8DCA-763E-6D5115BA4007}"/>
              </a:ext>
            </a:extLst>
          </p:cNvPr>
          <p:cNvSpPr/>
          <p:nvPr/>
        </p:nvSpPr>
        <p:spPr>
          <a:xfrm>
            <a:off x="3273169" y="1414463"/>
            <a:ext cx="2790006" cy="2340488"/>
          </a:xfrm>
          <a:prstGeom prst="rect">
            <a:avLst/>
          </a:prstGeom>
          <a:gradFill flip="none" rotWithShape="1">
            <a:gsLst>
              <a:gs pos="100000">
                <a:srgbClr val="14596B">
                  <a:alpha val="60000"/>
                </a:srgbClr>
              </a:gs>
              <a:gs pos="0">
                <a:srgbClr val="12ABDB">
                  <a:alpha val="20000"/>
                </a:srgbClr>
              </a:gs>
              <a:gs pos="50000">
                <a:srgbClr val="0070AD">
                  <a:alpha val="2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400" b="1" kern="0">
              <a:solidFill>
                <a:srgbClr val="FFFFFF"/>
              </a:solidFill>
              <a:latin typeface="+mj-lt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400" b="1" kern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4915E49-F8C6-DA05-0831-A33546D09011}"/>
              </a:ext>
            </a:extLst>
          </p:cNvPr>
          <p:cNvSpPr/>
          <p:nvPr/>
        </p:nvSpPr>
        <p:spPr>
          <a:xfrm>
            <a:off x="6135176" y="1414463"/>
            <a:ext cx="2790006" cy="2340488"/>
          </a:xfrm>
          <a:prstGeom prst="rect">
            <a:avLst/>
          </a:prstGeom>
          <a:solidFill>
            <a:srgbClr val="F7F7F7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200" b="1" kern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B90F90F-C370-AFB3-2363-1F82822A83DE}"/>
              </a:ext>
            </a:extLst>
          </p:cNvPr>
          <p:cNvSpPr/>
          <p:nvPr/>
        </p:nvSpPr>
        <p:spPr>
          <a:xfrm>
            <a:off x="8997182" y="1414463"/>
            <a:ext cx="2790006" cy="2340488"/>
          </a:xfrm>
          <a:prstGeom prst="rect">
            <a:avLst/>
          </a:prstGeom>
          <a:gradFill flip="none" rotWithShape="1">
            <a:gsLst>
              <a:gs pos="100000">
                <a:srgbClr val="14596B">
                  <a:alpha val="60000"/>
                </a:srgbClr>
              </a:gs>
              <a:gs pos="0">
                <a:srgbClr val="12ABDB">
                  <a:alpha val="20000"/>
                </a:srgbClr>
              </a:gs>
              <a:gs pos="50000">
                <a:srgbClr val="0070AD">
                  <a:alpha val="2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400" b="1" kern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A81BA35-897B-F97E-D42F-63C355D7DB3D}"/>
              </a:ext>
            </a:extLst>
          </p:cNvPr>
          <p:cNvSpPr/>
          <p:nvPr/>
        </p:nvSpPr>
        <p:spPr>
          <a:xfrm>
            <a:off x="411163" y="3826951"/>
            <a:ext cx="2790006" cy="2340488"/>
          </a:xfrm>
          <a:prstGeom prst="rect">
            <a:avLst/>
          </a:prstGeom>
          <a:gradFill flip="none" rotWithShape="1">
            <a:gsLst>
              <a:gs pos="100000">
                <a:srgbClr val="14596B">
                  <a:alpha val="60000"/>
                </a:srgbClr>
              </a:gs>
              <a:gs pos="0">
                <a:srgbClr val="12ABDB">
                  <a:alpha val="20000"/>
                </a:srgbClr>
              </a:gs>
              <a:gs pos="50000">
                <a:srgbClr val="0070AD">
                  <a:alpha val="2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400" b="1" kern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D80B2F0-5DFD-883A-ED48-97E235CDC530}"/>
              </a:ext>
            </a:extLst>
          </p:cNvPr>
          <p:cNvSpPr/>
          <p:nvPr/>
        </p:nvSpPr>
        <p:spPr>
          <a:xfrm>
            <a:off x="3273169" y="3826951"/>
            <a:ext cx="2790006" cy="2340488"/>
          </a:xfrm>
          <a:prstGeom prst="rect">
            <a:avLst/>
          </a:prstGeom>
          <a:solidFill>
            <a:srgbClr val="F7F7F7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1200" kern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744C547-6D81-9CE8-DB33-6DF829E4CBD3}"/>
              </a:ext>
            </a:extLst>
          </p:cNvPr>
          <p:cNvSpPr/>
          <p:nvPr/>
        </p:nvSpPr>
        <p:spPr>
          <a:xfrm>
            <a:off x="6135176" y="3826951"/>
            <a:ext cx="2790006" cy="2340488"/>
          </a:xfrm>
          <a:prstGeom prst="rect">
            <a:avLst/>
          </a:prstGeom>
          <a:gradFill flip="none" rotWithShape="1">
            <a:gsLst>
              <a:gs pos="100000">
                <a:srgbClr val="14596B">
                  <a:alpha val="60000"/>
                </a:srgbClr>
              </a:gs>
              <a:gs pos="0">
                <a:srgbClr val="12ABDB">
                  <a:alpha val="20000"/>
                </a:srgbClr>
              </a:gs>
              <a:gs pos="50000">
                <a:srgbClr val="0070AD">
                  <a:alpha val="2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400" b="1" kern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A0C76E3-A77B-1FD6-027B-BBAB40FFE213}"/>
              </a:ext>
            </a:extLst>
          </p:cNvPr>
          <p:cNvSpPr/>
          <p:nvPr/>
        </p:nvSpPr>
        <p:spPr>
          <a:xfrm>
            <a:off x="8997182" y="3826951"/>
            <a:ext cx="2790006" cy="2340488"/>
          </a:xfrm>
          <a:prstGeom prst="rect">
            <a:avLst/>
          </a:prstGeom>
          <a:solidFill>
            <a:srgbClr val="F7F7F7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1200" kern="0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28" name="Graphic 35" descr="Clock outline">
            <a:extLst>
              <a:ext uri="{FF2B5EF4-FFF2-40B4-BE49-F238E27FC236}">
                <a16:creationId xmlns:a16="http://schemas.microsoft.com/office/drawing/2014/main" id="{959A6E4F-D379-9EC0-BE97-CF356C624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0528" y="1490120"/>
            <a:ext cx="432000" cy="43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256DFC-DD75-C333-D4F4-C84AAFC2B822}"/>
              </a:ext>
            </a:extLst>
          </p:cNvPr>
          <p:cNvSpPr/>
          <p:nvPr/>
        </p:nvSpPr>
        <p:spPr>
          <a:xfrm>
            <a:off x="6135175" y="2514606"/>
            <a:ext cx="2783657" cy="1240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200" b="1" kern="0">
                <a:solidFill>
                  <a:schemeClr val="accent2"/>
                </a:solidFill>
                <a:latin typeface="+mj-lt"/>
              </a:rPr>
              <a:t>50% reduction</a:t>
            </a:r>
            <a:r>
              <a:rPr lang="en-US" sz="1200" b="1" kern="0">
                <a:solidFill>
                  <a:srgbClr val="FFFFFF"/>
                </a:solidFill>
                <a:latin typeface="+mj-lt"/>
              </a:rPr>
              <a:t> </a:t>
            </a:r>
            <a:br>
              <a:rPr lang="en-US" sz="1000" b="1" kern="0">
                <a:solidFill>
                  <a:srgbClr val="FFFFFF"/>
                </a:solidFill>
                <a:latin typeface="+mj-lt"/>
              </a:rPr>
            </a:br>
            <a:r>
              <a:rPr lang="en-US" sz="1000" kern="0">
                <a:solidFill>
                  <a:srgbClr val="FFFFFF"/>
                </a:solidFill>
                <a:latin typeface="+mj-lt"/>
              </a:rPr>
              <a:t>of implementation time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000" b="1" kern="0">
              <a:solidFill>
                <a:srgbClr val="FFFFFF"/>
              </a:solidFill>
              <a:latin typeface="+mj-lt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Before: 6 month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3 month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F9A62-FE45-4F84-AD50-7C247DA3420B}"/>
              </a:ext>
            </a:extLst>
          </p:cNvPr>
          <p:cNvSpPr/>
          <p:nvPr/>
        </p:nvSpPr>
        <p:spPr>
          <a:xfrm>
            <a:off x="6141525" y="1922120"/>
            <a:ext cx="2790006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Duration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49E45E-83AE-89FB-24B9-51696CAB4883}"/>
              </a:ext>
            </a:extLst>
          </p:cNvPr>
          <p:cNvCxnSpPr>
            <a:cxnSpLocks/>
          </p:cNvCxnSpPr>
          <p:nvPr/>
        </p:nvCxnSpPr>
        <p:spPr>
          <a:xfrm>
            <a:off x="7276973" y="2286000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Open folder outline">
            <a:extLst>
              <a:ext uri="{FF2B5EF4-FFF2-40B4-BE49-F238E27FC236}">
                <a16:creationId xmlns:a16="http://schemas.microsoft.com/office/drawing/2014/main" id="{713C74AF-E659-DB59-667D-F7CA26C99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2172" y="1490120"/>
            <a:ext cx="432000" cy="432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7FCE8F-8EAD-8365-165F-B06A8780A7A9}"/>
              </a:ext>
            </a:extLst>
          </p:cNvPr>
          <p:cNvSpPr/>
          <p:nvPr/>
        </p:nvSpPr>
        <p:spPr>
          <a:xfrm>
            <a:off x="3273169" y="1922665"/>
            <a:ext cx="2796355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File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1F3322-4193-19EA-EBC1-86D37C2FA798}"/>
              </a:ext>
            </a:extLst>
          </p:cNvPr>
          <p:cNvCxnSpPr>
            <a:cxnSpLocks/>
          </p:cNvCxnSpPr>
          <p:nvPr/>
        </p:nvCxnSpPr>
        <p:spPr>
          <a:xfrm>
            <a:off x="4414966" y="2286000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FF642D9-2DED-3A66-2C98-89B089250D24}"/>
              </a:ext>
            </a:extLst>
          </p:cNvPr>
          <p:cNvSpPr/>
          <p:nvPr/>
        </p:nvSpPr>
        <p:spPr>
          <a:xfrm>
            <a:off x="3266819" y="2514609"/>
            <a:ext cx="2790006" cy="1240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4x</a:t>
            </a: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more</a:t>
            </a: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tester types</a:t>
            </a:r>
            <a:endParaRPr lang="de-DE" sz="1000" kern="120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pPr lvl="0"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2,5x more </a:t>
            </a: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machines</a:t>
            </a:r>
            <a:endParaRPr lang="de-DE" sz="1000" kern="120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pPr algn="ctr"/>
            <a:r>
              <a:rPr lang="en-US" sz="1200" b="1">
                <a:solidFill>
                  <a:schemeClr val="accent2"/>
                </a:solidFill>
                <a:latin typeface="+mj-lt"/>
              </a:rPr>
              <a:t>3</a:t>
            </a:r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x</a:t>
            </a:r>
            <a:r>
              <a:rPr lang="en-US" sz="12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more</a:t>
            </a:r>
            <a:r>
              <a:rPr lang="en-US" sz="12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files</a:t>
            </a:r>
          </a:p>
          <a:p>
            <a:pPr algn="ctr"/>
            <a:endParaRPr lang="en-US" sz="800" kern="0">
              <a:solidFill>
                <a:srgbClr val="FFFFFF"/>
              </a:solidFill>
              <a:latin typeface="+mj-lt"/>
            </a:endParaRPr>
          </a:p>
          <a:p>
            <a:pPr algn="ctr"/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Before: Files from APT tester type (8 machines)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</a:t>
            </a:r>
            <a:r>
              <a:rPr lang="en-US" sz="800">
                <a:latin typeface="+mj-lt"/>
              </a:rPr>
              <a:t>Files from SPI (5), AOI (13), APT (8) and AXI (2)</a:t>
            </a:r>
            <a:endParaRPr lang="en-US" sz="800" kern="0">
              <a:solidFill>
                <a:srgbClr val="FFFFFF"/>
              </a:solidFill>
              <a:latin typeface="+mj-lt"/>
            </a:endParaRPr>
          </a:p>
          <a:p>
            <a:pPr algn="ctr"/>
            <a:br>
              <a:rPr lang="en-US" sz="800" b="1" kern="0">
                <a:solidFill>
                  <a:srgbClr val="FFFFFF"/>
                </a:solidFill>
                <a:latin typeface="+mj-lt"/>
              </a:rPr>
            </a:br>
            <a:endParaRPr lang="en-US" sz="800" b="1" kern="0">
              <a:solidFill>
                <a:srgbClr val="FFFFFF"/>
              </a:solidFill>
              <a:latin typeface="+mj-lt"/>
            </a:endParaRPr>
          </a:p>
          <a:p>
            <a:pPr algn="ctr"/>
            <a:endParaRPr lang="de-DE" sz="1000">
              <a:latin typeface="+mj-lt"/>
            </a:endParaRPr>
          </a:p>
        </p:txBody>
      </p:sp>
      <p:pic>
        <p:nvPicPr>
          <p:cNvPr id="17" name="Graphic 16" descr="Money outline">
            <a:extLst>
              <a:ext uri="{FF2B5EF4-FFF2-40B4-BE49-F238E27FC236}">
                <a16:creationId xmlns:a16="http://schemas.microsoft.com/office/drawing/2014/main" id="{1FF6E037-6415-BE7B-21FB-5F0D8C4232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76185" y="1490120"/>
            <a:ext cx="432000" cy="43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A8B9F71-73B7-C5E4-6749-E52D4FE1AF0F}"/>
              </a:ext>
            </a:extLst>
          </p:cNvPr>
          <p:cNvSpPr/>
          <p:nvPr/>
        </p:nvSpPr>
        <p:spPr>
          <a:xfrm>
            <a:off x="8997182" y="1922119"/>
            <a:ext cx="2790006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AWS Costs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469462-0A4B-146D-A231-5D625550DA86}"/>
              </a:ext>
            </a:extLst>
          </p:cNvPr>
          <p:cNvCxnSpPr>
            <a:cxnSpLocks/>
          </p:cNvCxnSpPr>
          <p:nvPr/>
        </p:nvCxnSpPr>
        <p:spPr>
          <a:xfrm>
            <a:off x="10138979" y="2286000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93B0F32-D4A6-91F8-246F-519A2677DA33}"/>
              </a:ext>
            </a:extLst>
          </p:cNvPr>
          <p:cNvSpPr/>
          <p:nvPr/>
        </p:nvSpPr>
        <p:spPr>
          <a:xfrm>
            <a:off x="8997182" y="2514607"/>
            <a:ext cx="2790005" cy="1240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~25% reduction </a:t>
            </a:r>
            <a:b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</a:b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of the AWS operational costs</a:t>
            </a:r>
            <a:endParaRPr lang="de-DE" sz="1000">
              <a:solidFill>
                <a:schemeClr val="tx1"/>
              </a:solidFill>
              <a:latin typeface="+mj-lt"/>
            </a:endParaRPr>
          </a:p>
          <a:p>
            <a:pPr lvl="0" algn="ctr"/>
            <a:endParaRPr lang="de-DE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de-DE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de-DE" sz="1000" kern="0">
              <a:solidFill>
                <a:schemeClr val="tx1"/>
              </a:solidFill>
              <a:latin typeface="+mj-lt"/>
            </a:endParaRPr>
          </a:p>
          <a:p>
            <a:pPr lvl="0" algn="ctr"/>
            <a:r>
              <a:rPr lang="en-US" sz="800" kern="0">
                <a:solidFill>
                  <a:srgbClr val="FFFFFF"/>
                </a:solidFill>
                <a:latin typeface="+mj-lt"/>
              </a:rPr>
              <a:t>Before: 900€ / month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690€ / month</a:t>
            </a:r>
          </a:p>
        </p:txBody>
      </p:sp>
      <p:grpSp>
        <p:nvGrpSpPr>
          <p:cNvPr id="29" name="Gruppieren 58">
            <a:extLst>
              <a:ext uri="{FF2B5EF4-FFF2-40B4-BE49-F238E27FC236}">
                <a16:creationId xmlns:a16="http://schemas.microsoft.com/office/drawing/2014/main" id="{B2DC7D2D-F633-0139-BD61-CD838AB95A9A}"/>
              </a:ext>
            </a:extLst>
          </p:cNvPr>
          <p:cNvGrpSpPr>
            <a:grpSpLocks noChangeAspect="1"/>
          </p:cNvGrpSpPr>
          <p:nvPr/>
        </p:nvGrpSpPr>
        <p:grpSpPr>
          <a:xfrm>
            <a:off x="1460820" y="3978797"/>
            <a:ext cx="690691" cy="288000"/>
            <a:chOff x="12304708" y="554667"/>
            <a:chExt cx="5162550" cy="2152650"/>
          </a:xfrm>
        </p:grpSpPr>
        <p:pic>
          <p:nvPicPr>
            <p:cNvPr id="30" name="Grafik 93">
              <a:extLst>
                <a:ext uri="{FF2B5EF4-FFF2-40B4-BE49-F238E27FC236}">
                  <a16:creationId xmlns:a16="http://schemas.microsoft.com/office/drawing/2014/main" id="{246AA054-2E5E-2A8F-AC5C-B2D20C5BA4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38727"/>
            <a:stretch/>
          </p:blipFill>
          <p:spPr>
            <a:xfrm>
              <a:off x="14304000" y="554667"/>
              <a:ext cx="3163258" cy="2152650"/>
            </a:xfrm>
            <a:prstGeom prst="rect">
              <a:avLst/>
            </a:prstGeom>
          </p:spPr>
        </p:pic>
        <p:pic>
          <p:nvPicPr>
            <p:cNvPr id="33" name="Grafik 94">
              <a:extLst>
                <a:ext uri="{FF2B5EF4-FFF2-40B4-BE49-F238E27FC236}">
                  <a16:creationId xmlns:a16="http://schemas.microsoft.com/office/drawing/2014/main" id="{BE8C1720-5D20-4A0A-BF09-C9A7BE7850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r="59878"/>
            <a:stretch/>
          </p:blipFill>
          <p:spPr>
            <a:xfrm>
              <a:off x="12304708" y="554667"/>
              <a:ext cx="2071292" cy="2152650"/>
            </a:xfrm>
            <a:prstGeom prst="rect">
              <a:avLst/>
            </a:prstGeom>
          </p:spPr>
        </p:pic>
      </p:grpSp>
      <p:pic>
        <p:nvPicPr>
          <p:cNvPr id="34" name="Graphic 33" descr="Hourglass 90% outline">
            <a:extLst>
              <a:ext uri="{FF2B5EF4-FFF2-40B4-BE49-F238E27FC236}">
                <a16:creationId xmlns:a16="http://schemas.microsoft.com/office/drawing/2014/main" id="{9C7B83CA-F654-E166-E2AD-461E41E8A8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47335" y="3903125"/>
            <a:ext cx="432000" cy="43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D9C06CD-024B-E059-6BD2-2CA3556B0A09}"/>
              </a:ext>
            </a:extLst>
          </p:cNvPr>
          <p:cNvSpPr/>
          <p:nvPr/>
        </p:nvSpPr>
        <p:spPr>
          <a:xfrm>
            <a:off x="6135184" y="4335152"/>
            <a:ext cx="2796355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Integration with Snowflake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5A22E0-99C2-8120-6D6B-B6E220F9AD52}"/>
              </a:ext>
            </a:extLst>
          </p:cNvPr>
          <p:cNvCxnSpPr>
            <a:cxnSpLocks/>
          </p:cNvCxnSpPr>
          <p:nvPr/>
        </p:nvCxnSpPr>
        <p:spPr>
          <a:xfrm>
            <a:off x="7276981" y="4698487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4644324-B9CB-A8EE-742B-2F2BB001D7D7}"/>
              </a:ext>
            </a:extLst>
          </p:cNvPr>
          <p:cNvSpPr/>
          <p:nvPr/>
        </p:nvSpPr>
        <p:spPr>
          <a:xfrm>
            <a:off x="6128834" y="4927096"/>
            <a:ext cx="2790006" cy="1240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No extra effort </a:t>
            </a:r>
            <a:b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</a:b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for exposing Iceberg tables in Snowflake</a:t>
            </a:r>
          </a:p>
          <a:p>
            <a:pPr algn="ctr"/>
            <a:endParaRPr lang="en-US" sz="100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1000" kern="120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  <a:p>
            <a:pPr algn="ctr"/>
            <a:endParaRPr lang="en-US" sz="1000" b="1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800" kern="0">
                <a:solidFill>
                  <a:srgbClr val="FFFFFF"/>
                </a:solidFill>
                <a:latin typeface="+mj-lt"/>
              </a:rPr>
              <a:t>Before: Extra job and storage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Native Iceberg Integration</a:t>
            </a:r>
          </a:p>
          <a:p>
            <a:pPr algn="ctr"/>
            <a:br>
              <a:rPr lang="en-US" sz="800" b="1" kern="0">
                <a:solidFill>
                  <a:srgbClr val="FFFFFF"/>
                </a:solidFill>
                <a:latin typeface="+mj-lt"/>
              </a:rPr>
            </a:br>
            <a:endParaRPr lang="en-US" sz="800" b="1" kern="0">
              <a:solidFill>
                <a:srgbClr val="FFFFFF"/>
              </a:solidFill>
              <a:latin typeface="+mj-lt"/>
            </a:endParaRPr>
          </a:p>
          <a:p>
            <a:pPr algn="ctr"/>
            <a:endParaRPr lang="de-DE" sz="1000">
              <a:latin typeface="+mj-lt"/>
            </a:endParaRPr>
          </a:p>
        </p:txBody>
      </p:sp>
      <p:pic>
        <p:nvPicPr>
          <p:cNvPr id="41" name="Graphic 40" descr="Upload outline">
            <a:extLst>
              <a:ext uri="{FF2B5EF4-FFF2-40B4-BE49-F238E27FC236}">
                <a16:creationId xmlns:a16="http://schemas.microsoft.com/office/drawing/2014/main" id="{69AE21F6-638B-3358-4CC7-82F83B22CA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14179" y="3899480"/>
            <a:ext cx="432000" cy="43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5AB7C1E-396E-FB14-59D8-E6F5DDD98B3E}"/>
              </a:ext>
            </a:extLst>
          </p:cNvPr>
          <p:cNvSpPr/>
          <p:nvPr/>
        </p:nvSpPr>
        <p:spPr>
          <a:xfrm>
            <a:off x="3273169" y="4338797"/>
            <a:ext cx="2783656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Time to Query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CC3CB3-CC98-B6B7-0C89-3BA48FFBE9F1}"/>
              </a:ext>
            </a:extLst>
          </p:cNvPr>
          <p:cNvCxnSpPr>
            <a:cxnSpLocks/>
          </p:cNvCxnSpPr>
          <p:nvPr/>
        </p:nvCxnSpPr>
        <p:spPr>
          <a:xfrm>
            <a:off x="4414966" y="4698487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10472400-55E6-4319-0C12-856AA3AF3622}"/>
              </a:ext>
            </a:extLst>
          </p:cNvPr>
          <p:cNvSpPr/>
          <p:nvPr/>
        </p:nvSpPr>
        <p:spPr>
          <a:xfrm>
            <a:off x="3273169" y="4927096"/>
            <a:ext cx="2783656" cy="1240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4x</a:t>
            </a:r>
            <a:r>
              <a:rPr lang="en-US" sz="12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en-US" sz="1200" b="1">
                <a:solidFill>
                  <a:schemeClr val="accent2"/>
                </a:solidFill>
                <a:latin typeface="+mj-lt"/>
              </a:rPr>
              <a:t>faster </a:t>
            </a:r>
          </a:p>
          <a:p>
            <a:pPr lvl="0" algn="ctr"/>
            <a:r>
              <a:rPr lang="en-US" sz="1000">
                <a:solidFill>
                  <a:schemeClr val="tx1"/>
                </a:solidFill>
                <a:latin typeface="+mj-lt"/>
              </a:rPr>
              <a:t>time to market</a:t>
            </a: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lvl="0" algn="ctr"/>
            <a:r>
              <a:rPr lang="en-US" sz="800" kern="0">
                <a:solidFill>
                  <a:srgbClr val="FFFFFF"/>
                </a:solidFill>
                <a:latin typeface="+mj-lt"/>
              </a:rPr>
              <a:t>Before: 12 minutes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3 minutes</a:t>
            </a:r>
          </a:p>
          <a:p>
            <a:pPr lvl="0" algn="ctr"/>
            <a:endParaRPr lang="en-US" sz="800" kern="0">
              <a:solidFill>
                <a:schemeClr val="tx1"/>
              </a:solidFill>
              <a:latin typeface="+mj-lt"/>
            </a:endParaRPr>
          </a:p>
          <a:p>
            <a:pPr algn="ctr"/>
            <a:endParaRPr lang="de-DE" sz="1000">
              <a:latin typeface="+mj-lt"/>
            </a:endParaRPr>
          </a:p>
        </p:txBody>
      </p:sp>
      <p:pic>
        <p:nvPicPr>
          <p:cNvPr id="45" name="Graphic 44" descr="Coins outline">
            <a:extLst>
              <a:ext uri="{FF2B5EF4-FFF2-40B4-BE49-F238E27FC236}">
                <a16:creationId xmlns:a16="http://schemas.microsoft.com/office/drawing/2014/main" id="{CC82FB57-A977-1DE7-CE54-84841B27B0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76184" y="3906797"/>
            <a:ext cx="432000" cy="43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E10F2573-6C58-3307-839A-6945C4FBDBEA}"/>
              </a:ext>
            </a:extLst>
          </p:cNvPr>
          <p:cNvSpPr/>
          <p:nvPr/>
        </p:nvSpPr>
        <p:spPr>
          <a:xfrm>
            <a:off x="8997181" y="4338797"/>
            <a:ext cx="2790007" cy="359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Storage Costs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7B2912B-F245-3C07-FB8A-B95029C51BA1}"/>
              </a:ext>
            </a:extLst>
          </p:cNvPr>
          <p:cNvCxnSpPr>
            <a:cxnSpLocks/>
          </p:cNvCxnSpPr>
          <p:nvPr/>
        </p:nvCxnSpPr>
        <p:spPr>
          <a:xfrm>
            <a:off x="10138979" y="4698487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E9781-2D7E-26E7-026E-5A6F3EC5DFCD}"/>
              </a:ext>
            </a:extLst>
          </p:cNvPr>
          <p:cNvSpPr/>
          <p:nvPr/>
        </p:nvSpPr>
        <p:spPr>
          <a:xfrm>
            <a:off x="8997181" y="4922643"/>
            <a:ext cx="2790007" cy="1244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200" b="1" kern="0">
                <a:solidFill>
                  <a:schemeClr val="accent2"/>
                </a:solidFill>
                <a:latin typeface="+mj-lt"/>
              </a:rPr>
              <a:t>50% reduction</a:t>
            </a:r>
            <a:r>
              <a:rPr lang="en-US" sz="1200" b="1" kern="0">
                <a:solidFill>
                  <a:srgbClr val="FFFFFF"/>
                </a:solidFill>
                <a:latin typeface="+mj-lt"/>
              </a:rPr>
              <a:t> </a:t>
            </a:r>
            <a:br>
              <a:rPr lang="en-US" sz="1200" b="1" kern="0">
                <a:solidFill>
                  <a:srgbClr val="FFFFFF"/>
                </a:solidFill>
                <a:latin typeface="+mj-lt"/>
              </a:rPr>
            </a:br>
            <a:r>
              <a:rPr lang="en-US" sz="1000" kern="0">
                <a:solidFill>
                  <a:srgbClr val="FFFFFF"/>
                </a:solidFill>
                <a:latin typeface="+mj-lt"/>
              </a:rPr>
              <a:t>of storage costs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endParaRPr lang="en-US" sz="1000" kern="0">
              <a:solidFill>
                <a:srgbClr val="FFFFFF"/>
              </a:solidFill>
              <a:latin typeface="+mj-lt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br>
              <a:rPr lang="en-US" sz="10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Before: 24,50€ / TB / month</a:t>
            </a:r>
            <a:br>
              <a:rPr lang="en-US" sz="800" kern="0">
                <a:solidFill>
                  <a:srgbClr val="FFFFFF"/>
                </a:solidFill>
                <a:latin typeface="+mj-lt"/>
              </a:rPr>
            </a:br>
            <a:r>
              <a:rPr lang="en-US" sz="800" kern="0">
                <a:solidFill>
                  <a:srgbClr val="FFFFFF"/>
                </a:solidFill>
                <a:latin typeface="+mj-lt"/>
              </a:rPr>
              <a:t>Now: 13€ / TB / month</a:t>
            </a:r>
            <a:endParaRPr lang="en-US" sz="800" kern="0">
              <a:solidFill>
                <a:schemeClr val="tx1"/>
              </a:solidFill>
              <a:latin typeface="+mj-lt"/>
            </a:endParaRPr>
          </a:p>
          <a:p>
            <a:pPr algn="ctr"/>
            <a:br>
              <a:rPr lang="en-US" sz="800" b="1" kern="0">
                <a:solidFill>
                  <a:srgbClr val="FFFFFF"/>
                </a:solidFill>
                <a:latin typeface="+mj-lt"/>
              </a:rPr>
            </a:br>
            <a:endParaRPr lang="en-US" sz="800" b="1" kern="0">
              <a:solidFill>
                <a:srgbClr val="FFFFFF"/>
              </a:solidFill>
              <a:latin typeface="+mj-lt"/>
            </a:endParaRPr>
          </a:p>
          <a:p>
            <a:pPr algn="ctr"/>
            <a:endParaRPr lang="de-DE" sz="100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C43418-A73C-A892-7780-D1D351DB5C4B}"/>
              </a:ext>
            </a:extLst>
          </p:cNvPr>
          <p:cNvSpPr/>
          <p:nvPr/>
        </p:nvSpPr>
        <p:spPr>
          <a:xfrm>
            <a:off x="404806" y="4338797"/>
            <a:ext cx="2790006" cy="3560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lang="en-US" sz="1000" b="1" kern="0">
                <a:solidFill>
                  <a:srgbClr val="FFFFFF"/>
                </a:solidFill>
                <a:latin typeface="+mj-lt"/>
              </a:rPr>
              <a:t>Time to Query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1079AD2-51B8-5697-B8F9-FD9988C49F13}"/>
              </a:ext>
            </a:extLst>
          </p:cNvPr>
          <p:cNvCxnSpPr>
            <a:cxnSpLocks/>
          </p:cNvCxnSpPr>
          <p:nvPr/>
        </p:nvCxnSpPr>
        <p:spPr>
          <a:xfrm>
            <a:off x="1552960" y="4698487"/>
            <a:ext cx="506413" cy="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69F9A43-674F-593A-6CF9-9E2994E49CDA}"/>
              </a:ext>
            </a:extLst>
          </p:cNvPr>
          <p:cNvSpPr/>
          <p:nvPr/>
        </p:nvSpPr>
        <p:spPr>
          <a:xfrm>
            <a:off x="411163" y="4922643"/>
            <a:ext cx="2790005" cy="1244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1200" b="1" kern="1200">
                <a:solidFill>
                  <a:schemeClr val="accent2"/>
                </a:solidFill>
                <a:effectLst/>
                <a:latin typeface="+mj-lt"/>
                <a:ea typeface="+mn-ea"/>
                <a:cs typeface="+mn-cs"/>
              </a:rPr>
              <a:t>Everything serverless (SaaS)</a:t>
            </a:r>
            <a:endParaRPr lang="de-DE" sz="1200" b="1" kern="1200">
              <a:solidFill>
                <a:schemeClr val="accent2"/>
              </a:solidFill>
              <a:effectLst/>
              <a:latin typeface="+mj-lt"/>
              <a:ea typeface="+mn-ea"/>
              <a:cs typeface="+mn-cs"/>
            </a:endParaRPr>
          </a:p>
          <a:p>
            <a:pPr lvl="0" algn="ctr"/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&gt; Decoupled</a:t>
            </a:r>
            <a:r>
              <a:rPr lang="de-DE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, </a:t>
            </a:r>
            <a:r>
              <a:rPr lang="en-US" sz="10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easy to scale, resilient architecture</a:t>
            </a:r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800" kern="0">
                <a:solidFill>
                  <a:srgbClr val="FFFFFF"/>
                </a:solidFill>
                <a:latin typeface="+mj-lt"/>
              </a:rPr>
              <a:t>Before: </a:t>
            </a:r>
            <a:r>
              <a:rPr lang="en-US" sz="8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S3, Lambda, Kinesis, Glue, Athena</a:t>
            </a:r>
            <a:endParaRPr lang="de-DE" sz="800">
              <a:latin typeface="+mj-lt"/>
            </a:endParaRPr>
          </a:p>
          <a:p>
            <a:pPr algn="ctr"/>
            <a:r>
              <a:rPr lang="en-US" sz="800" kern="0">
                <a:solidFill>
                  <a:srgbClr val="FFFFFF"/>
                </a:solidFill>
                <a:latin typeface="+mj-lt"/>
              </a:rPr>
              <a:t>Now: </a:t>
            </a:r>
            <a:r>
              <a:rPr lang="en-US" sz="800" kern="120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rPr>
              <a:t>S3, Lambda, Kinesis, Glue, Athena</a:t>
            </a:r>
            <a:endParaRPr lang="de-DE" sz="800">
              <a:latin typeface="+mj-lt"/>
            </a:endParaRPr>
          </a:p>
          <a:p>
            <a:pPr algn="ctr"/>
            <a:endParaRPr lang="en-US" sz="800" kern="0">
              <a:solidFill>
                <a:srgbClr val="FFFFFF"/>
              </a:solidFill>
              <a:latin typeface="+mj-lt"/>
            </a:endParaRPr>
          </a:p>
          <a:p>
            <a:pPr lvl="0" algn="ctr"/>
            <a:endParaRPr lang="en-US" sz="1000" kern="0">
              <a:solidFill>
                <a:schemeClr val="tx1"/>
              </a:solidFill>
              <a:latin typeface="+mj-lt"/>
            </a:endParaRPr>
          </a:p>
          <a:p>
            <a:pPr algn="ctr"/>
            <a:endParaRPr lang="de-DE" sz="1000">
              <a:latin typeface="+mj-lt"/>
            </a:endParaRP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0242E69-756E-27B7-AC77-C55876B9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11376787" cy="576000"/>
          </a:xfrm>
        </p:spPr>
        <p:txBody>
          <a:bodyPr/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2 | Synergies of LDF Data Platform within SDC</a:t>
            </a:r>
            <a:br>
              <a:rPr lang="en-US" dirty="0"/>
            </a:br>
            <a:r>
              <a:rPr lang="en-US" dirty="0"/>
              <a:t>Success Story CATE@MFK</a:t>
            </a:r>
            <a:endParaRPr lang="de-DE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6FAA7DF-A6A4-0420-47E2-00D09D6DC28F}"/>
              </a:ext>
            </a:extLst>
          </p:cNvPr>
          <p:cNvGrpSpPr/>
          <p:nvPr/>
        </p:nvGrpSpPr>
        <p:grpSpPr>
          <a:xfrm>
            <a:off x="10275160" y="478800"/>
            <a:ext cx="1512028" cy="573713"/>
            <a:chOff x="10275160" y="478800"/>
            <a:chExt cx="1512028" cy="573713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CB09B35A-8F66-C30D-4E7C-E80CE4C2F897}"/>
                </a:ext>
              </a:extLst>
            </p:cNvPr>
            <p:cNvSpPr/>
            <p:nvPr/>
          </p:nvSpPr>
          <p:spPr>
            <a:xfrm>
              <a:off x="10275160" y="478800"/>
              <a:ext cx="1512028" cy="573713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 b="1"/>
                <a:t>Work in Progress</a:t>
              </a:r>
            </a:p>
            <a:p>
              <a:pPr algn="ctr"/>
              <a:r>
                <a:rPr lang="en-US" sz="1000"/>
                <a:t>Preliminary figures</a:t>
              </a:r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A5A7C0F1-C229-F798-D9C0-422D01D6E324}"/>
                </a:ext>
              </a:extLst>
            </p:cNvPr>
            <p:cNvCxnSpPr/>
            <p:nvPr/>
          </p:nvCxnSpPr>
          <p:spPr>
            <a:xfrm>
              <a:off x="10275160" y="478800"/>
              <a:ext cx="1512028" cy="0"/>
            </a:xfrm>
            <a:prstGeom prst="line">
              <a:avLst/>
            </a:prstGeom>
            <a:ln w="28575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2FD0D4F6-43BD-ACC9-ED6D-107893E8E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5160" y="1052513"/>
              <a:ext cx="1512028" cy="0"/>
            </a:xfrm>
            <a:prstGeom prst="line">
              <a:avLst/>
            </a:prstGeom>
            <a:ln w="28575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17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61EF739-A413-4797-A548-05DA775739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61EF739-A413-4797-A548-05DA7757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317344A-4228-48BC-84B2-D538290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D595A9-84F3-4F4A-AB23-2DF3CCB8E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AA02293-84DC-6B93-5996-E6F61CA3F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7" name="Textfeld 62">
            <a:extLst>
              <a:ext uri="{FF2B5EF4-FFF2-40B4-BE49-F238E27FC236}">
                <a16:creationId xmlns:a16="http://schemas.microsoft.com/office/drawing/2014/main" id="{92C27DB3-4FB7-4514-863F-61CA8D1589EC}"/>
              </a:ext>
            </a:extLst>
          </p:cNvPr>
          <p:cNvSpPr txBox="1">
            <a:spLocks/>
          </p:cNvSpPr>
          <p:nvPr/>
        </p:nvSpPr>
        <p:spPr>
          <a:xfrm>
            <a:off x="1164641" y="2868658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Synergies of LDF Data Platform within SDC</a:t>
            </a:r>
          </a:p>
        </p:txBody>
      </p:sp>
      <p:sp>
        <p:nvSpPr>
          <p:cNvPr id="29" name="Rectangle 1276">
            <a:extLst>
              <a:ext uri="{FF2B5EF4-FFF2-40B4-BE49-F238E27FC236}">
                <a16:creationId xmlns:a16="http://schemas.microsoft.com/office/drawing/2014/main" id="{B64AA73B-0E17-4EAE-A6E8-D88A90808A6C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868752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2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34FAF27-82B2-4A89-88EA-989F3D578D53}"/>
              </a:ext>
            </a:extLst>
          </p:cNvPr>
          <p:cNvCxnSpPr>
            <a:cxnSpLocks/>
          </p:cNvCxnSpPr>
          <p:nvPr/>
        </p:nvCxnSpPr>
        <p:spPr>
          <a:xfrm flipH="1">
            <a:off x="983432" y="2922658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7D4E361-44CE-1676-78EE-5E5B2F9279CB}"/>
              </a:ext>
            </a:extLst>
          </p:cNvPr>
          <p:cNvGrpSpPr/>
          <p:nvPr/>
        </p:nvGrpSpPr>
        <p:grpSpPr>
          <a:xfrm>
            <a:off x="517900" y="3701215"/>
            <a:ext cx="9862738" cy="360000"/>
            <a:chOff x="517900" y="3642258"/>
            <a:chExt cx="9862738" cy="360000"/>
          </a:xfrm>
        </p:grpSpPr>
        <p:sp>
          <p:nvSpPr>
            <p:cNvPr id="36" name="Textfeld 62">
              <a:extLst>
                <a:ext uri="{FF2B5EF4-FFF2-40B4-BE49-F238E27FC236}">
                  <a16:creationId xmlns:a16="http://schemas.microsoft.com/office/drawing/2014/main" id="{87F6E1BC-9240-4085-8F3D-5B74167AF972}"/>
                </a:ext>
              </a:extLst>
            </p:cNvPr>
            <p:cNvSpPr txBox="1">
              <a:spLocks/>
            </p:cNvSpPr>
            <p:nvPr/>
          </p:nvSpPr>
          <p:spPr>
            <a:xfrm>
              <a:off x="1164641" y="3642258"/>
              <a:ext cx="9215997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>
                  <a:latin typeface="+mj-lt"/>
                  <a:cs typeface="Segoe UI Semibold" panose="020B0702040204020203" pitchFamily="34" charset="0"/>
                </a:rPr>
                <a:t>Introduction to Hybrid Architecture Concept</a:t>
              </a:r>
            </a:p>
          </p:txBody>
        </p:sp>
        <p:sp>
          <p:nvSpPr>
            <p:cNvPr id="37" name="Rectangle 1276">
              <a:extLst>
                <a:ext uri="{FF2B5EF4-FFF2-40B4-BE49-F238E27FC236}">
                  <a16:creationId xmlns:a16="http://schemas.microsoft.com/office/drawing/2014/main" id="{195F8945-19E3-41FC-A83D-0A0281CC5439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517900" y="3642352"/>
              <a:ext cx="359644" cy="359813"/>
            </a:xfrm>
            <a:prstGeom prst="rect">
              <a:avLst/>
            </a:prstGeom>
            <a:noFill/>
          </p:spPr>
          <p:txBody>
            <a:bodyPr vert="horz" wrap="none" lIns="72000" tIns="72000" rIns="72000" bIns="72000" rtlCol="0" anchor="ctr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</a:pPr>
              <a:r>
                <a:rPr lang="en-US" sz="1400" b="1">
                  <a:latin typeface="+mj-lt"/>
                  <a:cs typeface="Segoe UI" pitchFamily="34" charset="0"/>
                </a:rPr>
                <a:t>3</a:t>
              </a:r>
            </a:p>
          </p:txBody>
        </p: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839EA111-559F-4014-AEDD-5BCE838DD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432" y="3696258"/>
              <a:ext cx="0" cy="252000"/>
            </a:xfrm>
            <a:prstGeom prst="line">
              <a:avLst/>
            </a:prstGeom>
            <a:ln w="19050">
              <a:solidFill>
                <a:schemeClr val="accent2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feld 62">
            <a:extLst>
              <a:ext uri="{FF2B5EF4-FFF2-40B4-BE49-F238E27FC236}">
                <a16:creationId xmlns:a16="http://schemas.microsoft.com/office/drawing/2014/main" id="{878969A8-2ECE-4A56-9F38-EF222D6C5DA7}"/>
              </a:ext>
            </a:extLst>
          </p:cNvPr>
          <p:cNvSpPr txBox="1">
            <a:spLocks/>
          </p:cNvSpPr>
          <p:nvPr/>
        </p:nvSpPr>
        <p:spPr>
          <a:xfrm>
            <a:off x="1164641" y="4533772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Project Ambition Fiscal Year 2024</a:t>
            </a:r>
          </a:p>
        </p:txBody>
      </p:sp>
      <p:sp>
        <p:nvSpPr>
          <p:cNvPr id="42" name="Rectangle 1276">
            <a:extLst>
              <a:ext uri="{FF2B5EF4-FFF2-40B4-BE49-F238E27FC236}">
                <a16:creationId xmlns:a16="http://schemas.microsoft.com/office/drawing/2014/main" id="{DC9C4AB3-F7AA-4950-B479-83167D57637E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4533866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4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38A2C1A-FBCE-4546-98CD-1BA78B18BAFE}"/>
              </a:ext>
            </a:extLst>
          </p:cNvPr>
          <p:cNvCxnSpPr>
            <a:cxnSpLocks/>
          </p:cNvCxnSpPr>
          <p:nvPr/>
        </p:nvCxnSpPr>
        <p:spPr>
          <a:xfrm flipH="1">
            <a:off x="983432" y="4587772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62">
            <a:extLst>
              <a:ext uri="{FF2B5EF4-FFF2-40B4-BE49-F238E27FC236}">
                <a16:creationId xmlns:a16="http://schemas.microsoft.com/office/drawing/2014/main" id="{B5743862-7809-86FF-D3CA-2F8BAF758FEC}"/>
              </a:ext>
            </a:extLst>
          </p:cNvPr>
          <p:cNvSpPr txBox="1">
            <a:spLocks/>
          </p:cNvSpPr>
          <p:nvPr/>
        </p:nvSpPr>
        <p:spPr>
          <a:xfrm>
            <a:off x="1164641" y="2036101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Status Update LDF Data Platform</a:t>
            </a:r>
          </a:p>
        </p:txBody>
      </p:sp>
      <p:sp>
        <p:nvSpPr>
          <p:cNvPr id="18" name="Rectangle 1276">
            <a:extLst>
              <a:ext uri="{FF2B5EF4-FFF2-40B4-BE49-F238E27FC236}">
                <a16:creationId xmlns:a16="http://schemas.microsoft.com/office/drawing/2014/main" id="{C598E224-8417-EDB5-45DA-A7948C228635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036195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1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967B95A-4441-910A-5FA9-9FD67F52A7B3}"/>
              </a:ext>
            </a:extLst>
          </p:cNvPr>
          <p:cNvCxnSpPr>
            <a:cxnSpLocks/>
          </p:cNvCxnSpPr>
          <p:nvPr/>
        </p:nvCxnSpPr>
        <p:spPr>
          <a:xfrm flipH="1">
            <a:off x="983432" y="2090101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468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3" name="Gerader Verbinder 482">
            <a:extLst>
              <a:ext uri="{FF2B5EF4-FFF2-40B4-BE49-F238E27FC236}">
                <a16:creationId xmlns:a16="http://schemas.microsoft.com/office/drawing/2014/main" id="{CB82C68A-68FF-AA5F-EFAE-94796E0B0CA8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6140529" y="3605940"/>
            <a:ext cx="1958068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Gerader Verbinder 793">
            <a:extLst>
              <a:ext uri="{FF2B5EF4-FFF2-40B4-BE49-F238E27FC236}">
                <a16:creationId xmlns:a16="http://schemas.microsoft.com/office/drawing/2014/main" id="{D8AB1115-F0C1-BBE9-9A4E-2571161D3CEA}"/>
              </a:ext>
            </a:extLst>
          </p:cNvPr>
          <p:cNvCxnSpPr>
            <a:cxnSpLocks/>
          </p:cNvCxnSpPr>
          <p:nvPr/>
        </p:nvCxnSpPr>
        <p:spPr>
          <a:xfrm flipH="1">
            <a:off x="6240016" y="3677940"/>
            <a:ext cx="1476184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Gerader Verbinder 332">
            <a:extLst>
              <a:ext uri="{FF2B5EF4-FFF2-40B4-BE49-F238E27FC236}">
                <a16:creationId xmlns:a16="http://schemas.microsoft.com/office/drawing/2014/main" id="{13A360A0-DFAD-73CE-379B-B122C31F6860}"/>
              </a:ext>
            </a:extLst>
          </p:cNvPr>
          <p:cNvCxnSpPr>
            <a:cxnSpLocks/>
          </p:cNvCxnSpPr>
          <p:nvPr/>
        </p:nvCxnSpPr>
        <p:spPr>
          <a:xfrm flipV="1">
            <a:off x="6096001" y="3065940"/>
            <a:ext cx="0" cy="252000"/>
          </a:xfrm>
          <a:prstGeom prst="line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Gerader Verbinder 349">
            <a:extLst>
              <a:ext uri="{FF2B5EF4-FFF2-40B4-BE49-F238E27FC236}">
                <a16:creationId xmlns:a16="http://schemas.microsoft.com/office/drawing/2014/main" id="{54F21486-5571-683A-C6C6-1BDFD216CF97}"/>
              </a:ext>
            </a:extLst>
          </p:cNvPr>
          <p:cNvCxnSpPr>
            <a:cxnSpLocks/>
          </p:cNvCxnSpPr>
          <p:nvPr/>
        </p:nvCxnSpPr>
        <p:spPr>
          <a:xfrm flipH="1">
            <a:off x="6706651" y="2603438"/>
            <a:ext cx="369545" cy="179905"/>
          </a:xfrm>
          <a:prstGeom prst="line">
            <a:avLst/>
          </a:prstGeom>
          <a:ln w="9525">
            <a:solidFill>
              <a:srgbClr val="66667E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Gerader Verbinder 346">
            <a:extLst>
              <a:ext uri="{FF2B5EF4-FFF2-40B4-BE49-F238E27FC236}">
                <a16:creationId xmlns:a16="http://schemas.microsoft.com/office/drawing/2014/main" id="{123BC5B8-3E00-8DDD-5B0E-4AEFE99F41A3}"/>
              </a:ext>
            </a:extLst>
          </p:cNvPr>
          <p:cNvCxnSpPr>
            <a:cxnSpLocks/>
            <a:stCxn id="330" idx="11"/>
          </p:cNvCxnSpPr>
          <p:nvPr/>
        </p:nvCxnSpPr>
        <p:spPr>
          <a:xfrm flipH="1">
            <a:off x="6271789" y="2121887"/>
            <a:ext cx="225791" cy="219277"/>
          </a:xfrm>
          <a:prstGeom prst="line">
            <a:avLst/>
          </a:prstGeom>
          <a:ln w="9525">
            <a:solidFill>
              <a:srgbClr val="66667E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Gerader Verbinder 343">
            <a:extLst>
              <a:ext uri="{FF2B5EF4-FFF2-40B4-BE49-F238E27FC236}">
                <a16:creationId xmlns:a16="http://schemas.microsoft.com/office/drawing/2014/main" id="{A0D83AFA-6B31-327E-AF44-095455EBBAD8}"/>
              </a:ext>
            </a:extLst>
          </p:cNvPr>
          <p:cNvCxnSpPr>
            <a:cxnSpLocks/>
          </p:cNvCxnSpPr>
          <p:nvPr/>
        </p:nvCxnSpPr>
        <p:spPr>
          <a:xfrm>
            <a:off x="5440661" y="2119167"/>
            <a:ext cx="286149" cy="348609"/>
          </a:xfrm>
          <a:prstGeom prst="line">
            <a:avLst/>
          </a:prstGeom>
          <a:ln w="9525">
            <a:solidFill>
              <a:srgbClr val="66667E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Gerader Verbinder 341">
            <a:extLst>
              <a:ext uri="{FF2B5EF4-FFF2-40B4-BE49-F238E27FC236}">
                <a16:creationId xmlns:a16="http://schemas.microsoft.com/office/drawing/2014/main" id="{66CE7815-A394-13D1-7EBE-0DFDACCB85F1}"/>
              </a:ext>
            </a:extLst>
          </p:cNvPr>
          <p:cNvCxnSpPr>
            <a:cxnSpLocks/>
          </p:cNvCxnSpPr>
          <p:nvPr/>
        </p:nvCxnSpPr>
        <p:spPr>
          <a:xfrm>
            <a:off x="5132675" y="2603010"/>
            <a:ext cx="328096" cy="145428"/>
          </a:xfrm>
          <a:prstGeom prst="line">
            <a:avLst/>
          </a:prstGeom>
          <a:ln w="9525">
            <a:solidFill>
              <a:srgbClr val="66667E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E041507-3A91-C55D-9665-E066AD2B1A41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4093407" y="3605940"/>
            <a:ext cx="1958065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32663232-31C0-F448-8557-F79C8F58FCCC}"/>
              </a:ext>
            </a:extLst>
          </p:cNvPr>
          <p:cNvSpPr/>
          <p:nvPr/>
        </p:nvSpPr>
        <p:spPr>
          <a:xfrm>
            <a:off x="5808001" y="3317940"/>
            <a:ext cx="576000" cy="576000"/>
          </a:xfrm>
          <a:prstGeom prst="ellipse">
            <a:avLst/>
          </a:prstGeom>
          <a:solidFill>
            <a:srgbClr val="00002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sz="1200" kern="0">
              <a:solidFill>
                <a:prstClr val="black"/>
              </a:solidFill>
              <a:latin typeface="Ubuntu"/>
            </a:endParaRPr>
          </a:p>
        </p:txBody>
      </p:sp>
      <p:pic>
        <p:nvPicPr>
          <p:cNvPr id="14" name="Grafik 13" descr="Gehirn Silhouette">
            <a:extLst>
              <a:ext uri="{FF2B5EF4-FFF2-40B4-BE49-F238E27FC236}">
                <a16:creationId xmlns:a16="http://schemas.microsoft.com/office/drawing/2014/main" id="{550E6406-9ACA-313E-853A-23F601186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880001" y="3389940"/>
            <a:ext cx="432000" cy="432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E0D431-D20D-4BFB-820D-42EE8E72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11376788" cy="576000"/>
          </a:xfrm>
        </p:spPr>
        <p:txBody>
          <a:bodyPr/>
          <a:lstStyle/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1400" b="0">
                <a:solidFill>
                  <a:prstClr val="white"/>
                </a:solidFill>
                <a:latin typeface="Arial"/>
              </a:rPr>
              <a:t>3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| Introduction to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Hybri</a:t>
            </a:r>
            <a:r>
              <a:rPr lang="en-US" sz="1400" b="0">
                <a:solidFill>
                  <a:prstClr val="white"/>
                </a:solidFill>
                <a:latin typeface="Arial"/>
              </a:rPr>
              <a:t>d Architecture Concept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US"/>
              <a:t>Unlocking Data-driven Agility: Understanding the Nature of Hybrid Architecture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904820-6173-41A7-A472-A5130965C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341" name="Slide Number Placeholder 340">
            <a:extLst>
              <a:ext uri="{FF2B5EF4-FFF2-40B4-BE49-F238E27FC236}">
                <a16:creationId xmlns:a16="http://schemas.microsoft.com/office/drawing/2014/main" id="{41CE4C01-1C04-4002-BB27-23385E13A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10" name="Rechteck 809">
            <a:extLst>
              <a:ext uri="{FF2B5EF4-FFF2-40B4-BE49-F238E27FC236}">
                <a16:creationId xmlns:a16="http://schemas.microsoft.com/office/drawing/2014/main" id="{4F3B10A2-9C70-45C5-B4A6-A2BBA568EA99}"/>
              </a:ext>
            </a:extLst>
          </p:cNvPr>
          <p:cNvSpPr/>
          <p:nvPr/>
        </p:nvSpPr>
        <p:spPr>
          <a:xfrm>
            <a:off x="407368" y="1412808"/>
            <a:ext cx="2736000" cy="576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736" name="Rechteck 735">
            <a:extLst>
              <a:ext uri="{FF2B5EF4-FFF2-40B4-BE49-F238E27FC236}">
                <a16:creationId xmlns:a16="http://schemas.microsoft.com/office/drawing/2014/main" id="{D2F37896-D49A-4C3B-8CAA-495F4714CCEE}"/>
              </a:ext>
            </a:extLst>
          </p:cNvPr>
          <p:cNvSpPr/>
          <p:nvPr/>
        </p:nvSpPr>
        <p:spPr>
          <a:xfrm>
            <a:off x="8724632" y="1412776"/>
            <a:ext cx="2736000" cy="5760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chemeClr val="tx1"/>
                </a:solidFill>
              </a:rPr>
              <a:t>Characteristics</a:t>
            </a:r>
          </a:p>
        </p:txBody>
      </p:sp>
      <p:sp>
        <p:nvSpPr>
          <p:cNvPr id="780" name="Rechteck 779">
            <a:extLst>
              <a:ext uri="{FF2B5EF4-FFF2-40B4-BE49-F238E27FC236}">
                <a16:creationId xmlns:a16="http://schemas.microsoft.com/office/drawing/2014/main" id="{1A328DEA-2DA4-4DAF-B516-2660BB192F07}"/>
              </a:ext>
            </a:extLst>
          </p:cNvPr>
          <p:cNvSpPr/>
          <p:nvPr/>
        </p:nvSpPr>
        <p:spPr>
          <a:xfrm>
            <a:off x="752984" y="5733256"/>
            <a:ext cx="11016000" cy="43200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</a:rPr>
              <a:t>A Hybrid Architecture offers the </a:t>
            </a:r>
            <a:r>
              <a:rPr lang="en-US" sz="1200" i="1">
                <a:solidFill>
                  <a:schemeClr val="accent2"/>
                </a:solidFill>
              </a:rPr>
              <a:t>FLEXIBILITY</a:t>
            </a:r>
            <a:r>
              <a:rPr lang="en-US" sz="1400">
                <a:solidFill>
                  <a:schemeClr val="tx1"/>
                </a:solidFill>
              </a:rPr>
              <a:t> to tailor factory-specific deployment scenarios, achieve </a:t>
            </a:r>
            <a:r>
              <a:rPr lang="en-US" sz="1200" i="1">
                <a:solidFill>
                  <a:schemeClr val="accent2"/>
                </a:solidFill>
              </a:rPr>
              <a:t>COST-EFFICIENCY</a:t>
            </a:r>
            <a:r>
              <a:rPr lang="en-US" sz="1400">
                <a:solidFill>
                  <a:schemeClr val="accent2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through optimized pay-as-you-go models and enhance </a:t>
            </a:r>
            <a:r>
              <a:rPr lang="en-US" sz="1200" i="1">
                <a:solidFill>
                  <a:schemeClr val="accent2"/>
                </a:solidFill>
              </a:rPr>
              <a:t>PERFORMANCE</a:t>
            </a:r>
            <a:r>
              <a:rPr lang="en-US" sz="1400">
                <a:solidFill>
                  <a:schemeClr val="tx1"/>
                </a:solidFill>
              </a:rPr>
              <a:t> by strategically allocating resources between on-prem and cloud infrastructures.</a:t>
            </a:r>
          </a:p>
        </p:txBody>
      </p:sp>
      <p:sp>
        <p:nvSpPr>
          <p:cNvPr id="781" name="Pfeil: Chevron 780">
            <a:extLst>
              <a:ext uri="{FF2B5EF4-FFF2-40B4-BE49-F238E27FC236}">
                <a16:creationId xmlns:a16="http://schemas.microsoft.com/office/drawing/2014/main" id="{5F975BED-005E-48F2-AF01-AC0A6A1ACFD6}"/>
              </a:ext>
            </a:extLst>
          </p:cNvPr>
          <p:cNvSpPr/>
          <p:nvPr/>
        </p:nvSpPr>
        <p:spPr>
          <a:xfrm>
            <a:off x="407368" y="5733256"/>
            <a:ext cx="216000" cy="432000"/>
          </a:xfrm>
          <a:prstGeom prst="chevron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502" name="Freihandform: Form 501">
            <a:extLst>
              <a:ext uri="{FF2B5EF4-FFF2-40B4-BE49-F238E27FC236}">
                <a16:creationId xmlns:a16="http://schemas.microsoft.com/office/drawing/2014/main" id="{B3DAFE07-D9D9-9BF7-B223-A10B96846463}"/>
              </a:ext>
            </a:extLst>
          </p:cNvPr>
          <p:cNvSpPr/>
          <p:nvPr/>
        </p:nvSpPr>
        <p:spPr>
          <a:xfrm>
            <a:off x="0" y="1985940"/>
            <a:ext cx="4007033" cy="3240000"/>
          </a:xfrm>
          <a:custGeom>
            <a:avLst/>
            <a:gdLst>
              <a:gd name="connsiteX0" fmla="*/ 0 w 4007033"/>
              <a:gd name="connsiteY0" fmla="*/ 0 h 3240000"/>
              <a:gd name="connsiteX1" fmla="*/ 158609 w 4007033"/>
              <a:gd name="connsiteY1" fmla="*/ 0 h 3240000"/>
              <a:gd name="connsiteX2" fmla="*/ 1695756 w 4007033"/>
              <a:gd name="connsiteY2" fmla="*/ 0 h 3240000"/>
              <a:gd name="connsiteX3" fmla="*/ 4007033 w 4007033"/>
              <a:gd name="connsiteY3" fmla="*/ 0 h 3240000"/>
              <a:gd name="connsiteX4" fmla="*/ 3901897 w 4007033"/>
              <a:gd name="connsiteY4" fmla="*/ 140597 h 3240000"/>
              <a:gd name="connsiteX5" fmla="*/ 3450001 w 4007033"/>
              <a:gd name="connsiteY5" fmla="*/ 1620000 h 3240000"/>
              <a:gd name="connsiteX6" fmla="*/ 3901897 w 4007033"/>
              <a:gd name="connsiteY6" fmla="*/ 3099404 h 3240000"/>
              <a:gd name="connsiteX7" fmla="*/ 4007033 w 4007033"/>
              <a:gd name="connsiteY7" fmla="*/ 3240000 h 3240000"/>
              <a:gd name="connsiteX8" fmla="*/ 1695756 w 4007033"/>
              <a:gd name="connsiteY8" fmla="*/ 3240000 h 3240000"/>
              <a:gd name="connsiteX9" fmla="*/ 158609 w 4007033"/>
              <a:gd name="connsiteY9" fmla="*/ 3240000 h 3240000"/>
              <a:gd name="connsiteX10" fmla="*/ 0 w 4007033"/>
              <a:gd name="connsiteY10" fmla="*/ 324000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07033" h="3240000">
                <a:moveTo>
                  <a:pt x="0" y="0"/>
                </a:moveTo>
                <a:lnTo>
                  <a:pt x="158609" y="0"/>
                </a:lnTo>
                <a:lnTo>
                  <a:pt x="1695756" y="0"/>
                </a:lnTo>
                <a:lnTo>
                  <a:pt x="4007033" y="0"/>
                </a:lnTo>
                <a:lnTo>
                  <a:pt x="3901897" y="140597"/>
                </a:lnTo>
                <a:cubicBezTo>
                  <a:pt x="3616593" y="562901"/>
                  <a:pt x="3450001" y="1071996"/>
                  <a:pt x="3450001" y="1620000"/>
                </a:cubicBezTo>
                <a:cubicBezTo>
                  <a:pt x="3450001" y="2168005"/>
                  <a:pt x="3616593" y="2677099"/>
                  <a:pt x="3901897" y="3099404"/>
                </a:cubicBezTo>
                <a:lnTo>
                  <a:pt x="4007033" y="3240000"/>
                </a:lnTo>
                <a:lnTo>
                  <a:pt x="1695756" y="3240000"/>
                </a:lnTo>
                <a:lnTo>
                  <a:pt x="158609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800"/>
          </a:p>
        </p:txBody>
      </p:sp>
      <p:sp>
        <p:nvSpPr>
          <p:cNvPr id="504" name="Freihandform: Form 503">
            <a:extLst>
              <a:ext uri="{FF2B5EF4-FFF2-40B4-BE49-F238E27FC236}">
                <a16:creationId xmlns:a16="http://schemas.microsoft.com/office/drawing/2014/main" id="{0D92C998-9A25-F1BA-7E45-8D452A35CC16}"/>
              </a:ext>
            </a:extLst>
          </p:cNvPr>
          <p:cNvSpPr/>
          <p:nvPr/>
        </p:nvSpPr>
        <p:spPr>
          <a:xfrm>
            <a:off x="8184970" y="1985940"/>
            <a:ext cx="4007031" cy="3240000"/>
          </a:xfrm>
          <a:custGeom>
            <a:avLst/>
            <a:gdLst>
              <a:gd name="connsiteX0" fmla="*/ 0 w 4007031"/>
              <a:gd name="connsiteY0" fmla="*/ 0 h 3240000"/>
              <a:gd name="connsiteX1" fmla="*/ 2311275 w 4007031"/>
              <a:gd name="connsiteY1" fmla="*/ 0 h 3240000"/>
              <a:gd name="connsiteX2" fmla="*/ 3848419 w 4007031"/>
              <a:gd name="connsiteY2" fmla="*/ 0 h 3240000"/>
              <a:gd name="connsiteX3" fmla="*/ 4007031 w 4007031"/>
              <a:gd name="connsiteY3" fmla="*/ 0 h 3240000"/>
              <a:gd name="connsiteX4" fmla="*/ 4007031 w 4007031"/>
              <a:gd name="connsiteY4" fmla="*/ 3240000 h 3240000"/>
              <a:gd name="connsiteX5" fmla="*/ 3848419 w 4007031"/>
              <a:gd name="connsiteY5" fmla="*/ 3240000 h 3240000"/>
              <a:gd name="connsiteX6" fmla="*/ 2311275 w 4007031"/>
              <a:gd name="connsiteY6" fmla="*/ 3240000 h 3240000"/>
              <a:gd name="connsiteX7" fmla="*/ 0 w 4007031"/>
              <a:gd name="connsiteY7" fmla="*/ 3240000 h 3240000"/>
              <a:gd name="connsiteX8" fmla="*/ 105136 w 4007031"/>
              <a:gd name="connsiteY8" fmla="*/ 3099404 h 3240000"/>
              <a:gd name="connsiteX9" fmla="*/ 557031 w 4007031"/>
              <a:gd name="connsiteY9" fmla="*/ 1620000 h 3240000"/>
              <a:gd name="connsiteX10" fmla="*/ 105136 w 4007031"/>
              <a:gd name="connsiteY10" fmla="*/ 140597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07031" h="3240000">
                <a:moveTo>
                  <a:pt x="0" y="0"/>
                </a:moveTo>
                <a:lnTo>
                  <a:pt x="2311275" y="0"/>
                </a:lnTo>
                <a:lnTo>
                  <a:pt x="3848419" y="0"/>
                </a:lnTo>
                <a:lnTo>
                  <a:pt x="4007031" y="0"/>
                </a:lnTo>
                <a:lnTo>
                  <a:pt x="4007031" y="3240000"/>
                </a:lnTo>
                <a:lnTo>
                  <a:pt x="3848419" y="3240000"/>
                </a:lnTo>
                <a:lnTo>
                  <a:pt x="2311275" y="3240000"/>
                </a:lnTo>
                <a:lnTo>
                  <a:pt x="0" y="3240000"/>
                </a:lnTo>
                <a:lnTo>
                  <a:pt x="105136" y="3099404"/>
                </a:lnTo>
                <a:cubicBezTo>
                  <a:pt x="390439" y="2677099"/>
                  <a:pt x="557031" y="2168005"/>
                  <a:pt x="557031" y="1620000"/>
                </a:cubicBezTo>
                <a:cubicBezTo>
                  <a:pt x="557031" y="1071996"/>
                  <a:pt x="390439" y="562901"/>
                  <a:pt x="105136" y="140597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 anchorCtr="0">
            <a:noAutofit/>
          </a:bodyPr>
          <a:lstStyle/>
          <a:p>
            <a:endParaRPr lang="en-US" sz="800"/>
          </a:p>
        </p:txBody>
      </p:sp>
      <p:sp>
        <p:nvSpPr>
          <p:cNvPr id="749" name="Freihandform: Form 748">
            <a:extLst>
              <a:ext uri="{FF2B5EF4-FFF2-40B4-BE49-F238E27FC236}">
                <a16:creationId xmlns:a16="http://schemas.microsoft.com/office/drawing/2014/main" id="{43838F46-C68D-46FF-BA46-91B16095BF3A}"/>
              </a:ext>
            </a:extLst>
          </p:cNvPr>
          <p:cNvSpPr>
            <a:spLocks/>
          </p:cNvSpPr>
          <p:nvPr/>
        </p:nvSpPr>
        <p:spPr>
          <a:xfrm>
            <a:off x="3575724" y="1897491"/>
            <a:ext cx="5040556" cy="3416898"/>
          </a:xfrm>
          <a:custGeom>
            <a:avLst/>
            <a:gdLst>
              <a:gd name="connsiteX0" fmla="*/ 5130317 w 6480000"/>
              <a:gd name="connsiteY0" fmla="*/ 0 h 4392672"/>
              <a:gd name="connsiteX1" fmla="*/ 5641660 w 6480000"/>
              <a:gd name="connsiteY1" fmla="*/ 0 h 4392672"/>
              <a:gd name="connsiteX2" fmla="*/ 5740142 w 6480000"/>
              <a:gd name="connsiteY2" fmla="*/ 108357 h 4392672"/>
              <a:gd name="connsiteX3" fmla="*/ 6480000 w 6480000"/>
              <a:gd name="connsiteY3" fmla="*/ 2169298 h 4392672"/>
              <a:gd name="connsiteX4" fmla="*/ 5740142 w 6480000"/>
              <a:gd name="connsiteY4" fmla="*/ 4230239 h 4392672"/>
              <a:gd name="connsiteX5" fmla="*/ 5592512 w 6480000"/>
              <a:gd name="connsiteY5" fmla="*/ 4392672 h 4392672"/>
              <a:gd name="connsiteX6" fmla="*/ 5070576 w 6480000"/>
              <a:gd name="connsiteY6" fmla="*/ 4392672 h 4392672"/>
              <a:gd name="connsiteX7" fmla="*/ 5071948 w 6480000"/>
              <a:gd name="connsiteY7" fmla="*/ 4391646 h 4392672"/>
              <a:gd name="connsiteX8" fmla="*/ 6120000 w 6480000"/>
              <a:gd name="connsiteY8" fmla="*/ 2169298 h 4392672"/>
              <a:gd name="connsiteX9" fmla="*/ 5276468 w 6480000"/>
              <a:gd name="connsiteY9" fmla="*/ 132831 h 4392672"/>
              <a:gd name="connsiteX10" fmla="*/ 838340 w 6480000"/>
              <a:gd name="connsiteY10" fmla="*/ 0 h 4392672"/>
              <a:gd name="connsiteX11" fmla="*/ 1349683 w 6480000"/>
              <a:gd name="connsiteY11" fmla="*/ 0 h 4392672"/>
              <a:gd name="connsiteX12" fmla="*/ 1203533 w 6480000"/>
              <a:gd name="connsiteY12" fmla="*/ 132831 h 4392672"/>
              <a:gd name="connsiteX13" fmla="*/ 360000 w 6480000"/>
              <a:gd name="connsiteY13" fmla="*/ 2169298 h 4392672"/>
              <a:gd name="connsiteX14" fmla="*/ 1408053 w 6480000"/>
              <a:gd name="connsiteY14" fmla="*/ 4391646 h 4392672"/>
              <a:gd name="connsiteX15" fmla="*/ 1409425 w 6480000"/>
              <a:gd name="connsiteY15" fmla="*/ 4392672 h 4392672"/>
              <a:gd name="connsiteX16" fmla="*/ 887488 w 6480000"/>
              <a:gd name="connsiteY16" fmla="*/ 4392672 h 4392672"/>
              <a:gd name="connsiteX17" fmla="*/ 739859 w 6480000"/>
              <a:gd name="connsiteY17" fmla="*/ 4230239 h 4392672"/>
              <a:gd name="connsiteX18" fmla="*/ 0 w 6480000"/>
              <a:gd name="connsiteY18" fmla="*/ 2169298 h 4392672"/>
              <a:gd name="connsiteX19" fmla="*/ 739859 w 6480000"/>
              <a:gd name="connsiteY19" fmla="*/ 108357 h 439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480000" h="4392672">
                <a:moveTo>
                  <a:pt x="5130317" y="0"/>
                </a:moveTo>
                <a:lnTo>
                  <a:pt x="5641660" y="0"/>
                </a:lnTo>
                <a:lnTo>
                  <a:pt x="5740142" y="108357"/>
                </a:lnTo>
                <a:cubicBezTo>
                  <a:pt x="6202347" y="668420"/>
                  <a:pt x="6480000" y="1386434"/>
                  <a:pt x="6480000" y="2169298"/>
                </a:cubicBezTo>
                <a:cubicBezTo>
                  <a:pt x="6480000" y="2952162"/>
                  <a:pt x="6202347" y="3670176"/>
                  <a:pt x="5740142" y="4230239"/>
                </a:cubicBezTo>
                <a:lnTo>
                  <a:pt x="5592512" y="4392672"/>
                </a:lnTo>
                <a:lnTo>
                  <a:pt x="5070576" y="4392672"/>
                </a:lnTo>
                <a:lnTo>
                  <a:pt x="5071948" y="4391646"/>
                </a:lnTo>
                <a:cubicBezTo>
                  <a:pt x="5712019" y="3863412"/>
                  <a:pt x="6120000" y="3064000"/>
                  <a:pt x="6120000" y="2169298"/>
                </a:cubicBezTo>
                <a:cubicBezTo>
                  <a:pt x="6120000" y="1374008"/>
                  <a:pt x="5797645" y="654008"/>
                  <a:pt x="5276468" y="132831"/>
                </a:cubicBezTo>
                <a:close/>
                <a:moveTo>
                  <a:pt x="838340" y="0"/>
                </a:moveTo>
                <a:lnTo>
                  <a:pt x="1349683" y="0"/>
                </a:lnTo>
                <a:lnTo>
                  <a:pt x="1203533" y="132831"/>
                </a:lnTo>
                <a:cubicBezTo>
                  <a:pt x="682355" y="654008"/>
                  <a:pt x="360000" y="1374008"/>
                  <a:pt x="360000" y="2169298"/>
                </a:cubicBezTo>
                <a:cubicBezTo>
                  <a:pt x="360000" y="3064000"/>
                  <a:pt x="767981" y="3863412"/>
                  <a:pt x="1408053" y="4391646"/>
                </a:cubicBezTo>
                <a:lnTo>
                  <a:pt x="1409425" y="4392672"/>
                </a:lnTo>
                <a:lnTo>
                  <a:pt x="887488" y="4392672"/>
                </a:lnTo>
                <a:lnTo>
                  <a:pt x="739859" y="4230239"/>
                </a:lnTo>
                <a:cubicBezTo>
                  <a:pt x="277654" y="3670176"/>
                  <a:pt x="0" y="2952162"/>
                  <a:pt x="0" y="2169298"/>
                </a:cubicBezTo>
                <a:cubicBezTo>
                  <a:pt x="0" y="1386434"/>
                  <a:pt x="277654" y="668420"/>
                  <a:pt x="739859" y="108357"/>
                </a:cubicBezTo>
                <a:close/>
              </a:path>
            </a:pathLst>
          </a:custGeom>
          <a:gradFill flip="none" rotWithShape="1">
            <a:gsLst>
              <a:gs pos="75000">
                <a:schemeClr val="accent2">
                  <a:alpha val="40000"/>
                </a:schemeClr>
              </a:gs>
              <a:gs pos="90000">
                <a:srgbClr val="000028"/>
              </a:gs>
              <a:gs pos="88000">
                <a:schemeClr val="accent1">
                  <a:alpha val="60000"/>
                </a:schemeClr>
              </a:gs>
              <a:gs pos="71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tIns="64000" rIns="96000" bIns="64000" rtlCol="0" anchor="t" anchorCtr="0"/>
          <a:lstStyle/>
          <a:p>
            <a:endParaRPr lang="en-US"/>
          </a:p>
        </p:txBody>
      </p:sp>
      <p:grpSp>
        <p:nvGrpSpPr>
          <p:cNvPr id="742" name="Gruppieren 741">
            <a:extLst>
              <a:ext uri="{FF2B5EF4-FFF2-40B4-BE49-F238E27FC236}">
                <a16:creationId xmlns:a16="http://schemas.microsoft.com/office/drawing/2014/main" id="{49E65141-E258-D67D-0606-5F2CDBEB2B47}"/>
              </a:ext>
            </a:extLst>
          </p:cNvPr>
          <p:cNvGrpSpPr/>
          <p:nvPr/>
        </p:nvGrpSpPr>
        <p:grpSpPr>
          <a:xfrm>
            <a:off x="407636" y="2429202"/>
            <a:ext cx="2880052" cy="2215620"/>
            <a:chOff x="407636" y="2429202"/>
            <a:chExt cx="2880052" cy="221562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ED2171CA-60E1-4989-7A7C-F0A40C5B00D5}"/>
                </a:ext>
              </a:extLst>
            </p:cNvPr>
            <p:cNvSpPr/>
            <p:nvPr/>
          </p:nvSpPr>
          <p:spPr>
            <a:xfrm>
              <a:off x="515648" y="2430530"/>
              <a:ext cx="2664028" cy="22129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D7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Hybrid architecture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combines the best of on-prem and cloud, enabling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D7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selective usage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and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D7A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real-time adaptability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to evolving business demands.</a:t>
              </a:r>
            </a:p>
          </p:txBody>
        </p:sp>
        <p:sp>
          <p:nvSpPr>
            <p:cNvPr id="7" name="Halber Rahmen 51">
              <a:extLst>
                <a:ext uri="{FF2B5EF4-FFF2-40B4-BE49-F238E27FC236}">
                  <a16:creationId xmlns:a16="http://schemas.microsoft.com/office/drawing/2014/main" id="{A102780F-FEBC-2F7E-99CF-165B6410A720}"/>
                </a:ext>
              </a:extLst>
            </p:cNvPr>
            <p:cNvSpPr/>
            <p:nvPr/>
          </p:nvSpPr>
          <p:spPr>
            <a:xfrm>
              <a:off x="407636" y="2429202"/>
              <a:ext cx="567750" cy="567750"/>
            </a:xfrm>
            <a:prstGeom prst="halfFrame">
              <a:avLst>
                <a:gd name="adj1" fmla="val 20280"/>
                <a:gd name="adj2" fmla="val 19927"/>
              </a:avLst>
            </a:prstGeom>
            <a:solidFill>
              <a:srgbClr val="00D69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Halber Rahmen 52">
              <a:extLst>
                <a:ext uri="{FF2B5EF4-FFF2-40B4-BE49-F238E27FC236}">
                  <a16:creationId xmlns:a16="http://schemas.microsoft.com/office/drawing/2014/main" id="{675C544F-8A63-BC20-2054-E863A7737B62}"/>
                </a:ext>
              </a:extLst>
            </p:cNvPr>
            <p:cNvSpPr/>
            <p:nvPr/>
          </p:nvSpPr>
          <p:spPr>
            <a:xfrm flipH="1" flipV="1">
              <a:off x="2719938" y="4077072"/>
              <a:ext cx="567750" cy="567750"/>
            </a:xfrm>
            <a:prstGeom prst="halfFrame">
              <a:avLst>
                <a:gd name="adj1" fmla="val 20280"/>
                <a:gd name="adj2" fmla="val 19927"/>
              </a:avLst>
            </a:prstGeom>
            <a:solidFill>
              <a:srgbClr val="00D69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7" name="Rechteck 26">
            <a:extLst>
              <a:ext uri="{FF2B5EF4-FFF2-40B4-BE49-F238E27FC236}">
                <a16:creationId xmlns:a16="http://schemas.microsoft.com/office/drawing/2014/main" id="{35DACB2F-340E-706D-2C15-C2E338CC6810}"/>
              </a:ext>
            </a:extLst>
          </p:cNvPr>
          <p:cNvSpPr/>
          <p:nvPr/>
        </p:nvSpPr>
        <p:spPr>
          <a:xfrm>
            <a:off x="8832304" y="1985939"/>
            <a:ext cx="2952000" cy="10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200"/>
              <a:t>Cloud Layer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Enrichment with data from the cloud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Cloud services for intensive data science tasks that require large computing power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370C115-EB66-9237-EE2A-21F647EC7B4F}"/>
              </a:ext>
            </a:extLst>
          </p:cNvPr>
          <p:cNvSpPr/>
          <p:nvPr/>
        </p:nvSpPr>
        <p:spPr>
          <a:xfrm>
            <a:off x="8832304" y="3077939"/>
            <a:ext cx="2952000" cy="10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200"/>
              <a:t>Connectivity Layer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Intelligent proxy server on factory level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Inherits decision rules for decisions on local and cloud data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Only relevant data is uploaded 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772C069-958E-9884-D0BF-9547F3117B36}"/>
              </a:ext>
            </a:extLst>
          </p:cNvPr>
          <p:cNvSpPr/>
          <p:nvPr/>
        </p:nvSpPr>
        <p:spPr>
          <a:xfrm>
            <a:off x="8832304" y="4169939"/>
            <a:ext cx="2952000" cy="105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200"/>
              <a:t>Shopfloor Layer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Management of heterogeneous machines and local data centers</a:t>
            </a: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00"/>
              <a:t>Deletion of specific local data after 2 weeks (e.g., positive tests)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F7FC0DC-35AA-4DA2-878F-366FEF511E02}"/>
              </a:ext>
            </a:extLst>
          </p:cNvPr>
          <p:cNvSpPr/>
          <p:nvPr/>
        </p:nvSpPr>
        <p:spPr>
          <a:xfrm>
            <a:off x="8688288" y="3041939"/>
            <a:ext cx="3492000" cy="36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9CD4FA7-1A1C-007E-3EBF-DA496BB3387D}"/>
              </a:ext>
            </a:extLst>
          </p:cNvPr>
          <p:cNvSpPr/>
          <p:nvPr/>
        </p:nvSpPr>
        <p:spPr>
          <a:xfrm>
            <a:off x="8688288" y="4133939"/>
            <a:ext cx="3492000" cy="36000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482" name="Rechteck 481">
            <a:extLst>
              <a:ext uri="{FF2B5EF4-FFF2-40B4-BE49-F238E27FC236}">
                <a16:creationId xmlns:a16="http://schemas.microsoft.com/office/drawing/2014/main" id="{4A53DFAA-6591-663E-1CF7-D49FCF113DD7}"/>
              </a:ext>
            </a:extLst>
          </p:cNvPr>
          <p:cNvSpPr/>
          <p:nvPr/>
        </p:nvSpPr>
        <p:spPr>
          <a:xfrm>
            <a:off x="4368001" y="3425940"/>
            <a:ext cx="14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800">
                <a:solidFill>
                  <a:schemeClr val="accent2"/>
                </a:solidFill>
              </a:rPr>
              <a:t>Intelligent Proxy Server</a:t>
            </a:r>
          </a:p>
        </p:txBody>
      </p:sp>
      <p:cxnSp>
        <p:nvCxnSpPr>
          <p:cNvPr id="744" name="Verbinder: gewinkelt 743">
            <a:extLst>
              <a:ext uri="{FF2B5EF4-FFF2-40B4-BE49-F238E27FC236}">
                <a16:creationId xmlns:a16="http://schemas.microsoft.com/office/drawing/2014/main" id="{B24BB237-540B-72FC-A67E-A7C0E28E548D}"/>
              </a:ext>
            </a:extLst>
          </p:cNvPr>
          <p:cNvCxnSpPr>
            <a:cxnSpLocks/>
            <a:endCxn id="4" idx="4"/>
          </p:cNvCxnSpPr>
          <p:nvPr/>
        </p:nvCxnSpPr>
        <p:spPr>
          <a:xfrm rot="5400000" flipH="1" flipV="1">
            <a:off x="5320295" y="4021495"/>
            <a:ext cx="903260" cy="648151"/>
          </a:xfrm>
          <a:prstGeom prst="bentConnector3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Verbinder: gewinkelt 762">
            <a:extLst>
              <a:ext uri="{FF2B5EF4-FFF2-40B4-BE49-F238E27FC236}">
                <a16:creationId xmlns:a16="http://schemas.microsoft.com/office/drawing/2014/main" id="{2E34F193-FBF9-DEC0-467F-6F2A10B87045}"/>
              </a:ext>
            </a:extLst>
          </p:cNvPr>
          <p:cNvCxnSpPr>
            <a:cxnSpLocks/>
            <a:endCxn id="4" idx="4"/>
          </p:cNvCxnSpPr>
          <p:nvPr/>
        </p:nvCxnSpPr>
        <p:spPr>
          <a:xfrm rot="16200000" flipV="1">
            <a:off x="5968378" y="4021563"/>
            <a:ext cx="903260" cy="648014"/>
          </a:xfrm>
          <a:prstGeom prst="bentConnector3">
            <a:avLst/>
          </a:prstGeom>
          <a:ln w="9525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6" name="Gruppieren 765">
            <a:extLst>
              <a:ext uri="{FF2B5EF4-FFF2-40B4-BE49-F238E27FC236}">
                <a16:creationId xmlns:a16="http://schemas.microsoft.com/office/drawing/2014/main" id="{AFF1EC93-7DB3-2740-CCE1-4009D1BE06DC}"/>
              </a:ext>
            </a:extLst>
          </p:cNvPr>
          <p:cNvGrpSpPr/>
          <p:nvPr/>
        </p:nvGrpSpPr>
        <p:grpSpPr>
          <a:xfrm>
            <a:off x="7428181" y="4902310"/>
            <a:ext cx="288000" cy="221685"/>
            <a:chOff x="7057263" y="5373264"/>
            <a:chExt cx="345459" cy="432000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62D217F-F9A2-0CAF-5265-4DF0E0794B7E}"/>
                </a:ext>
              </a:extLst>
            </p:cNvPr>
            <p:cNvSpPr/>
            <p:nvPr/>
          </p:nvSpPr>
          <p:spPr>
            <a:xfrm>
              <a:off x="7128387" y="5438744"/>
              <a:ext cx="203211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/>
                <a:t>…</a:t>
              </a:r>
            </a:p>
          </p:txBody>
        </p:sp>
        <p:sp>
          <p:nvSpPr>
            <p:cNvPr id="751" name="Rechteck: abgerundete Ecken 750">
              <a:extLst>
                <a:ext uri="{FF2B5EF4-FFF2-40B4-BE49-F238E27FC236}">
                  <a16:creationId xmlns:a16="http://schemas.microsoft.com/office/drawing/2014/main" id="{EFE2F7C4-281D-A0EE-4622-00DEE8CBED88}"/>
                </a:ext>
              </a:extLst>
            </p:cNvPr>
            <p:cNvSpPr>
              <a:spLocks/>
            </p:cNvSpPr>
            <p:nvPr/>
          </p:nvSpPr>
          <p:spPr>
            <a:xfrm>
              <a:off x="7057263" y="5373264"/>
              <a:ext cx="345459" cy="43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108000" tIns="0" rIns="108000" bIns="108000" rtlCol="0" anchor="ctr" anchorCtr="0">
              <a:noAutofit/>
            </a:bodyPr>
            <a:lstStyle/>
            <a:p>
              <a:pPr algn="ctr"/>
              <a:endParaRPr lang="en-US" sz="1000" b="1" kern="0">
                <a:solidFill>
                  <a:prstClr val="white"/>
                </a:solidFill>
                <a:latin typeface="Arial"/>
              </a:endParaRPr>
            </a:p>
          </p:txBody>
        </p:sp>
      </p:grpSp>
      <p:pic>
        <p:nvPicPr>
          <p:cNvPr id="15" name="Grafik 14" descr="Drahtlosrouter Silhouette">
            <a:extLst>
              <a:ext uri="{FF2B5EF4-FFF2-40B4-BE49-F238E27FC236}">
                <a16:creationId xmlns:a16="http://schemas.microsoft.com/office/drawing/2014/main" id="{DF3EDE98-51DE-7460-3492-B5C1EA967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5850" y="4865940"/>
            <a:ext cx="360000" cy="360000"/>
          </a:xfrm>
          <a:prstGeom prst="rect">
            <a:avLst/>
          </a:prstGeom>
        </p:spPr>
      </p:pic>
      <p:pic>
        <p:nvPicPr>
          <p:cNvPr id="12" name="Grafik 11" descr="Roboterhand mit einfarbiger Füllung">
            <a:extLst>
              <a:ext uri="{FF2B5EF4-FFF2-40B4-BE49-F238E27FC236}">
                <a16:creationId xmlns:a16="http://schemas.microsoft.com/office/drawing/2014/main" id="{663F3AEB-1FF4-D9EE-85DE-C53DCD8F4B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7938" y="4865940"/>
            <a:ext cx="360000" cy="360000"/>
          </a:xfrm>
          <a:prstGeom prst="rect">
            <a:avLst/>
          </a:prstGeom>
        </p:spPr>
      </p:pic>
      <p:pic>
        <p:nvPicPr>
          <p:cNvPr id="21" name="Grafik 20" descr="Wireless router">
            <a:extLst>
              <a:ext uri="{FF2B5EF4-FFF2-40B4-BE49-F238E27FC236}">
                <a16:creationId xmlns:a16="http://schemas.microsoft.com/office/drawing/2014/main" id="{C3207ED8-D84A-D6FE-D645-B98DB17D6F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99986" y="4865940"/>
            <a:ext cx="360000" cy="360000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46468FF-6216-086C-E390-E2743E1D9385}"/>
              </a:ext>
            </a:extLst>
          </p:cNvPr>
          <p:cNvSpPr>
            <a:spLocks/>
          </p:cNvSpPr>
          <p:nvPr/>
        </p:nvSpPr>
        <p:spPr>
          <a:xfrm>
            <a:off x="4835850" y="4797200"/>
            <a:ext cx="1224000" cy="43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lIns="108000" tIns="72000" rIns="108000" bIns="72000" rtlCol="0" anchor="ctr" anchorCtr="0">
            <a:noAutofit/>
          </a:bodyPr>
          <a:lstStyle/>
          <a:p>
            <a:pPr algn="ctr"/>
            <a:endParaRPr lang="en-US" sz="1200" b="1" kern="0">
              <a:solidFill>
                <a:prstClr val="white"/>
              </a:solidFill>
              <a:latin typeface="Arial"/>
            </a:endParaRPr>
          </a:p>
        </p:txBody>
      </p:sp>
      <p:pic>
        <p:nvPicPr>
          <p:cNvPr id="757" name="Grafik 756" descr="Drahtlosrouter Silhouette">
            <a:extLst>
              <a:ext uri="{FF2B5EF4-FFF2-40B4-BE49-F238E27FC236}">
                <a16:creationId xmlns:a16="http://schemas.microsoft.com/office/drawing/2014/main" id="{A4B64335-DEFC-058D-38DF-0DC897469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2015" y="4865940"/>
            <a:ext cx="360000" cy="360000"/>
          </a:xfrm>
          <a:prstGeom prst="rect">
            <a:avLst/>
          </a:prstGeom>
        </p:spPr>
      </p:pic>
      <p:pic>
        <p:nvPicPr>
          <p:cNvPr id="758" name="Grafik 757" descr="Roboterhand mit einfarbiger Füllung">
            <a:extLst>
              <a:ext uri="{FF2B5EF4-FFF2-40B4-BE49-F238E27FC236}">
                <a16:creationId xmlns:a16="http://schemas.microsoft.com/office/drawing/2014/main" id="{C0953A38-7E98-2E61-8AD1-71408DE40D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4103" y="4865940"/>
            <a:ext cx="360000" cy="360000"/>
          </a:xfrm>
          <a:prstGeom prst="rect">
            <a:avLst/>
          </a:prstGeom>
        </p:spPr>
      </p:pic>
      <p:pic>
        <p:nvPicPr>
          <p:cNvPr id="761" name="Grafik 760" descr="Drahtlosrouter Silhouette">
            <a:extLst>
              <a:ext uri="{FF2B5EF4-FFF2-40B4-BE49-F238E27FC236}">
                <a16:creationId xmlns:a16="http://schemas.microsoft.com/office/drawing/2014/main" id="{A829C4A7-D659-13B2-2BE8-5C999BFF9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6151" y="4865940"/>
            <a:ext cx="360000" cy="360000"/>
          </a:xfrm>
          <a:prstGeom prst="rect">
            <a:avLst/>
          </a:prstGeom>
        </p:spPr>
      </p:pic>
      <p:sp>
        <p:nvSpPr>
          <p:cNvPr id="760" name="Rechteck: abgerundete Ecken 759">
            <a:extLst>
              <a:ext uri="{FF2B5EF4-FFF2-40B4-BE49-F238E27FC236}">
                <a16:creationId xmlns:a16="http://schemas.microsoft.com/office/drawing/2014/main" id="{BA048941-D897-6A9D-C856-87CC8BED8C0A}"/>
              </a:ext>
            </a:extLst>
          </p:cNvPr>
          <p:cNvSpPr>
            <a:spLocks/>
          </p:cNvSpPr>
          <p:nvPr/>
        </p:nvSpPr>
        <p:spPr>
          <a:xfrm>
            <a:off x="6132015" y="4797200"/>
            <a:ext cx="1224000" cy="43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lIns="108000" tIns="72000" rIns="108000" bIns="72000" rtlCol="0" anchor="ctr" anchorCtr="0">
            <a:noAutofit/>
          </a:bodyPr>
          <a:lstStyle/>
          <a:p>
            <a:pPr algn="ctr"/>
            <a:endParaRPr lang="en-US" sz="1200" b="1" kern="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767" name="Gruppieren 766">
            <a:extLst>
              <a:ext uri="{FF2B5EF4-FFF2-40B4-BE49-F238E27FC236}">
                <a16:creationId xmlns:a16="http://schemas.microsoft.com/office/drawing/2014/main" id="{EFD79E73-CACE-394F-772D-734751295679}"/>
              </a:ext>
            </a:extLst>
          </p:cNvPr>
          <p:cNvGrpSpPr/>
          <p:nvPr/>
        </p:nvGrpSpPr>
        <p:grpSpPr>
          <a:xfrm>
            <a:off x="4475821" y="4902310"/>
            <a:ext cx="288000" cy="221685"/>
            <a:chOff x="7057263" y="5373264"/>
            <a:chExt cx="345459" cy="432000"/>
          </a:xfrm>
        </p:grpSpPr>
        <p:sp>
          <p:nvSpPr>
            <p:cNvPr id="320" name="Rechteck 319">
              <a:extLst>
                <a:ext uri="{FF2B5EF4-FFF2-40B4-BE49-F238E27FC236}">
                  <a16:creationId xmlns:a16="http://schemas.microsoft.com/office/drawing/2014/main" id="{235B55BC-81FF-3F80-7470-020E2F4014EA}"/>
                </a:ext>
              </a:extLst>
            </p:cNvPr>
            <p:cNvSpPr/>
            <p:nvPr/>
          </p:nvSpPr>
          <p:spPr>
            <a:xfrm>
              <a:off x="7128387" y="5438744"/>
              <a:ext cx="203211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/>
                <a:t>…</a:t>
              </a:r>
            </a:p>
          </p:txBody>
        </p:sp>
        <p:sp>
          <p:nvSpPr>
            <p:cNvPr id="321" name="Rechteck: abgerundete Ecken 320">
              <a:extLst>
                <a:ext uri="{FF2B5EF4-FFF2-40B4-BE49-F238E27FC236}">
                  <a16:creationId xmlns:a16="http://schemas.microsoft.com/office/drawing/2014/main" id="{81243580-3A41-40DD-37EE-F38250FADB0D}"/>
                </a:ext>
              </a:extLst>
            </p:cNvPr>
            <p:cNvSpPr>
              <a:spLocks/>
            </p:cNvSpPr>
            <p:nvPr/>
          </p:nvSpPr>
          <p:spPr>
            <a:xfrm>
              <a:off x="7057263" y="5373264"/>
              <a:ext cx="345459" cy="43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108000" tIns="0" rIns="108000" bIns="108000" rtlCol="0" anchor="ctr" anchorCtr="0">
              <a:noAutofit/>
            </a:bodyPr>
            <a:lstStyle/>
            <a:p>
              <a:pPr algn="ctr"/>
              <a:endParaRPr lang="en-US" sz="1000" b="1" kern="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327" name="Freeform 6">
            <a:extLst>
              <a:ext uri="{FF2B5EF4-FFF2-40B4-BE49-F238E27FC236}">
                <a16:creationId xmlns:a16="http://schemas.microsoft.com/office/drawing/2014/main" id="{EE68F93F-66E0-4E1C-7567-CE30395375AA}"/>
              </a:ext>
            </a:extLst>
          </p:cNvPr>
          <p:cNvSpPr>
            <a:spLocks noEditPoints="1"/>
          </p:cNvSpPr>
          <p:nvPr/>
        </p:nvSpPr>
        <p:spPr bwMode="auto">
          <a:xfrm>
            <a:off x="4446697" y="2176572"/>
            <a:ext cx="705928" cy="607110"/>
          </a:xfrm>
          <a:custGeom>
            <a:avLst/>
            <a:gdLst>
              <a:gd name="T0" fmla="*/ 3778 w 6560"/>
              <a:gd name="T1" fmla="*/ 453 h 4092"/>
              <a:gd name="T2" fmla="*/ 3394 w 6560"/>
              <a:gd name="T3" fmla="*/ 638 h 4092"/>
              <a:gd name="T4" fmla="*/ 3092 w 6560"/>
              <a:gd name="T5" fmla="*/ 946 h 4092"/>
              <a:gd name="T6" fmla="*/ 2549 w 6560"/>
              <a:gd name="T7" fmla="*/ 1234 h 4092"/>
              <a:gd name="T8" fmla="*/ 2276 w 6560"/>
              <a:gd name="T9" fmla="*/ 1249 h 4092"/>
              <a:gd name="T10" fmla="*/ 1952 w 6560"/>
              <a:gd name="T11" fmla="*/ 1406 h 4092"/>
              <a:gd name="T12" fmla="*/ 1727 w 6560"/>
              <a:gd name="T13" fmla="*/ 1692 h 4092"/>
              <a:gd name="T14" fmla="*/ 1218 w 6560"/>
              <a:gd name="T15" fmla="*/ 2046 h 4092"/>
              <a:gd name="T16" fmla="*/ 838 w 6560"/>
              <a:gd name="T17" fmla="*/ 2145 h 4092"/>
              <a:gd name="T18" fmla="*/ 555 w 6560"/>
              <a:gd name="T19" fmla="*/ 2402 h 4092"/>
              <a:gd name="T20" fmla="*/ 416 w 6560"/>
              <a:gd name="T21" fmla="*/ 2763 h 4092"/>
              <a:gd name="T22" fmla="*/ 458 w 6560"/>
              <a:gd name="T23" fmla="*/ 3141 h 4092"/>
              <a:gd name="T24" fmla="*/ 651 w 6560"/>
              <a:gd name="T25" fmla="*/ 3442 h 4092"/>
              <a:gd name="T26" fmla="*/ 953 w 6560"/>
              <a:gd name="T27" fmla="*/ 3635 h 4092"/>
              <a:gd name="T28" fmla="*/ 5330 w 6560"/>
              <a:gd name="T29" fmla="*/ 3683 h 4092"/>
              <a:gd name="T30" fmla="*/ 5691 w 6560"/>
              <a:gd name="T31" fmla="*/ 3599 h 4092"/>
              <a:gd name="T32" fmla="*/ 5969 w 6560"/>
              <a:gd name="T33" fmla="*/ 3377 h 4092"/>
              <a:gd name="T34" fmla="*/ 6128 w 6560"/>
              <a:gd name="T35" fmla="*/ 3053 h 4092"/>
              <a:gd name="T36" fmla="*/ 6128 w 6560"/>
              <a:gd name="T37" fmla="*/ 2682 h 4092"/>
              <a:gd name="T38" fmla="*/ 5971 w 6560"/>
              <a:gd name="T39" fmla="*/ 2358 h 4092"/>
              <a:gd name="T40" fmla="*/ 5685 w 6560"/>
              <a:gd name="T41" fmla="*/ 2131 h 4092"/>
              <a:gd name="T42" fmla="*/ 5330 w 6560"/>
              <a:gd name="T43" fmla="*/ 1621 h 4092"/>
              <a:gd name="T44" fmla="*/ 5229 w 6560"/>
              <a:gd name="T45" fmla="*/ 1150 h 4092"/>
              <a:gd name="T46" fmla="*/ 4964 w 6560"/>
              <a:gd name="T47" fmla="*/ 765 h 4092"/>
              <a:gd name="T48" fmla="*/ 4574 w 6560"/>
              <a:gd name="T49" fmla="*/ 505 h 4092"/>
              <a:gd name="T50" fmla="*/ 4099 w 6560"/>
              <a:gd name="T51" fmla="*/ 409 h 4092"/>
              <a:gd name="T52" fmla="*/ 4515 w 6560"/>
              <a:gd name="T53" fmla="*/ 52 h 4092"/>
              <a:gd name="T54" fmla="*/ 5002 w 6560"/>
              <a:gd name="T55" fmla="*/ 270 h 4092"/>
              <a:gd name="T56" fmla="*/ 5392 w 6560"/>
              <a:gd name="T57" fmla="*/ 628 h 4092"/>
              <a:gd name="T58" fmla="*/ 5647 w 6560"/>
              <a:gd name="T59" fmla="*/ 1095 h 4092"/>
              <a:gd name="T60" fmla="*/ 5740 w 6560"/>
              <a:gd name="T61" fmla="*/ 1637 h 4092"/>
              <a:gd name="T62" fmla="*/ 5943 w 6560"/>
              <a:gd name="T63" fmla="*/ 1806 h 4092"/>
              <a:gd name="T64" fmla="*/ 6291 w 6560"/>
              <a:gd name="T65" fmla="*/ 2104 h 4092"/>
              <a:gd name="T66" fmla="*/ 6506 w 6560"/>
              <a:gd name="T67" fmla="*/ 2509 h 4092"/>
              <a:gd name="T68" fmla="*/ 6554 w 6560"/>
              <a:gd name="T69" fmla="*/ 2990 h 4092"/>
              <a:gd name="T70" fmla="*/ 6411 w 6560"/>
              <a:gd name="T71" fmla="*/ 3450 h 4092"/>
              <a:gd name="T72" fmla="*/ 6112 w 6560"/>
              <a:gd name="T73" fmla="*/ 3812 h 4092"/>
              <a:gd name="T74" fmla="*/ 5695 w 6560"/>
              <a:gd name="T75" fmla="*/ 4036 h 4092"/>
              <a:gd name="T76" fmla="*/ 1230 w 6560"/>
              <a:gd name="T77" fmla="*/ 4092 h 4092"/>
              <a:gd name="T78" fmla="*/ 752 w 6560"/>
              <a:gd name="T79" fmla="*/ 3997 h 4092"/>
              <a:gd name="T80" fmla="*/ 360 w 6560"/>
              <a:gd name="T81" fmla="*/ 3732 h 4092"/>
              <a:gd name="T82" fmla="*/ 97 w 6560"/>
              <a:gd name="T83" fmla="*/ 3343 h 4092"/>
              <a:gd name="T84" fmla="*/ 0 w 6560"/>
              <a:gd name="T85" fmla="*/ 2864 h 4092"/>
              <a:gd name="T86" fmla="*/ 97 w 6560"/>
              <a:gd name="T87" fmla="*/ 2388 h 4092"/>
              <a:gd name="T88" fmla="*/ 360 w 6560"/>
              <a:gd name="T89" fmla="*/ 1996 h 4092"/>
              <a:gd name="T90" fmla="*/ 752 w 6560"/>
              <a:gd name="T91" fmla="*/ 1734 h 4092"/>
              <a:gd name="T92" fmla="*/ 1230 w 6560"/>
              <a:gd name="T93" fmla="*/ 1637 h 4092"/>
              <a:gd name="T94" fmla="*/ 1401 w 6560"/>
              <a:gd name="T95" fmla="*/ 1432 h 4092"/>
              <a:gd name="T96" fmla="*/ 1697 w 6560"/>
              <a:gd name="T97" fmla="*/ 1087 h 4092"/>
              <a:gd name="T98" fmla="*/ 2103 w 6560"/>
              <a:gd name="T99" fmla="*/ 870 h 4092"/>
              <a:gd name="T100" fmla="*/ 2533 w 6560"/>
              <a:gd name="T101" fmla="*/ 820 h 4092"/>
              <a:gd name="T102" fmla="*/ 2821 w 6560"/>
              <a:gd name="T103" fmla="*/ 622 h 4092"/>
              <a:gd name="T104" fmla="*/ 3207 w 6560"/>
              <a:gd name="T105" fmla="*/ 268 h 4092"/>
              <a:gd name="T106" fmla="*/ 3691 w 6560"/>
              <a:gd name="T107" fmla="*/ 52 h 4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560" h="4092">
                <a:moveTo>
                  <a:pt x="4099" y="409"/>
                </a:moveTo>
                <a:lnTo>
                  <a:pt x="3991" y="413"/>
                </a:lnTo>
                <a:lnTo>
                  <a:pt x="3884" y="429"/>
                </a:lnTo>
                <a:lnTo>
                  <a:pt x="3778" y="453"/>
                </a:lnTo>
                <a:lnTo>
                  <a:pt x="3677" y="487"/>
                </a:lnTo>
                <a:lnTo>
                  <a:pt x="3579" y="528"/>
                </a:lnTo>
                <a:lnTo>
                  <a:pt x="3484" y="578"/>
                </a:lnTo>
                <a:lnTo>
                  <a:pt x="3394" y="638"/>
                </a:lnTo>
                <a:lnTo>
                  <a:pt x="3309" y="703"/>
                </a:lnTo>
                <a:lnTo>
                  <a:pt x="3231" y="777"/>
                </a:lnTo>
                <a:lnTo>
                  <a:pt x="3158" y="858"/>
                </a:lnTo>
                <a:lnTo>
                  <a:pt x="3092" y="946"/>
                </a:lnTo>
                <a:lnTo>
                  <a:pt x="3032" y="1041"/>
                </a:lnTo>
                <a:lnTo>
                  <a:pt x="2891" y="1295"/>
                </a:lnTo>
                <a:lnTo>
                  <a:pt x="2603" y="1243"/>
                </a:lnTo>
                <a:lnTo>
                  <a:pt x="2549" y="1234"/>
                </a:lnTo>
                <a:lnTo>
                  <a:pt x="2501" y="1230"/>
                </a:lnTo>
                <a:lnTo>
                  <a:pt x="2459" y="1228"/>
                </a:lnTo>
                <a:lnTo>
                  <a:pt x="2368" y="1234"/>
                </a:lnTo>
                <a:lnTo>
                  <a:pt x="2276" y="1249"/>
                </a:lnTo>
                <a:lnTo>
                  <a:pt x="2189" y="1275"/>
                </a:lnTo>
                <a:lnTo>
                  <a:pt x="2105" y="1309"/>
                </a:lnTo>
                <a:lnTo>
                  <a:pt x="2026" y="1355"/>
                </a:lnTo>
                <a:lnTo>
                  <a:pt x="1952" y="1406"/>
                </a:lnTo>
                <a:lnTo>
                  <a:pt x="1886" y="1468"/>
                </a:lnTo>
                <a:lnTo>
                  <a:pt x="1825" y="1535"/>
                </a:lnTo>
                <a:lnTo>
                  <a:pt x="1771" y="1611"/>
                </a:lnTo>
                <a:lnTo>
                  <a:pt x="1727" y="1692"/>
                </a:lnTo>
                <a:lnTo>
                  <a:pt x="1691" y="1780"/>
                </a:lnTo>
                <a:lnTo>
                  <a:pt x="1588" y="2072"/>
                </a:lnTo>
                <a:lnTo>
                  <a:pt x="1275" y="2052"/>
                </a:lnTo>
                <a:lnTo>
                  <a:pt x="1218" y="2046"/>
                </a:lnTo>
                <a:lnTo>
                  <a:pt x="1116" y="2054"/>
                </a:lnTo>
                <a:lnTo>
                  <a:pt x="1019" y="2074"/>
                </a:lnTo>
                <a:lnTo>
                  <a:pt x="925" y="2106"/>
                </a:lnTo>
                <a:lnTo>
                  <a:pt x="838" y="2145"/>
                </a:lnTo>
                <a:lnTo>
                  <a:pt x="756" y="2197"/>
                </a:lnTo>
                <a:lnTo>
                  <a:pt x="680" y="2257"/>
                </a:lnTo>
                <a:lnTo>
                  <a:pt x="613" y="2326"/>
                </a:lnTo>
                <a:lnTo>
                  <a:pt x="555" y="2402"/>
                </a:lnTo>
                <a:lnTo>
                  <a:pt x="505" y="2483"/>
                </a:lnTo>
                <a:lnTo>
                  <a:pt x="464" y="2572"/>
                </a:lnTo>
                <a:lnTo>
                  <a:pt x="434" y="2666"/>
                </a:lnTo>
                <a:lnTo>
                  <a:pt x="416" y="2763"/>
                </a:lnTo>
                <a:lnTo>
                  <a:pt x="410" y="2864"/>
                </a:lnTo>
                <a:lnTo>
                  <a:pt x="416" y="2960"/>
                </a:lnTo>
                <a:lnTo>
                  <a:pt x="432" y="3053"/>
                </a:lnTo>
                <a:lnTo>
                  <a:pt x="458" y="3141"/>
                </a:lnTo>
                <a:lnTo>
                  <a:pt x="493" y="3224"/>
                </a:lnTo>
                <a:lnTo>
                  <a:pt x="537" y="3303"/>
                </a:lnTo>
                <a:lnTo>
                  <a:pt x="591" y="3377"/>
                </a:lnTo>
                <a:lnTo>
                  <a:pt x="651" y="3442"/>
                </a:lnTo>
                <a:lnTo>
                  <a:pt x="718" y="3504"/>
                </a:lnTo>
                <a:lnTo>
                  <a:pt x="790" y="3556"/>
                </a:lnTo>
                <a:lnTo>
                  <a:pt x="869" y="3599"/>
                </a:lnTo>
                <a:lnTo>
                  <a:pt x="953" y="3635"/>
                </a:lnTo>
                <a:lnTo>
                  <a:pt x="1043" y="3661"/>
                </a:lnTo>
                <a:lnTo>
                  <a:pt x="1134" y="3677"/>
                </a:lnTo>
                <a:lnTo>
                  <a:pt x="1230" y="3683"/>
                </a:lnTo>
                <a:lnTo>
                  <a:pt x="5330" y="3683"/>
                </a:lnTo>
                <a:lnTo>
                  <a:pt x="5426" y="3677"/>
                </a:lnTo>
                <a:lnTo>
                  <a:pt x="5517" y="3661"/>
                </a:lnTo>
                <a:lnTo>
                  <a:pt x="5607" y="3635"/>
                </a:lnTo>
                <a:lnTo>
                  <a:pt x="5691" y="3599"/>
                </a:lnTo>
                <a:lnTo>
                  <a:pt x="5768" y="3556"/>
                </a:lnTo>
                <a:lnTo>
                  <a:pt x="5842" y="3504"/>
                </a:lnTo>
                <a:lnTo>
                  <a:pt x="5909" y="3442"/>
                </a:lnTo>
                <a:lnTo>
                  <a:pt x="5969" y="3377"/>
                </a:lnTo>
                <a:lnTo>
                  <a:pt x="6023" y="3303"/>
                </a:lnTo>
                <a:lnTo>
                  <a:pt x="6067" y="3224"/>
                </a:lnTo>
                <a:lnTo>
                  <a:pt x="6102" y="3141"/>
                </a:lnTo>
                <a:lnTo>
                  <a:pt x="6128" y="3053"/>
                </a:lnTo>
                <a:lnTo>
                  <a:pt x="6144" y="2960"/>
                </a:lnTo>
                <a:lnTo>
                  <a:pt x="6150" y="2864"/>
                </a:lnTo>
                <a:lnTo>
                  <a:pt x="6144" y="2771"/>
                </a:lnTo>
                <a:lnTo>
                  <a:pt x="6128" y="2682"/>
                </a:lnTo>
                <a:lnTo>
                  <a:pt x="6102" y="2594"/>
                </a:lnTo>
                <a:lnTo>
                  <a:pt x="6067" y="2511"/>
                </a:lnTo>
                <a:lnTo>
                  <a:pt x="6023" y="2431"/>
                </a:lnTo>
                <a:lnTo>
                  <a:pt x="5971" y="2358"/>
                </a:lnTo>
                <a:lnTo>
                  <a:pt x="5909" y="2290"/>
                </a:lnTo>
                <a:lnTo>
                  <a:pt x="5842" y="2231"/>
                </a:lnTo>
                <a:lnTo>
                  <a:pt x="5766" y="2177"/>
                </a:lnTo>
                <a:lnTo>
                  <a:pt x="5685" y="2131"/>
                </a:lnTo>
                <a:lnTo>
                  <a:pt x="5597" y="2096"/>
                </a:lnTo>
                <a:lnTo>
                  <a:pt x="5312" y="1996"/>
                </a:lnTo>
                <a:lnTo>
                  <a:pt x="5322" y="1696"/>
                </a:lnTo>
                <a:lnTo>
                  <a:pt x="5330" y="1621"/>
                </a:lnTo>
                <a:lnTo>
                  <a:pt x="5322" y="1498"/>
                </a:lnTo>
                <a:lnTo>
                  <a:pt x="5303" y="1377"/>
                </a:lnTo>
                <a:lnTo>
                  <a:pt x="5271" y="1261"/>
                </a:lnTo>
                <a:lnTo>
                  <a:pt x="5229" y="1150"/>
                </a:lnTo>
                <a:lnTo>
                  <a:pt x="5177" y="1043"/>
                </a:lnTo>
                <a:lnTo>
                  <a:pt x="5116" y="944"/>
                </a:lnTo>
                <a:lnTo>
                  <a:pt x="5044" y="850"/>
                </a:lnTo>
                <a:lnTo>
                  <a:pt x="4964" y="765"/>
                </a:lnTo>
                <a:lnTo>
                  <a:pt x="4877" y="685"/>
                </a:lnTo>
                <a:lnTo>
                  <a:pt x="4783" y="616"/>
                </a:lnTo>
                <a:lnTo>
                  <a:pt x="4682" y="554"/>
                </a:lnTo>
                <a:lnTo>
                  <a:pt x="4574" y="505"/>
                </a:lnTo>
                <a:lnTo>
                  <a:pt x="4463" y="463"/>
                </a:lnTo>
                <a:lnTo>
                  <a:pt x="4345" y="433"/>
                </a:lnTo>
                <a:lnTo>
                  <a:pt x="4224" y="415"/>
                </a:lnTo>
                <a:lnTo>
                  <a:pt x="4099" y="409"/>
                </a:lnTo>
                <a:close/>
                <a:moveTo>
                  <a:pt x="4099" y="0"/>
                </a:moveTo>
                <a:lnTo>
                  <a:pt x="4242" y="6"/>
                </a:lnTo>
                <a:lnTo>
                  <a:pt x="4379" y="24"/>
                </a:lnTo>
                <a:lnTo>
                  <a:pt x="4515" y="52"/>
                </a:lnTo>
                <a:lnTo>
                  <a:pt x="4644" y="91"/>
                </a:lnTo>
                <a:lnTo>
                  <a:pt x="4769" y="141"/>
                </a:lnTo>
                <a:lnTo>
                  <a:pt x="4889" y="201"/>
                </a:lnTo>
                <a:lnTo>
                  <a:pt x="5002" y="270"/>
                </a:lnTo>
                <a:lnTo>
                  <a:pt x="5110" y="348"/>
                </a:lnTo>
                <a:lnTo>
                  <a:pt x="5211" y="433"/>
                </a:lnTo>
                <a:lnTo>
                  <a:pt x="5305" y="526"/>
                </a:lnTo>
                <a:lnTo>
                  <a:pt x="5392" y="628"/>
                </a:lnTo>
                <a:lnTo>
                  <a:pt x="5470" y="735"/>
                </a:lnTo>
                <a:lnTo>
                  <a:pt x="5537" y="848"/>
                </a:lnTo>
                <a:lnTo>
                  <a:pt x="5597" y="969"/>
                </a:lnTo>
                <a:lnTo>
                  <a:pt x="5647" y="1095"/>
                </a:lnTo>
                <a:lnTo>
                  <a:pt x="5687" y="1224"/>
                </a:lnTo>
                <a:lnTo>
                  <a:pt x="5716" y="1357"/>
                </a:lnTo>
                <a:lnTo>
                  <a:pt x="5734" y="1496"/>
                </a:lnTo>
                <a:lnTo>
                  <a:pt x="5740" y="1637"/>
                </a:lnTo>
                <a:lnTo>
                  <a:pt x="5736" y="1673"/>
                </a:lnTo>
                <a:lnTo>
                  <a:pt x="5732" y="1710"/>
                </a:lnTo>
                <a:lnTo>
                  <a:pt x="5842" y="1752"/>
                </a:lnTo>
                <a:lnTo>
                  <a:pt x="5943" y="1806"/>
                </a:lnTo>
                <a:lnTo>
                  <a:pt x="6041" y="1867"/>
                </a:lnTo>
                <a:lnTo>
                  <a:pt x="6132" y="1939"/>
                </a:lnTo>
                <a:lnTo>
                  <a:pt x="6216" y="2016"/>
                </a:lnTo>
                <a:lnTo>
                  <a:pt x="6291" y="2104"/>
                </a:lnTo>
                <a:lnTo>
                  <a:pt x="6359" y="2195"/>
                </a:lnTo>
                <a:lnTo>
                  <a:pt x="6419" y="2294"/>
                </a:lnTo>
                <a:lnTo>
                  <a:pt x="6467" y="2400"/>
                </a:lnTo>
                <a:lnTo>
                  <a:pt x="6506" y="2509"/>
                </a:lnTo>
                <a:lnTo>
                  <a:pt x="6536" y="2624"/>
                </a:lnTo>
                <a:lnTo>
                  <a:pt x="6554" y="2743"/>
                </a:lnTo>
                <a:lnTo>
                  <a:pt x="6560" y="2864"/>
                </a:lnTo>
                <a:lnTo>
                  <a:pt x="6554" y="2990"/>
                </a:lnTo>
                <a:lnTo>
                  <a:pt x="6534" y="3113"/>
                </a:lnTo>
                <a:lnTo>
                  <a:pt x="6504" y="3230"/>
                </a:lnTo>
                <a:lnTo>
                  <a:pt x="6463" y="3343"/>
                </a:lnTo>
                <a:lnTo>
                  <a:pt x="6411" y="3450"/>
                </a:lnTo>
                <a:lnTo>
                  <a:pt x="6349" y="3552"/>
                </a:lnTo>
                <a:lnTo>
                  <a:pt x="6279" y="3645"/>
                </a:lnTo>
                <a:lnTo>
                  <a:pt x="6200" y="3732"/>
                </a:lnTo>
                <a:lnTo>
                  <a:pt x="6112" y="3812"/>
                </a:lnTo>
                <a:lnTo>
                  <a:pt x="6017" y="3883"/>
                </a:lnTo>
                <a:lnTo>
                  <a:pt x="5915" y="3945"/>
                </a:lnTo>
                <a:lnTo>
                  <a:pt x="5808" y="3997"/>
                </a:lnTo>
                <a:lnTo>
                  <a:pt x="5695" y="4036"/>
                </a:lnTo>
                <a:lnTo>
                  <a:pt x="5577" y="4068"/>
                </a:lnTo>
                <a:lnTo>
                  <a:pt x="5456" y="4086"/>
                </a:lnTo>
                <a:lnTo>
                  <a:pt x="5330" y="4092"/>
                </a:lnTo>
                <a:lnTo>
                  <a:pt x="1230" y="4092"/>
                </a:lnTo>
                <a:lnTo>
                  <a:pt x="1104" y="4086"/>
                </a:lnTo>
                <a:lnTo>
                  <a:pt x="983" y="4068"/>
                </a:lnTo>
                <a:lnTo>
                  <a:pt x="864" y="4036"/>
                </a:lnTo>
                <a:lnTo>
                  <a:pt x="752" y="3997"/>
                </a:lnTo>
                <a:lnTo>
                  <a:pt x="645" y="3945"/>
                </a:lnTo>
                <a:lnTo>
                  <a:pt x="543" y="3883"/>
                </a:lnTo>
                <a:lnTo>
                  <a:pt x="448" y="3812"/>
                </a:lnTo>
                <a:lnTo>
                  <a:pt x="360" y="3732"/>
                </a:lnTo>
                <a:lnTo>
                  <a:pt x="281" y="3645"/>
                </a:lnTo>
                <a:lnTo>
                  <a:pt x="211" y="3552"/>
                </a:lnTo>
                <a:lnTo>
                  <a:pt x="149" y="3450"/>
                </a:lnTo>
                <a:lnTo>
                  <a:pt x="97" y="3343"/>
                </a:lnTo>
                <a:lnTo>
                  <a:pt x="56" y="3230"/>
                </a:lnTo>
                <a:lnTo>
                  <a:pt x="26" y="3113"/>
                </a:lnTo>
                <a:lnTo>
                  <a:pt x="6" y="2990"/>
                </a:lnTo>
                <a:lnTo>
                  <a:pt x="0" y="2864"/>
                </a:lnTo>
                <a:lnTo>
                  <a:pt x="6" y="2739"/>
                </a:lnTo>
                <a:lnTo>
                  <a:pt x="26" y="2618"/>
                </a:lnTo>
                <a:lnTo>
                  <a:pt x="56" y="2499"/>
                </a:lnTo>
                <a:lnTo>
                  <a:pt x="97" y="2388"/>
                </a:lnTo>
                <a:lnTo>
                  <a:pt x="149" y="2280"/>
                </a:lnTo>
                <a:lnTo>
                  <a:pt x="211" y="2179"/>
                </a:lnTo>
                <a:lnTo>
                  <a:pt x="281" y="2084"/>
                </a:lnTo>
                <a:lnTo>
                  <a:pt x="360" y="1996"/>
                </a:lnTo>
                <a:lnTo>
                  <a:pt x="448" y="1917"/>
                </a:lnTo>
                <a:lnTo>
                  <a:pt x="543" y="1847"/>
                </a:lnTo>
                <a:lnTo>
                  <a:pt x="645" y="1786"/>
                </a:lnTo>
                <a:lnTo>
                  <a:pt x="752" y="1734"/>
                </a:lnTo>
                <a:lnTo>
                  <a:pt x="864" y="1692"/>
                </a:lnTo>
                <a:lnTo>
                  <a:pt x="983" y="1661"/>
                </a:lnTo>
                <a:lnTo>
                  <a:pt x="1104" y="1643"/>
                </a:lnTo>
                <a:lnTo>
                  <a:pt x="1230" y="1637"/>
                </a:lnTo>
                <a:lnTo>
                  <a:pt x="1267" y="1639"/>
                </a:lnTo>
                <a:lnTo>
                  <a:pt x="1303" y="1645"/>
                </a:lnTo>
                <a:lnTo>
                  <a:pt x="1347" y="1535"/>
                </a:lnTo>
                <a:lnTo>
                  <a:pt x="1401" y="1432"/>
                </a:lnTo>
                <a:lnTo>
                  <a:pt x="1462" y="1335"/>
                </a:lnTo>
                <a:lnTo>
                  <a:pt x="1532" y="1245"/>
                </a:lnTo>
                <a:lnTo>
                  <a:pt x="1612" y="1162"/>
                </a:lnTo>
                <a:lnTo>
                  <a:pt x="1697" y="1087"/>
                </a:lnTo>
                <a:lnTo>
                  <a:pt x="1791" y="1019"/>
                </a:lnTo>
                <a:lnTo>
                  <a:pt x="1888" y="959"/>
                </a:lnTo>
                <a:lnTo>
                  <a:pt x="1994" y="910"/>
                </a:lnTo>
                <a:lnTo>
                  <a:pt x="2103" y="870"/>
                </a:lnTo>
                <a:lnTo>
                  <a:pt x="2219" y="842"/>
                </a:lnTo>
                <a:lnTo>
                  <a:pt x="2338" y="824"/>
                </a:lnTo>
                <a:lnTo>
                  <a:pt x="2459" y="818"/>
                </a:lnTo>
                <a:lnTo>
                  <a:pt x="2533" y="820"/>
                </a:lnTo>
                <a:lnTo>
                  <a:pt x="2605" y="828"/>
                </a:lnTo>
                <a:lnTo>
                  <a:pt x="2676" y="840"/>
                </a:lnTo>
                <a:lnTo>
                  <a:pt x="2746" y="727"/>
                </a:lnTo>
                <a:lnTo>
                  <a:pt x="2821" y="622"/>
                </a:lnTo>
                <a:lnTo>
                  <a:pt x="2907" y="522"/>
                </a:lnTo>
                <a:lnTo>
                  <a:pt x="3000" y="429"/>
                </a:lnTo>
                <a:lnTo>
                  <a:pt x="3100" y="344"/>
                </a:lnTo>
                <a:lnTo>
                  <a:pt x="3207" y="268"/>
                </a:lnTo>
                <a:lnTo>
                  <a:pt x="3321" y="199"/>
                </a:lnTo>
                <a:lnTo>
                  <a:pt x="3438" y="141"/>
                </a:lnTo>
                <a:lnTo>
                  <a:pt x="3562" y="91"/>
                </a:lnTo>
                <a:lnTo>
                  <a:pt x="3691" y="52"/>
                </a:lnTo>
                <a:lnTo>
                  <a:pt x="3822" y="24"/>
                </a:lnTo>
                <a:lnTo>
                  <a:pt x="3959" y="6"/>
                </a:lnTo>
                <a:lnTo>
                  <a:pt x="4099" y="0"/>
                </a:lnTo>
                <a:close/>
              </a:path>
            </a:pathLst>
          </a:custGeom>
          <a:solidFill>
            <a:srgbClr val="66667E"/>
          </a:solidFill>
          <a:ln w="0">
            <a:noFill/>
            <a:prstDash val="solid"/>
            <a:round/>
            <a:headEnd/>
            <a:tailEnd/>
          </a:ln>
          <a:scene3d>
            <a:camera prst="perspectiveRelaxed"/>
            <a:lightRig rig="threePt" dir="t"/>
          </a:scene3d>
        </p:spPr>
        <p:txBody>
          <a:bodyPr vert="horz" wrap="square" lIns="84586" tIns="42293" rIns="84586" bIns="42293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0939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6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29" name="Freeform 6">
            <a:extLst>
              <a:ext uri="{FF2B5EF4-FFF2-40B4-BE49-F238E27FC236}">
                <a16:creationId xmlns:a16="http://schemas.microsoft.com/office/drawing/2014/main" id="{5495281F-6FD6-3D9B-D04A-97AE6E4FC5E8}"/>
              </a:ext>
            </a:extLst>
          </p:cNvPr>
          <p:cNvSpPr>
            <a:spLocks noEditPoints="1"/>
          </p:cNvSpPr>
          <p:nvPr/>
        </p:nvSpPr>
        <p:spPr bwMode="auto">
          <a:xfrm>
            <a:off x="7039378" y="2176572"/>
            <a:ext cx="705928" cy="607110"/>
          </a:xfrm>
          <a:custGeom>
            <a:avLst/>
            <a:gdLst>
              <a:gd name="T0" fmla="*/ 3778 w 6560"/>
              <a:gd name="T1" fmla="*/ 453 h 4092"/>
              <a:gd name="T2" fmla="*/ 3394 w 6560"/>
              <a:gd name="T3" fmla="*/ 638 h 4092"/>
              <a:gd name="T4" fmla="*/ 3092 w 6560"/>
              <a:gd name="T5" fmla="*/ 946 h 4092"/>
              <a:gd name="T6" fmla="*/ 2549 w 6560"/>
              <a:gd name="T7" fmla="*/ 1234 h 4092"/>
              <a:gd name="T8" fmla="*/ 2276 w 6560"/>
              <a:gd name="T9" fmla="*/ 1249 h 4092"/>
              <a:gd name="T10" fmla="*/ 1952 w 6560"/>
              <a:gd name="T11" fmla="*/ 1406 h 4092"/>
              <a:gd name="T12" fmla="*/ 1727 w 6560"/>
              <a:gd name="T13" fmla="*/ 1692 h 4092"/>
              <a:gd name="T14" fmla="*/ 1218 w 6560"/>
              <a:gd name="T15" fmla="*/ 2046 h 4092"/>
              <a:gd name="T16" fmla="*/ 838 w 6560"/>
              <a:gd name="T17" fmla="*/ 2145 h 4092"/>
              <a:gd name="T18" fmla="*/ 555 w 6560"/>
              <a:gd name="T19" fmla="*/ 2402 h 4092"/>
              <a:gd name="T20" fmla="*/ 416 w 6560"/>
              <a:gd name="T21" fmla="*/ 2763 h 4092"/>
              <a:gd name="T22" fmla="*/ 458 w 6560"/>
              <a:gd name="T23" fmla="*/ 3141 h 4092"/>
              <a:gd name="T24" fmla="*/ 651 w 6560"/>
              <a:gd name="T25" fmla="*/ 3442 h 4092"/>
              <a:gd name="T26" fmla="*/ 953 w 6560"/>
              <a:gd name="T27" fmla="*/ 3635 h 4092"/>
              <a:gd name="T28" fmla="*/ 5330 w 6560"/>
              <a:gd name="T29" fmla="*/ 3683 h 4092"/>
              <a:gd name="T30" fmla="*/ 5691 w 6560"/>
              <a:gd name="T31" fmla="*/ 3599 h 4092"/>
              <a:gd name="T32" fmla="*/ 5969 w 6560"/>
              <a:gd name="T33" fmla="*/ 3377 h 4092"/>
              <a:gd name="T34" fmla="*/ 6128 w 6560"/>
              <a:gd name="T35" fmla="*/ 3053 h 4092"/>
              <a:gd name="T36" fmla="*/ 6128 w 6560"/>
              <a:gd name="T37" fmla="*/ 2682 h 4092"/>
              <a:gd name="T38" fmla="*/ 5971 w 6560"/>
              <a:gd name="T39" fmla="*/ 2358 h 4092"/>
              <a:gd name="T40" fmla="*/ 5685 w 6560"/>
              <a:gd name="T41" fmla="*/ 2131 h 4092"/>
              <a:gd name="T42" fmla="*/ 5330 w 6560"/>
              <a:gd name="T43" fmla="*/ 1621 h 4092"/>
              <a:gd name="T44" fmla="*/ 5229 w 6560"/>
              <a:gd name="T45" fmla="*/ 1150 h 4092"/>
              <a:gd name="T46" fmla="*/ 4964 w 6560"/>
              <a:gd name="T47" fmla="*/ 765 h 4092"/>
              <a:gd name="T48" fmla="*/ 4574 w 6560"/>
              <a:gd name="T49" fmla="*/ 505 h 4092"/>
              <a:gd name="T50" fmla="*/ 4099 w 6560"/>
              <a:gd name="T51" fmla="*/ 409 h 4092"/>
              <a:gd name="T52" fmla="*/ 4515 w 6560"/>
              <a:gd name="T53" fmla="*/ 52 h 4092"/>
              <a:gd name="T54" fmla="*/ 5002 w 6560"/>
              <a:gd name="T55" fmla="*/ 270 h 4092"/>
              <a:gd name="T56" fmla="*/ 5392 w 6560"/>
              <a:gd name="T57" fmla="*/ 628 h 4092"/>
              <a:gd name="T58" fmla="*/ 5647 w 6560"/>
              <a:gd name="T59" fmla="*/ 1095 h 4092"/>
              <a:gd name="T60" fmla="*/ 5740 w 6560"/>
              <a:gd name="T61" fmla="*/ 1637 h 4092"/>
              <a:gd name="T62" fmla="*/ 5943 w 6560"/>
              <a:gd name="T63" fmla="*/ 1806 h 4092"/>
              <a:gd name="T64" fmla="*/ 6291 w 6560"/>
              <a:gd name="T65" fmla="*/ 2104 h 4092"/>
              <a:gd name="T66" fmla="*/ 6506 w 6560"/>
              <a:gd name="T67" fmla="*/ 2509 h 4092"/>
              <a:gd name="T68" fmla="*/ 6554 w 6560"/>
              <a:gd name="T69" fmla="*/ 2990 h 4092"/>
              <a:gd name="T70" fmla="*/ 6411 w 6560"/>
              <a:gd name="T71" fmla="*/ 3450 h 4092"/>
              <a:gd name="T72" fmla="*/ 6112 w 6560"/>
              <a:gd name="T73" fmla="*/ 3812 h 4092"/>
              <a:gd name="T74" fmla="*/ 5695 w 6560"/>
              <a:gd name="T75" fmla="*/ 4036 h 4092"/>
              <a:gd name="T76" fmla="*/ 1230 w 6560"/>
              <a:gd name="T77" fmla="*/ 4092 h 4092"/>
              <a:gd name="T78" fmla="*/ 752 w 6560"/>
              <a:gd name="T79" fmla="*/ 3997 h 4092"/>
              <a:gd name="T80" fmla="*/ 360 w 6560"/>
              <a:gd name="T81" fmla="*/ 3732 h 4092"/>
              <a:gd name="T82" fmla="*/ 97 w 6560"/>
              <a:gd name="T83" fmla="*/ 3343 h 4092"/>
              <a:gd name="T84" fmla="*/ 0 w 6560"/>
              <a:gd name="T85" fmla="*/ 2864 h 4092"/>
              <a:gd name="T86" fmla="*/ 97 w 6560"/>
              <a:gd name="T87" fmla="*/ 2388 h 4092"/>
              <a:gd name="T88" fmla="*/ 360 w 6560"/>
              <a:gd name="T89" fmla="*/ 1996 h 4092"/>
              <a:gd name="T90" fmla="*/ 752 w 6560"/>
              <a:gd name="T91" fmla="*/ 1734 h 4092"/>
              <a:gd name="T92" fmla="*/ 1230 w 6560"/>
              <a:gd name="T93" fmla="*/ 1637 h 4092"/>
              <a:gd name="T94" fmla="*/ 1401 w 6560"/>
              <a:gd name="T95" fmla="*/ 1432 h 4092"/>
              <a:gd name="T96" fmla="*/ 1697 w 6560"/>
              <a:gd name="T97" fmla="*/ 1087 h 4092"/>
              <a:gd name="T98" fmla="*/ 2103 w 6560"/>
              <a:gd name="T99" fmla="*/ 870 h 4092"/>
              <a:gd name="T100" fmla="*/ 2533 w 6560"/>
              <a:gd name="T101" fmla="*/ 820 h 4092"/>
              <a:gd name="T102" fmla="*/ 2821 w 6560"/>
              <a:gd name="T103" fmla="*/ 622 h 4092"/>
              <a:gd name="T104" fmla="*/ 3207 w 6560"/>
              <a:gd name="T105" fmla="*/ 268 h 4092"/>
              <a:gd name="T106" fmla="*/ 3691 w 6560"/>
              <a:gd name="T107" fmla="*/ 52 h 4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560" h="4092">
                <a:moveTo>
                  <a:pt x="4099" y="409"/>
                </a:moveTo>
                <a:lnTo>
                  <a:pt x="3991" y="413"/>
                </a:lnTo>
                <a:lnTo>
                  <a:pt x="3884" y="429"/>
                </a:lnTo>
                <a:lnTo>
                  <a:pt x="3778" y="453"/>
                </a:lnTo>
                <a:lnTo>
                  <a:pt x="3677" y="487"/>
                </a:lnTo>
                <a:lnTo>
                  <a:pt x="3579" y="528"/>
                </a:lnTo>
                <a:lnTo>
                  <a:pt x="3484" y="578"/>
                </a:lnTo>
                <a:lnTo>
                  <a:pt x="3394" y="638"/>
                </a:lnTo>
                <a:lnTo>
                  <a:pt x="3309" y="703"/>
                </a:lnTo>
                <a:lnTo>
                  <a:pt x="3231" y="777"/>
                </a:lnTo>
                <a:lnTo>
                  <a:pt x="3158" y="858"/>
                </a:lnTo>
                <a:lnTo>
                  <a:pt x="3092" y="946"/>
                </a:lnTo>
                <a:lnTo>
                  <a:pt x="3032" y="1041"/>
                </a:lnTo>
                <a:lnTo>
                  <a:pt x="2891" y="1295"/>
                </a:lnTo>
                <a:lnTo>
                  <a:pt x="2603" y="1243"/>
                </a:lnTo>
                <a:lnTo>
                  <a:pt x="2549" y="1234"/>
                </a:lnTo>
                <a:lnTo>
                  <a:pt x="2501" y="1230"/>
                </a:lnTo>
                <a:lnTo>
                  <a:pt x="2459" y="1228"/>
                </a:lnTo>
                <a:lnTo>
                  <a:pt x="2368" y="1234"/>
                </a:lnTo>
                <a:lnTo>
                  <a:pt x="2276" y="1249"/>
                </a:lnTo>
                <a:lnTo>
                  <a:pt x="2189" y="1275"/>
                </a:lnTo>
                <a:lnTo>
                  <a:pt x="2105" y="1309"/>
                </a:lnTo>
                <a:lnTo>
                  <a:pt x="2026" y="1355"/>
                </a:lnTo>
                <a:lnTo>
                  <a:pt x="1952" y="1406"/>
                </a:lnTo>
                <a:lnTo>
                  <a:pt x="1886" y="1468"/>
                </a:lnTo>
                <a:lnTo>
                  <a:pt x="1825" y="1535"/>
                </a:lnTo>
                <a:lnTo>
                  <a:pt x="1771" y="1611"/>
                </a:lnTo>
                <a:lnTo>
                  <a:pt x="1727" y="1692"/>
                </a:lnTo>
                <a:lnTo>
                  <a:pt x="1691" y="1780"/>
                </a:lnTo>
                <a:lnTo>
                  <a:pt x="1588" y="2072"/>
                </a:lnTo>
                <a:lnTo>
                  <a:pt x="1275" y="2052"/>
                </a:lnTo>
                <a:lnTo>
                  <a:pt x="1218" y="2046"/>
                </a:lnTo>
                <a:lnTo>
                  <a:pt x="1116" y="2054"/>
                </a:lnTo>
                <a:lnTo>
                  <a:pt x="1019" y="2074"/>
                </a:lnTo>
                <a:lnTo>
                  <a:pt x="925" y="2106"/>
                </a:lnTo>
                <a:lnTo>
                  <a:pt x="838" y="2145"/>
                </a:lnTo>
                <a:lnTo>
                  <a:pt x="756" y="2197"/>
                </a:lnTo>
                <a:lnTo>
                  <a:pt x="680" y="2257"/>
                </a:lnTo>
                <a:lnTo>
                  <a:pt x="613" y="2326"/>
                </a:lnTo>
                <a:lnTo>
                  <a:pt x="555" y="2402"/>
                </a:lnTo>
                <a:lnTo>
                  <a:pt x="505" y="2483"/>
                </a:lnTo>
                <a:lnTo>
                  <a:pt x="464" y="2572"/>
                </a:lnTo>
                <a:lnTo>
                  <a:pt x="434" y="2666"/>
                </a:lnTo>
                <a:lnTo>
                  <a:pt x="416" y="2763"/>
                </a:lnTo>
                <a:lnTo>
                  <a:pt x="410" y="2864"/>
                </a:lnTo>
                <a:lnTo>
                  <a:pt x="416" y="2960"/>
                </a:lnTo>
                <a:lnTo>
                  <a:pt x="432" y="3053"/>
                </a:lnTo>
                <a:lnTo>
                  <a:pt x="458" y="3141"/>
                </a:lnTo>
                <a:lnTo>
                  <a:pt x="493" y="3224"/>
                </a:lnTo>
                <a:lnTo>
                  <a:pt x="537" y="3303"/>
                </a:lnTo>
                <a:lnTo>
                  <a:pt x="591" y="3377"/>
                </a:lnTo>
                <a:lnTo>
                  <a:pt x="651" y="3442"/>
                </a:lnTo>
                <a:lnTo>
                  <a:pt x="718" y="3504"/>
                </a:lnTo>
                <a:lnTo>
                  <a:pt x="790" y="3556"/>
                </a:lnTo>
                <a:lnTo>
                  <a:pt x="869" y="3599"/>
                </a:lnTo>
                <a:lnTo>
                  <a:pt x="953" y="3635"/>
                </a:lnTo>
                <a:lnTo>
                  <a:pt x="1043" y="3661"/>
                </a:lnTo>
                <a:lnTo>
                  <a:pt x="1134" y="3677"/>
                </a:lnTo>
                <a:lnTo>
                  <a:pt x="1230" y="3683"/>
                </a:lnTo>
                <a:lnTo>
                  <a:pt x="5330" y="3683"/>
                </a:lnTo>
                <a:lnTo>
                  <a:pt x="5426" y="3677"/>
                </a:lnTo>
                <a:lnTo>
                  <a:pt x="5517" y="3661"/>
                </a:lnTo>
                <a:lnTo>
                  <a:pt x="5607" y="3635"/>
                </a:lnTo>
                <a:lnTo>
                  <a:pt x="5691" y="3599"/>
                </a:lnTo>
                <a:lnTo>
                  <a:pt x="5768" y="3556"/>
                </a:lnTo>
                <a:lnTo>
                  <a:pt x="5842" y="3504"/>
                </a:lnTo>
                <a:lnTo>
                  <a:pt x="5909" y="3442"/>
                </a:lnTo>
                <a:lnTo>
                  <a:pt x="5969" y="3377"/>
                </a:lnTo>
                <a:lnTo>
                  <a:pt x="6023" y="3303"/>
                </a:lnTo>
                <a:lnTo>
                  <a:pt x="6067" y="3224"/>
                </a:lnTo>
                <a:lnTo>
                  <a:pt x="6102" y="3141"/>
                </a:lnTo>
                <a:lnTo>
                  <a:pt x="6128" y="3053"/>
                </a:lnTo>
                <a:lnTo>
                  <a:pt x="6144" y="2960"/>
                </a:lnTo>
                <a:lnTo>
                  <a:pt x="6150" y="2864"/>
                </a:lnTo>
                <a:lnTo>
                  <a:pt x="6144" y="2771"/>
                </a:lnTo>
                <a:lnTo>
                  <a:pt x="6128" y="2682"/>
                </a:lnTo>
                <a:lnTo>
                  <a:pt x="6102" y="2594"/>
                </a:lnTo>
                <a:lnTo>
                  <a:pt x="6067" y="2511"/>
                </a:lnTo>
                <a:lnTo>
                  <a:pt x="6023" y="2431"/>
                </a:lnTo>
                <a:lnTo>
                  <a:pt x="5971" y="2358"/>
                </a:lnTo>
                <a:lnTo>
                  <a:pt x="5909" y="2290"/>
                </a:lnTo>
                <a:lnTo>
                  <a:pt x="5842" y="2231"/>
                </a:lnTo>
                <a:lnTo>
                  <a:pt x="5766" y="2177"/>
                </a:lnTo>
                <a:lnTo>
                  <a:pt x="5685" y="2131"/>
                </a:lnTo>
                <a:lnTo>
                  <a:pt x="5597" y="2096"/>
                </a:lnTo>
                <a:lnTo>
                  <a:pt x="5312" y="1996"/>
                </a:lnTo>
                <a:lnTo>
                  <a:pt x="5322" y="1696"/>
                </a:lnTo>
                <a:lnTo>
                  <a:pt x="5330" y="1621"/>
                </a:lnTo>
                <a:lnTo>
                  <a:pt x="5322" y="1498"/>
                </a:lnTo>
                <a:lnTo>
                  <a:pt x="5303" y="1377"/>
                </a:lnTo>
                <a:lnTo>
                  <a:pt x="5271" y="1261"/>
                </a:lnTo>
                <a:lnTo>
                  <a:pt x="5229" y="1150"/>
                </a:lnTo>
                <a:lnTo>
                  <a:pt x="5177" y="1043"/>
                </a:lnTo>
                <a:lnTo>
                  <a:pt x="5116" y="944"/>
                </a:lnTo>
                <a:lnTo>
                  <a:pt x="5044" y="850"/>
                </a:lnTo>
                <a:lnTo>
                  <a:pt x="4964" y="765"/>
                </a:lnTo>
                <a:lnTo>
                  <a:pt x="4877" y="685"/>
                </a:lnTo>
                <a:lnTo>
                  <a:pt x="4783" y="616"/>
                </a:lnTo>
                <a:lnTo>
                  <a:pt x="4682" y="554"/>
                </a:lnTo>
                <a:lnTo>
                  <a:pt x="4574" y="505"/>
                </a:lnTo>
                <a:lnTo>
                  <a:pt x="4463" y="463"/>
                </a:lnTo>
                <a:lnTo>
                  <a:pt x="4345" y="433"/>
                </a:lnTo>
                <a:lnTo>
                  <a:pt x="4224" y="415"/>
                </a:lnTo>
                <a:lnTo>
                  <a:pt x="4099" y="409"/>
                </a:lnTo>
                <a:close/>
                <a:moveTo>
                  <a:pt x="4099" y="0"/>
                </a:moveTo>
                <a:lnTo>
                  <a:pt x="4242" y="6"/>
                </a:lnTo>
                <a:lnTo>
                  <a:pt x="4379" y="24"/>
                </a:lnTo>
                <a:lnTo>
                  <a:pt x="4515" y="52"/>
                </a:lnTo>
                <a:lnTo>
                  <a:pt x="4644" y="91"/>
                </a:lnTo>
                <a:lnTo>
                  <a:pt x="4769" y="141"/>
                </a:lnTo>
                <a:lnTo>
                  <a:pt x="4889" y="201"/>
                </a:lnTo>
                <a:lnTo>
                  <a:pt x="5002" y="270"/>
                </a:lnTo>
                <a:lnTo>
                  <a:pt x="5110" y="348"/>
                </a:lnTo>
                <a:lnTo>
                  <a:pt x="5211" y="433"/>
                </a:lnTo>
                <a:lnTo>
                  <a:pt x="5305" y="526"/>
                </a:lnTo>
                <a:lnTo>
                  <a:pt x="5392" y="628"/>
                </a:lnTo>
                <a:lnTo>
                  <a:pt x="5470" y="735"/>
                </a:lnTo>
                <a:lnTo>
                  <a:pt x="5537" y="848"/>
                </a:lnTo>
                <a:lnTo>
                  <a:pt x="5597" y="969"/>
                </a:lnTo>
                <a:lnTo>
                  <a:pt x="5647" y="1095"/>
                </a:lnTo>
                <a:lnTo>
                  <a:pt x="5687" y="1224"/>
                </a:lnTo>
                <a:lnTo>
                  <a:pt x="5716" y="1357"/>
                </a:lnTo>
                <a:lnTo>
                  <a:pt x="5734" y="1496"/>
                </a:lnTo>
                <a:lnTo>
                  <a:pt x="5740" y="1637"/>
                </a:lnTo>
                <a:lnTo>
                  <a:pt x="5736" y="1673"/>
                </a:lnTo>
                <a:lnTo>
                  <a:pt x="5732" y="1710"/>
                </a:lnTo>
                <a:lnTo>
                  <a:pt x="5842" y="1752"/>
                </a:lnTo>
                <a:lnTo>
                  <a:pt x="5943" y="1806"/>
                </a:lnTo>
                <a:lnTo>
                  <a:pt x="6041" y="1867"/>
                </a:lnTo>
                <a:lnTo>
                  <a:pt x="6132" y="1939"/>
                </a:lnTo>
                <a:lnTo>
                  <a:pt x="6216" y="2016"/>
                </a:lnTo>
                <a:lnTo>
                  <a:pt x="6291" y="2104"/>
                </a:lnTo>
                <a:lnTo>
                  <a:pt x="6359" y="2195"/>
                </a:lnTo>
                <a:lnTo>
                  <a:pt x="6419" y="2294"/>
                </a:lnTo>
                <a:lnTo>
                  <a:pt x="6467" y="2400"/>
                </a:lnTo>
                <a:lnTo>
                  <a:pt x="6506" y="2509"/>
                </a:lnTo>
                <a:lnTo>
                  <a:pt x="6536" y="2624"/>
                </a:lnTo>
                <a:lnTo>
                  <a:pt x="6554" y="2743"/>
                </a:lnTo>
                <a:lnTo>
                  <a:pt x="6560" y="2864"/>
                </a:lnTo>
                <a:lnTo>
                  <a:pt x="6554" y="2990"/>
                </a:lnTo>
                <a:lnTo>
                  <a:pt x="6534" y="3113"/>
                </a:lnTo>
                <a:lnTo>
                  <a:pt x="6504" y="3230"/>
                </a:lnTo>
                <a:lnTo>
                  <a:pt x="6463" y="3343"/>
                </a:lnTo>
                <a:lnTo>
                  <a:pt x="6411" y="3450"/>
                </a:lnTo>
                <a:lnTo>
                  <a:pt x="6349" y="3552"/>
                </a:lnTo>
                <a:lnTo>
                  <a:pt x="6279" y="3645"/>
                </a:lnTo>
                <a:lnTo>
                  <a:pt x="6200" y="3732"/>
                </a:lnTo>
                <a:lnTo>
                  <a:pt x="6112" y="3812"/>
                </a:lnTo>
                <a:lnTo>
                  <a:pt x="6017" y="3883"/>
                </a:lnTo>
                <a:lnTo>
                  <a:pt x="5915" y="3945"/>
                </a:lnTo>
                <a:lnTo>
                  <a:pt x="5808" y="3997"/>
                </a:lnTo>
                <a:lnTo>
                  <a:pt x="5695" y="4036"/>
                </a:lnTo>
                <a:lnTo>
                  <a:pt x="5577" y="4068"/>
                </a:lnTo>
                <a:lnTo>
                  <a:pt x="5456" y="4086"/>
                </a:lnTo>
                <a:lnTo>
                  <a:pt x="5330" y="4092"/>
                </a:lnTo>
                <a:lnTo>
                  <a:pt x="1230" y="4092"/>
                </a:lnTo>
                <a:lnTo>
                  <a:pt x="1104" y="4086"/>
                </a:lnTo>
                <a:lnTo>
                  <a:pt x="983" y="4068"/>
                </a:lnTo>
                <a:lnTo>
                  <a:pt x="864" y="4036"/>
                </a:lnTo>
                <a:lnTo>
                  <a:pt x="752" y="3997"/>
                </a:lnTo>
                <a:lnTo>
                  <a:pt x="645" y="3945"/>
                </a:lnTo>
                <a:lnTo>
                  <a:pt x="543" y="3883"/>
                </a:lnTo>
                <a:lnTo>
                  <a:pt x="448" y="3812"/>
                </a:lnTo>
                <a:lnTo>
                  <a:pt x="360" y="3732"/>
                </a:lnTo>
                <a:lnTo>
                  <a:pt x="281" y="3645"/>
                </a:lnTo>
                <a:lnTo>
                  <a:pt x="211" y="3552"/>
                </a:lnTo>
                <a:lnTo>
                  <a:pt x="149" y="3450"/>
                </a:lnTo>
                <a:lnTo>
                  <a:pt x="97" y="3343"/>
                </a:lnTo>
                <a:lnTo>
                  <a:pt x="56" y="3230"/>
                </a:lnTo>
                <a:lnTo>
                  <a:pt x="26" y="3113"/>
                </a:lnTo>
                <a:lnTo>
                  <a:pt x="6" y="2990"/>
                </a:lnTo>
                <a:lnTo>
                  <a:pt x="0" y="2864"/>
                </a:lnTo>
                <a:lnTo>
                  <a:pt x="6" y="2739"/>
                </a:lnTo>
                <a:lnTo>
                  <a:pt x="26" y="2618"/>
                </a:lnTo>
                <a:lnTo>
                  <a:pt x="56" y="2499"/>
                </a:lnTo>
                <a:lnTo>
                  <a:pt x="97" y="2388"/>
                </a:lnTo>
                <a:lnTo>
                  <a:pt x="149" y="2280"/>
                </a:lnTo>
                <a:lnTo>
                  <a:pt x="211" y="2179"/>
                </a:lnTo>
                <a:lnTo>
                  <a:pt x="281" y="2084"/>
                </a:lnTo>
                <a:lnTo>
                  <a:pt x="360" y="1996"/>
                </a:lnTo>
                <a:lnTo>
                  <a:pt x="448" y="1917"/>
                </a:lnTo>
                <a:lnTo>
                  <a:pt x="543" y="1847"/>
                </a:lnTo>
                <a:lnTo>
                  <a:pt x="645" y="1786"/>
                </a:lnTo>
                <a:lnTo>
                  <a:pt x="752" y="1734"/>
                </a:lnTo>
                <a:lnTo>
                  <a:pt x="864" y="1692"/>
                </a:lnTo>
                <a:lnTo>
                  <a:pt x="983" y="1661"/>
                </a:lnTo>
                <a:lnTo>
                  <a:pt x="1104" y="1643"/>
                </a:lnTo>
                <a:lnTo>
                  <a:pt x="1230" y="1637"/>
                </a:lnTo>
                <a:lnTo>
                  <a:pt x="1267" y="1639"/>
                </a:lnTo>
                <a:lnTo>
                  <a:pt x="1303" y="1645"/>
                </a:lnTo>
                <a:lnTo>
                  <a:pt x="1347" y="1535"/>
                </a:lnTo>
                <a:lnTo>
                  <a:pt x="1401" y="1432"/>
                </a:lnTo>
                <a:lnTo>
                  <a:pt x="1462" y="1335"/>
                </a:lnTo>
                <a:lnTo>
                  <a:pt x="1532" y="1245"/>
                </a:lnTo>
                <a:lnTo>
                  <a:pt x="1612" y="1162"/>
                </a:lnTo>
                <a:lnTo>
                  <a:pt x="1697" y="1087"/>
                </a:lnTo>
                <a:lnTo>
                  <a:pt x="1791" y="1019"/>
                </a:lnTo>
                <a:lnTo>
                  <a:pt x="1888" y="959"/>
                </a:lnTo>
                <a:lnTo>
                  <a:pt x="1994" y="910"/>
                </a:lnTo>
                <a:lnTo>
                  <a:pt x="2103" y="870"/>
                </a:lnTo>
                <a:lnTo>
                  <a:pt x="2219" y="842"/>
                </a:lnTo>
                <a:lnTo>
                  <a:pt x="2338" y="824"/>
                </a:lnTo>
                <a:lnTo>
                  <a:pt x="2459" y="818"/>
                </a:lnTo>
                <a:lnTo>
                  <a:pt x="2533" y="820"/>
                </a:lnTo>
                <a:lnTo>
                  <a:pt x="2605" y="828"/>
                </a:lnTo>
                <a:lnTo>
                  <a:pt x="2676" y="840"/>
                </a:lnTo>
                <a:lnTo>
                  <a:pt x="2746" y="727"/>
                </a:lnTo>
                <a:lnTo>
                  <a:pt x="2821" y="622"/>
                </a:lnTo>
                <a:lnTo>
                  <a:pt x="2907" y="522"/>
                </a:lnTo>
                <a:lnTo>
                  <a:pt x="3000" y="429"/>
                </a:lnTo>
                <a:lnTo>
                  <a:pt x="3100" y="344"/>
                </a:lnTo>
                <a:lnTo>
                  <a:pt x="3207" y="268"/>
                </a:lnTo>
                <a:lnTo>
                  <a:pt x="3321" y="199"/>
                </a:lnTo>
                <a:lnTo>
                  <a:pt x="3438" y="141"/>
                </a:lnTo>
                <a:lnTo>
                  <a:pt x="3562" y="91"/>
                </a:lnTo>
                <a:lnTo>
                  <a:pt x="3691" y="52"/>
                </a:lnTo>
                <a:lnTo>
                  <a:pt x="3822" y="24"/>
                </a:lnTo>
                <a:lnTo>
                  <a:pt x="3959" y="6"/>
                </a:lnTo>
                <a:lnTo>
                  <a:pt x="4099" y="0"/>
                </a:lnTo>
                <a:close/>
              </a:path>
            </a:pathLst>
          </a:custGeom>
          <a:solidFill>
            <a:srgbClr val="66667E"/>
          </a:solidFill>
          <a:ln w="0">
            <a:noFill/>
            <a:prstDash val="solid"/>
            <a:round/>
            <a:headEnd/>
            <a:tailEnd/>
          </a:ln>
          <a:scene3d>
            <a:camera prst="perspectiveRelaxed"/>
            <a:lightRig rig="threePt" dir="t"/>
          </a:scene3d>
        </p:spPr>
        <p:txBody>
          <a:bodyPr vert="horz" wrap="square" lIns="84586" tIns="42293" rIns="84586" bIns="42293" numCol="1" anchor="t" anchorCtr="0" compatLnSpc="1">
            <a:prstTxWarp prst="textNoShape">
              <a:avLst/>
            </a:prstTxWarp>
          </a:bodyPr>
          <a:lstStyle/>
          <a:p>
            <a:pPr defTabSz="609393"/>
            <a:endParaRPr lang="en-US" sz="1665" kern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785" name="Rechteck 784">
            <a:extLst>
              <a:ext uri="{FF2B5EF4-FFF2-40B4-BE49-F238E27FC236}">
                <a16:creationId xmlns:a16="http://schemas.microsoft.com/office/drawing/2014/main" id="{54D1365F-69D9-2309-EA07-682779BE3E49}"/>
              </a:ext>
            </a:extLst>
          </p:cNvPr>
          <p:cNvSpPr/>
          <p:nvPr/>
        </p:nvSpPr>
        <p:spPr>
          <a:xfrm>
            <a:off x="6672168" y="3893940"/>
            <a:ext cx="936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36000" bIns="72000" rtlCol="0" anchor="ctr" anchorCtr="0"/>
          <a:lstStyle/>
          <a:p>
            <a:pPr algn="r"/>
            <a:r>
              <a:rPr lang="en-US" sz="800"/>
              <a:t>Local Storage</a:t>
            </a:r>
          </a:p>
        </p:txBody>
      </p:sp>
      <p:pic>
        <p:nvPicPr>
          <p:cNvPr id="787" name="Grafik 786" descr="Datenbank Silhouette">
            <a:extLst>
              <a:ext uri="{FF2B5EF4-FFF2-40B4-BE49-F238E27FC236}">
                <a16:creationId xmlns:a16="http://schemas.microsoft.com/office/drawing/2014/main" id="{D6E705CA-98AE-94AB-D151-86C483148E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36200" y="3893940"/>
            <a:ext cx="360000" cy="360000"/>
          </a:xfrm>
          <a:prstGeom prst="rect">
            <a:avLst/>
          </a:prstGeom>
        </p:spPr>
      </p:pic>
      <p:cxnSp>
        <p:nvCxnSpPr>
          <p:cNvPr id="793" name="Gerader Verbinder 792">
            <a:extLst>
              <a:ext uri="{FF2B5EF4-FFF2-40B4-BE49-F238E27FC236}">
                <a16:creationId xmlns:a16="http://schemas.microsoft.com/office/drawing/2014/main" id="{CF490E8D-E0DA-15E1-4632-036A0100CF21}"/>
              </a:ext>
            </a:extLst>
          </p:cNvPr>
          <p:cNvCxnSpPr>
            <a:cxnSpLocks/>
          </p:cNvCxnSpPr>
          <p:nvPr/>
        </p:nvCxnSpPr>
        <p:spPr>
          <a:xfrm flipH="1" flipV="1">
            <a:off x="7716086" y="3677940"/>
            <a:ext cx="114" cy="21600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004CBC60-4DA4-E5B0-BF41-16EA3A387E6F}"/>
              </a:ext>
            </a:extLst>
          </p:cNvPr>
          <p:cNvSpPr/>
          <p:nvPr/>
        </p:nvSpPr>
        <p:spPr>
          <a:xfrm>
            <a:off x="4547661" y="2429201"/>
            <a:ext cx="504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ERP</a:t>
            </a:r>
          </a:p>
        </p:txBody>
      </p:sp>
      <p:sp>
        <p:nvSpPr>
          <p:cNvPr id="491" name="Rechteck 490">
            <a:extLst>
              <a:ext uri="{FF2B5EF4-FFF2-40B4-BE49-F238E27FC236}">
                <a16:creationId xmlns:a16="http://schemas.microsoft.com/office/drawing/2014/main" id="{B89E11A2-FA67-0DB6-BBC8-86A1D532936F}"/>
              </a:ext>
            </a:extLst>
          </p:cNvPr>
          <p:cNvSpPr/>
          <p:nvPr/>
        </p:nvSpPr>
        <p:spPr>
          <a:xfrm>
            <a:off x="6384001" y="3425940"/>
            <a:ext cx="14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800">
                <a:solidFill>
                  <a:schemeClr val="accent2"/>
                </a:solidFill>
              </a:rPr>
              <a:t>Upload decision</a:t>
            </a: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EE2EB4C4-7C95-25E6-8EA3-6B0666FB643F}"/>
              </a:ext>
            </a:extLst>
          </p:cNvPr>
          <p:cNvGrpSpPr/>
          <p:nvPr/>
        </p:nvGrpSpPr>
        <p:grpSpPr>
          <a:xfrm>
            <a:off x="5037778" y="1655872"/>
            <a:ext cx="705928" cy="607110"/>
            <a:chOff x="5037778" y="1655872"/>
            <a:chExt cx="705928" cy="607110"/>
          </a:xfrm>
        </p:grpSpPr>
        <p:sp>
          <p:nvSpPr>
            <p:cNvPr id="328" name="Freeform 6">
              <a:extLst>
                <a:ext uri="{FF2B5EF4-FFF2-40B4-BE49-F238E27FC236}">
                  <a16:creationId xmlns:a16="http://schemas.microsoft.com/office/drawing/2014/main" id="{30321029-76E2-F9B6-3BAF-0A4905FE0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778" y="1655872"/>
              <a:ext cx="705928" cy="607110"/>
            </a:xfrm>
            <a:custGeom>
              <a:avLst/>
              <a:gdLst>
                <a:gd name="T0" fmla="*/ 3778 w 6560"/>
                <a:gd name="T1" fmla="*/ 453 h 4092"/>
                <a:gd name="T2" fmla="*/ 3394 w 6560"/>
                <a:gd name="T3" fmla="*/ 638 h 4092"/>
                <a:gd name="T4" fmla="*/ 3092 w 6560"/>
                <a:gd name="T5" fmla="*/ 946 h 4092"/>
                <a:gd name="T6" fmla="*/ 2549 w 6560"/>
                <a:gd name="T7" fmla="*/ 1234 h 4092"/>
                <a:gd name="T8" fmla="*/ 2276 w 6560"/>
                <a:gd name="T9" fmla="*/ 1249 h 4092"/>
                <a:gd name="T10" fmla="*/ 1952 w 6560"/>
                <a:gd name="T11" fmla="*/ 1406 h 4092"/>
                <a:gd name="T12" fmla="*/ 1727 w 6560"/>
                <a:gd name="T13" fmla="*/ 1692 h 4092"/>
                <a:gd name="T14" fmla="*/ 1218 w 6560"/>
                <a:gd name="T15" fmla="*/ 2046 h 4092"/>
                <a:gd name="T16" fmla="*/ 838 w 6560"/>
                <a:gd name="T17" fmla="*/ 2145 h 4092"/>
                <a:gd name="T18" fmla="*/ 555 w 6560"/>
                <a:gd name="T19" fmla="*/ 2402 h 4092"/>
                <a:gd name="T20" fmla="*/ 416 w 6560"/>
                <a:gd name="T21" fmla="*/ 2763 h 4092"/>
                <a:gd name="T22" fmla="*/ 458 w 6560"/>
                <a:gd name="T23" fmla="*/ 3141 h 4092"/>
                <a:gd name="T24" fmla="*/ 651 w 6560"/>
                <a:gd name="T25" fmla="*/ 3442 h 4092"/>
                <a:gd name="T26" fmla="*/ 953 w 6560"/>
                <a:gd name="T27" fmla="*/ 3635 h 4092"/>
                <a:gd name="T28" fmla="*/ 5330 w 6560"/>
                <a:gd name="T29" fmla="*/ 3683 h 4092"/>
                <a:gd name="T30" fmla="*/ 5691 w 6560"/>
                <a:gd name="T31" fmla="*/ 3599 h 4092"/>
                <a:gd name="T32" fmla="*/ 5969 w 6560"/>
                <a:gd name="T33" fmla="*/ 3377 h 4092"/>
                <a:gd name="T34" fmla="*/ 6128 w 6560"/>
                <a:gd name="T35" fmla="*/ 3053 h 4092"/>
                <a:gd name="T36" fmla="*/ 6128 w 6560"/>
                <a:gd name="T37" fmla="*/ 2682 h 4092"/>
                <a:gd name="T38" fmla="*/ 5971 w 6560"/>
                <a:gd name="T39" fmla="*/ 2358 h 4092"/>
                <a:gd name="T40" fmla="*/ 5685 w 6560"/>
                <a:gd name="T41" fmla="*/ 2131 h 4092"/>
                <a:gd name="T42" fmla="*/ 5330 w 6560"/>
                <a:gd name="T43" fmla="*/ 1621 h 4092"/>
                <a:gd name="T44" fmla="*/ 5229 w 6560"/>
                <a:gd name="T45" fmla="*/ 1150 h 4092"/>
                <a:gd name="T46" fmla="*/ 4964 w 6560"/>
                <a:gd name="T47" fmla="*/ 765 h 4092"/>
                <a:gd name="T48" fmla="*/ 4574 w 6560"/>
                <a:gd name="T49" fmla="*/ 505 h 4092"/>
                <a:gd name="T50" fmla="*/ 4099 w 6560"/>
                <a:gd name="T51" fmla="*/ 409 h 4092"/>
                <a:gd name="T52" fmla="*/ 4515 w 6560"/>
                <a:gd name="T53" fmla="*/ 52 h 4092"/>
                <a:gd name="T54" fmla="*/ 5002 w 6560"/>
                <a:gd name="T55" fmla="*/ 270 h 4092"/>
                <a:gd name="T56" fmla="*/ 5392 w 6560"/>
                <a:gd name="T57" fmla="*/ 628 h 4092"/>
                <a:gd name="T58" fmla="*/ 5647 w 6560"/>
                <a:gd name="T59" fmla="*/ 1095 h 4092"/>
                <a:gd name="T60" fmla="*/ 5740 w 6560"/>
                <a:gd name="T61" fmla="*/ 1637 h 4092"/>
                <a:gd name="T62" fmla="*/ 5943 w 6560"/>
                <a:gd name="T63" fmla="*/ 1806 h 4092"/>
                <a:gd name="T64" fmla="*/ 6291 w 6560"/>
                <a:gd name="T65" fmla="*/ 2104 h 4092"/>
                <a:gd name="T66" fmla="*/ 6506 w 6560"/>
                <a:gd name="T67" fmla="*/ 2509 h 4092"/>
                <a:gd name="T68" fmla="*/ 6554 w 6560"/>
                <a:gd name="T69" fmla="*/ 2990 h 4092"/>
                <a:gd name="T70" fmla="*/ 6411 w 6560"/>
                <a:gd name="T71" fmla="*/ 3450 h 4092"/>
                <a:gd name="T72" fmla="*/ 6112 w 6560"/>
                <a:gd name="T73" fmla="*/ 3812 h 4092"/>
                <a:gd name="T74" fmla="*/ 5695 w 6560"/>
                <a:gd name="T75" fmla="*/ 4036 h 4092"/>
                <a:gd name="T76" fmla="*/ 1230 w 6560"/>
                <a:gd name="T77" fmla="*/ 4092 h 4092"/>
                <a:gd name="T78" fmla="*/ 752 w 6560"/>
                <a:gd name="T79" fmla="*/ 3997 h 4092"/>
                <a:gd name="T80" fmla="*/ 360 w 6560"/>
                <a:gd name="T81" fmla="*/ 3732 h 4092"/>
                <a:gd name="T82" fmla="*/ 97 w 6560"/>
                <a:gd name="T83" fmla="*/ 3343 h 4092"/>
                <a:gd name="T84" fmla="*/ 0 w 6560"/>
                <a:gd name="T85" fmla="*/ 2864 h 4092"/>
                <a:gd name="T86" fmla="*/ 97 w 6560"/>
                <a:gd name="T87" fmla="*/ 2388 h 4092"/>
                <a:gd name="T88" fmla="*/ 360 w 6560"/>
                <a:gd name="T89" fmla="*/ 1996 h 4092"/>
                <a:gd name="T90" fmla="*/ 752 w 6560"/>
                <a:gd name="T91" fmla="*/ 1734 h 4092"/>
                <a:gd name="T92" fmla="*/ 1230 w 6560"/>
                <a:gd name="T93" fmla="*/ 1637 h 4092"/>
                <a:gd name="T94" fmla="*/ 1401 w 6560"/>
                <a:gd name="T95" fmla="*/ 1432 h 4092"/>
                <a:gd name="T96" fmla="*/ 1697 w 6560"/>
                <a:gd name="T97" fmla="*/ 1087 h 4092"/>
                <a:gd name="T98" fmla="*/ 2103 w 6560"/>
                <a:gd name="T99" fmla="*/ 870 h 4092"/>
                <a:gd name="T100" fmla="*/ 2533 w 6560"/>
                <a:gd name="T101" fmla="*/ 820 h 4092"/>
                <a:gd name="T102" fmla="*/ 2821 w 6560"/>
                <a:gd name="T103" fmla="*/ 622 h 4092"/>
                <a:gd name="T104" fmla="*/ 3207 w 6560"/>
                <a:gd name="T105" fmla="*/ 268 h 4092"/>
                <a:gd name="T106" fmla="*/ 3691 w 6560"/>
                <a:gd name="T107" fmla="*/ 52 h 4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0" h="4092">
                  <a:moveTo>
                    <a:pt x="4099" y="409"/>
                  </a:moveTo>
                  <a:lnTo>
                    <a:pt x="3991" y="413"/>
                  </a:lnTo>
                  <a:lnTo>
                    <a:pt x="3884" y="429"/>
                  </a:lnTo>
                  <a:lnTo>
                    <a:pt x="3778" y="453"/>
                  </a:lnTo>
                  <a:lnTo>
                    <a:pt x="3677" y="487"/>
                  </a:lnTo>
                  <a:lnTo>
                    <a:pt x="3579" y="528"/>
                  </a:lnTo>
                  <a:lnTo>
                    <a:pt x="3484" y="578"/>
                  </a:lnTo>
                  <a:lnTo>
                    <a:pt x="3394" y="638"/>
                  </a:lnTo>
                  <a:lnTo>
                    <a:pt x="3309" y="703"/>
                  </a:lnTo>
                  <a:lnTo>
                    <a:pt x="3231" y="777"/>
                  </a:lnTo>
                  <a:lnTo>
                    <a:pt x="3158" y="858"/>
                  </a:lnTo>
                  <a:lnTo>
                    <a:pt x="3092" y="946"/>
                  </a:lnTo>
                  <a:lnTo>
                    <a:pt x="3032" y="1041"/>
                  </a:lnTo>
                  <a:lnTo>
                    <a:pt x="2891" y="1295"/>
                  </a:lnTo>
                  <a:lnTo>
                    <a:pt x="2603" y="1243"/>
                  </a:lnTo>
                  <a:lnTo>
                    <a:pt x="2549" y="1234"/>
                  </a:lnTo>
                  <a:lnTo>
                    <a:pt x="2501" y="1230"/>
                  </a:lnTo>
                  <a:lnTo>
                    <a:pt x="2459" y="1228"/>
                  </a:lnTo>
                  <a:lnTo>
                    <a:pt x="2368" y="1234"/>
                  </a:lnTo>
                  <a:lnTo>
                    <a:pt x="2276" y="1249"/>
                  </a:lnTo>
                  <a:lnTo>
                    <a:pt x="2189" y="1275"/>
                  </a:lnTo>
                  <a:lnTo>
                    <a:pt x="2105" y="1309"/>
                  </a:lnTo>
                  <a:lnTo>
                    <a:pt x="2026" y="1355"/>
                  </a:lnTo>
                  <a:lnTo>
                    <a:pt x="1952" y="1406"/>
                  </a:lnTo>
                  <a:lnTo>
                    <a:pt x="1886" y="1468"/>
                  </a:lnTo>
                  <a:lnTo>
                    <a:pt x="1825" y="1535"/>
                  </a:lnTo>
                  <a:lnTo>
                    <a:pt x="1771" y="1611"/>
                  </a:lnTo>
                  <a:lnTo>
                    <a:pt x="1727" y="1692"/>
                  </a:lnTo>
                  <a:lnTo>
                    <a:pt x="1691" y="1780"/>
                  </a:lnTo>
                  <a:lnTo>
                    <a:pt x="1588" y="2072"/>
                  </a:lnTo>
                  <a:lnTo>
                    <a:pt x="1275" y="2052"/>
                  </a:lnTo>
                  <a:lnTo>
                    <a:pt x="1218" y="2046"/>
                  </a:lnTo>
                  <a:lnTo>
                    <a:pt x="1116" y="2054"/>
                  </a:lnTo>
                  <a:lnTo>
                    <a:pt x="1019" y="2074"/>
                  </a:lnTo>
                  <a:lnTo>
                    <a:pt x="925" y="2106"/>
                  </a:lnTo>
                  <a:lnTo>
                    <a:pt x="838" y="2145"/>
                  </a:lnTo>
                  <a:lnTo>
                    <a:pt x="756" y="2197"/>
                  </a:lnTo>
                  <a:lnTo>
                    <a:pt x="680" y="2257"/>
                  </a:lnTo>
                  <a:lnTo>
                    <a:pt x="613" y="2326"/>
                  </a:lnTo>
                  <a:lnTo>
                    <a:pt x="555" y="2402"/>
                  </a:lnTo>
                  <a:lnTo>
                    <a:pt x="505" y="2483"/>
                  </a:lnTo>
                  <a:lnTo>
                    <a:pt x="464" y="2572"/>
                  </a:lnTo>
                  <a:lnTo>
                    <a:pt x="434" y="2666"/>
                  </a:lnTo>
                  <a:lnTo>
                    <a:pt x="416" y="2763"/>
                  </a:lnTo>
                  <a:lnTo>
                    <a:pt x="410" y="2864"/>
                  </a:lnTo>
                  <a:lnTo>
                    <a:pt x="416" y="2960"/>
                  </a:lnTo>
                  <a:lnTo>
                    <a:pt x="432" y="3053"/>
                  </a:lnTo>
                  <a:lnTo>
                    <a:pt x="458" y="3141"/>
                  </a:lnTo>
                  <a:lnTo>
                    <a:pt x="493" y="3224"/>
                  </a:lnTo>
                  <a:lnTo>
                    <a:pt x="537" y="3303"/>
                  </a:lnTo>
                  <a:lnTo>
                    <a:pt x="591" y="3377"/>
                  </a:lnTo>
                  <a:lnTo>
                    <a:pt x="651" y="3442"/>
                  </a:lnTo>
                  <a:lnTo>
                    <a:pt x="718" y="3504"/>
                  </a:lnTo>
                  <a:lnTo>
                    <a:pt x="790" y="3556"/>
                  </a:lnTo>
                  <a:lnTo>
                    <a:pt x="869" y="3599"/>
                  </a:lnTo>
                  <a:lnTo>
                    <a:pt x="953" y="3635"/>
                  </a:lnTo>
                  <a:lnTo>
                    <a:pt x="1043" y="3661"/>
                  </a:lnTo>
                  <a:lnTo>
                    <a:pt x="1134" y="3677"/>
                  </a:lnTo>
                  <a:lnTo>
                    <a:pt x="1230" y="3683"/>
                  </a:lnTo>
                  <a:lnTo>
                    <a:pt x="5330" y="3683"/>
                  </a:lnTo>
                  <a:lnTo>
                    <a:pt x="5426" y="3677"/>
                  </a:lnTo>
                  <a:lnTo>
                    <a:pt x="5517" y="3661"/>
                  </a:lnTo>
                  <a:lnTo>
                    <a:pt x="5607" y="3635"/>
                  </a:lnTo>
                  <a:lnTo>
                    <a:pt x="5691" y="3599"/>
                  </a:lnTo>
                  <a:lnTo>
                    <a:pt x="5768" y="3556"/>
                  </a:lnTo>
                  <a:lnTo>
                    <a:pt x="5842" y="3504"/>
                  </a:lnTo>
                  <a:lnTo>
                    <a:pt x="5909" y="3442"/>
                  </a:lnTo>
                  <a:lnTo>
                    <a:pt x="5969" y="3377"/>
                  </a:lnTo>
                  <a:lnTo>
                    <a:pt x="6023" y="3303"/>
                  </a:lnTo>
                  <a:lnTo>
                    <a:pt x="6067" y="3224"/>
                  </a:lnTo>
                  <a:lnTo>
                    <a:pt x="6102" y="3141"/>
                  </a:lnTo>
                  <a:lnTo>
                    <a:pt x="6128" y="3053"/>
                  </a:lnTo>
                  <a:lnTo>
                    <a:pt x="6144" y="2960"/>
                  </a:lnTo>
                  <a:lnTo>
                    <a:pt x="6150" y="2864"/>
                  </a:lnTo>
                  <a:lnTo>
                    <a:pt x="6144" y="2771"/>
                  </a:lnTo>
                  <a:lnTo>
                    <a:pt x="6128" y="2682"/>
                  </a:lnTo>
                  <a:lnTo>
                    <a:pt x="6102" y="2594"/>
                  </a:lnTo>
                  <a:lnTo>
                    <a:pt x="6067" y="2511"/>
                  </a:lnTo>
                  <a:lnTo>
                    <a:pt x="6023" y="2431"/>
                  </a:lnTo>
                  <a:lnTo>
                    <a:pt x="5971" y="2358"/>
                  </a:lnTo>
                  <a:lnTo>
                    <a:pt x="5909" y="2290"/>
                  </a:lnTo>
                  <a:lnTo>
                    <a:pt x="5842" y="2231"/>
                  </a:lnTo>
                  <a:lnTo>
                    <a:pt x="5766" y="2177"/>
                  </a:lnTo>
                  <a:lnTo>
                    <a:pt x="5685" y="2131"/>
                  </a:lnTo>
                  <a:lnTo>
                    <a:pt x="5597" y="2096"/>
                  </a:lnTo>
                  <a:lnTo>
                    <a:pt x="5312" y="1996"/>
                  </a:lnTo>
                  <a:lnTo>
                    <a:pt x="5322" y="1696"/>
                  </a:lnTo>
                  <a:lnTo>
                    <a:pt x="5330" y="1621"/>
                  </a:lnTo>
                  <a:lnTo>
                    <a:pt x="5322" y="1498"/>
                  </a:lnTo>
                  <a:lnTo>
                    <a:pt x="5303" y="1377"/>
                  </a:lnTo>
                  <a:lnTo>
                    <a:pt x="5271" y="1261"/>
                  </a:lnTo>
                  <a:lnTo>
                    <a:pt x="5229" y="1150"/>
                  </a:lnTo>
                  <a:lnTo>
                    <a:pt x="5177" y="1043"/>
                  </a:lnTo>
                  <a:lnTo>
                    <a:pt x="5116" y="944"/>
                  </a:lnTo>
                  <a:lnTo>
                    <a:pt x="5044" y="850"/>
                  </a:lnTo>
                  <a:lnTo>
                    <a:pt x="4964" y="765"/>
                  </a:lnTo>
                  <a:lnTo>
                    <a:pt x="4877" y="685"/>
                  </a:lnTo>
                  <a:lnTo>
                    <a:pt x="4783" y="616"/>
                  </a:lnTo>
                  <a:lnTo>
                    <a:pt x="4682" y="554"/>
                  </a:lnTo>
                  <a:lnTo>
                    <a:pt x="4574" y="505"/>
                  </a:lnTo>
                  <a:lnTo>
                    <a:pt x="4463" y="463"/>
                  </a:lnTo>
                  <a:lnTo>
                    <a:pt x="4345" y="433"/>
                  </a:lnTo>
                  <a:lnTo>
                    <a:pt x="4224" y="415"/>
                  </a:lnTo>
                  <a:lnTo>
                    <a:pt x="4099" y="409"/>
                  </a:lnTo>
                  <a:close/>
                  <a:moveTo>
                    <a:pt x="4099" y="0"/>
                  </a:moveTo>
                  <a:lnTo>
                    <a:pt x="4242" y="6"/>
                  </a:lnTo>
                  <a:lnTo>
                    <a:pt x="4379" y="24"/>
                  </a:lnTo>
                  <a:lnTo>
                    <a:pt x="4515" y="52"/>
                  </a:lnTo>
                  <a:lnTo>
                    <a:pt x="4644" y="91"/>
                  </a:lnTo>
                  <a:lnTo>
                    <a:pt x="4769" y="141"/>
                  </a:lnTo>
                  <a:lnTo>
                    <a:pt x="4889" y="201"/>
                  </a:lnTo>
                  <a:lnTo>
                    <a:pt x="5002" y="270"/>
                  </a:lnTo>
                  <a:lnTo>
                    <a:pt x="5110" y="348"/>
                  </a:lnTo>
                  <a:lnTo>
                    <a:pt x="5211" y="433"/>
                  </a:lnTo>
                  <a:lnTo>
                    <a:pt x="5305" y="526"/>
                  </a:lnTo>
                  <a:lnTo>
                    <a:pt x="5392" y="628"/>
                  </a:lnTo>
                  <a:lnTo>
                    <a:pt x="5470" y="735"/>
                  </a:lnTo>
                  <a:lnTo>
                    <a:pt x="5537" y="848"/>
                  </a:lnTo>
                  <a:lnTo>
                    <a:pt x="5597" y="969"/>
                  </a:lnTo>
                  <a:lnTo>
                    <a:pt x="5647" y="1095"/>
                  </a:lnTo>
                  <a:lnTo>
                    <a:pt x="5687" y="1224"/>
                  </a:lnTo>
                  <a:lnTo>
                    <a:pt x="5716" y="1357"/>
                  </a:lnTo>
                  <a:lnTo>
                    <a:pt x="5734" y="1496"/>
                  </a:lnTo>
                  <a:lnTo>
                    <a:pt x="5740" y="1637"/>
                  </a:lnTo>
                  <a:lnTo>
                    <a:pt x="5736" y="1673"/>
                  </a:lnTo>
                  <a:lnTo>
                    <a:pt x="5732" y="1710"/>
                  </a:lnTo>
                  <a:lnTo>
                    <a:pt x="5842" y="1752"/>
                  </a:lnTo>
                  <a:lnTo>
                    <a:pt x="5943" y="1806"/>
                  </a:lnTo>
                  <a:lnTo>
                    <a:pt x="6041" y="1867"/>
                  </a:lnTo>
                  <a:lnTo>
                    <a:pt x="6132" y="1939"/>
                  </a:lnTo>
                  <a:lnTo>
                    <a:pt x="6216" y="2016"/>
                  </a:lnTo>
                  <a:lnTo>
                    <a:pt x="6291" y="2104"/>
                  </a:lnTo>
                  <a:lnTo>
                    <a:pt x="6359" y="2195"/>
                  </a:lnTo>
                  <a:lnTo>
                    <a:pt x="6419" y="2294"/>
                  </a:lnTo>
                  <a:lnTo>
                    <a:pt x="6467" y="2400"/>
                  </a:lnTo>
                  <a:lnTo>
                    <a:pt x="6506" y="2509"/>
                  </a:lnTo>
                  <a:lnTo>
                    <a:pt x="6536" y="2624"/>
                  </a:lnTo>
                  <a:lnTo>
                    <a:pt x="6554" y="2743"/>
                  </a:lnTo>
                  <a:lnTo>
                    <a:pt x="6560" y="2864"/>
                  </a:lnTo>
                  <a:lnTo>
                    <a:pt x="6554" y="2990"/>
                  </a:lnTo>
                  <a:lnTo>
                    <a:pt x="6534" y="3113"/>
                  </a:lnTo>
                  <a:lnTo>
                    <a:pt x="6504" y="3230"/>
                  </a:lnTo>
                  <a:lnTo>
                    <a:pt x="6463" y="3343"/>
                  </a:lnTo>
                  <a:lnTo>
                    <a:pt x="6411" y="3450"/>
                  </a:lnTo>
                  <a:lnTo>
                    <a:pt x="6349" y="3552"/>
                  </a:lnTo>
                  <a:lnTo>
                    <a:pt x="6279" y="3645"/>
                  </a:lnTo>
                  <a:lnTo>
                    <a:pt x="6200" y="3732"/>
                  </a:lnTo>
                  <a:lnTo>
                    <a:pt x="6112" y="3812"/>
                  </a:lnTo>
                  <a:lnTo>
                    <a:pt x="6017" y="3883"/>
                  </a:lnTo>
                  <a:lnTo>
                    <a:pt x="5915" y="3945"/>
                  </a:lnTo>
                  <a:lnTo>
                    <a:pt x="5808" y="3997"/>
                  </a:lnTo>
                  <a:lnTo>
                    <a:pt x="5695" y="4036"/>
                  </a:lnTo>
                  <a:lnTo>
                    <a:pt x="5577" y="4068"/>
                  </a:lnTo>
                  <a:lnTo>
                    <a:pt x="5456" y="4086"/>
                  </a:lnTo>
                  <a:lnTo>
                    <a:pt x="5330" y="4092"/>
                  </a:lnTo>
                  <a:lnTo>
                    <a:pt x="1230" y="4092"/>
                  </a:lnTo>
                  <a:lnTo>
                    <a:pt x="1104" y="4086"/>
                  </a:lnTo>
                  <a:lnTo>
                    <a:pt x="983" y="4068"/>
                  </a:lnTo>
                  <a:lnTo>
                    <a:pt x="864" y="4036"/>
                  </a:lnTo>
                  <a:lnTo>
                    <a:pt x="752" y="3997"/>
                  </a:lnTo>
                  <a:lnTo>
                    <a:pt x="645" y="3945"/>
                  </a:lnTo>
                  <a:lnTo>
                    <a:pt x="543" y="3883"/>
                  </a:lnTo>
                  <a:lnTo>
                    <a:pt x="448" y="3812"/>
                  </a:lnTo>
                  <a:lnTo>
                    <a:pt x="360" y="3732"/>
                  </a:lnTo>
                  <a:lnTo>
                    <a:pt x="281" y="3645"/>
                  </a:lnTo>
                  <a:lnTo>
                    <a:pt x="211" y="3552"/>
                  </a:lnTo>
                  <a:lnTo>
                    <a:pt x="149" y="3450"/>
                  </a:lnTo>
                  <a:lnTo>
                    <a:pt x="97" y="3343"/>
                  </a:lnTo>
                  <a:lnTo>
                    <a:pt x="56" y="3230"/>
                  </a:lnTo>
                  <a:lnTo>
                    <a:pt x="26" y="3113"/>
                  </a:lnTo>
                  <a:lnTo>
                    <a:pt x="6" y="2990"/>
                  </a:lnTo>
                  <a:lnTo>
                    <a:pt x="0" y="2864"/>
                  </a:lnTo>
                  <a:lnTo>
                    <a:pt x="6" y="2739"/>
                  </a:lnTo>
                  <a:lnTo>
                    <a:pt x="26" y="2618"/>
                  </a:lnTo>
                  <a:lnTo>
                    <a:pt x="56" y="2499"/>
                  </a:lnTo>
                  <a:lnTo>
                    <a:pt x="97" y="2388"/>
                  </a:lnTo>
                  <a:lnTo>
                    <a:pt x="149" y="2280"/>
                  </a:lnTo>
                  <a:lnTo>
                    <a:pt x="211" y="2179"/>
                  </a:lnTo>
                  <a:lnTo>
                    <a:pt x="281" y="2084"/>
                  </a:lnTo>
                  <a:lnTo>
                    <a:pt x="360" y="1996"/>
                  </a:lnTo>
                  <a:lnTo>
                    <a:pt x="448" y="1917"/>
                  </a:lnTo>
                  <a:lnTo>
                    <a:pt x="543" y="1847"/>
                  </a:lnTo>
                  <a:lnTo>
                    <a:pt x="645" y="1786"/>
                  </a:lnTo>
                  <a:lnTo>
                    <a:pt x="752" y="1734"/>
                  </a:lnTo>
                  <a:lnTo>
                    <a:pt x="864" y="1692"/>
                  </a:lnTo>
                  <a:lnTo>
                    <a:pt x="983" y="1661"/>
                  </a:lnTo>
                  <a:lnTo>
                    <a:pt x="1104" y="1643"/>
                  </a:lnTo>
                  <a:lnTo>
                    <a:pt x="1230" y="1637"/>
                  </a:lnTo>
                  <a:lnTo>
                    <a:pt x="1267" y="1639"/>
                  </a:lnTo>
                  <a:lnTo>
                    <a:pt x="1303" y="1645"/>
                  </a:lnTo>
                  <a:lnTo>
                    <a:pt x="1347" y="1535"/>
                  </a:lnTo>
                  <a:lnTo>
                    <a:pt x="1401" y="1432"/>
                  </a:lnTo>
                  <a:lnTo>
                    <a:pt x="1462" y="1335"/>
                  </a:lnTo>
                  <a:lnTo>
                    <a:pt x="1532" y="1245"/>
                  </a:lnTo>
                  <a:lnTo>
                    <a:pt x="1612" y="1162"/>
                  </a:lnTo>
                  <a:lnTo>
                    <a:pt x="1697" y="1087"/>
                  </a:lnTo>
                  <a:lnTo>
                    <a:pt x="1791" y="1019"/>
                  </a:lnTo>
                  <a:lnTo>
                    <a:pt x="1888" y="959"/>
                  </a:lnTo>
                  <a:lnTo>
                    <a:pt x="1994" y="910"/>
                  </a:lnTo>
                  <a:lnTo>
                    <a:pt x="2103" y="870"/>
                  </a:lnTo>
                  <a:lnTo>
                    <a:pt x="2219" y="842"/>
                  </a:lnTo>
                  <a:lnTo>
                    <a:pt x="2338" y="824"/>
                  </a:lnTo>
                  <a:lnTo>
                    <a:pt x="2459" y="818"/>
                  </a:lnTo>
                  <a:lnTo>
                    <a:pt x="2533" y="820"/>
                  </a:lnTo>
                  <a:lnTo>
                    <a:pt x="2605" y="828"/>
                  </a:lnTo>
                  <a:lnTo>
                    <a:pt x="2676" y="840"/>
                  </a:lnTo>
                  <a:lnTo>
                    <a:pt x="2746" y="727"/>
                  </a:lnTo>
                  <a:lnTo>
                    <a:pt x="2821" y="622"/>
                  </a:lnTo>
                  <a:lnTo>
                    <a:pt x="2907" y="522"/>
                  </a:lnTo>
                  <a:lnTo>
                    <a:pt x="3000" y="429"/>
                  </a:lnTo>
                  <a:lnTo>
                    <a:pt x="3100" y="344"/>
                  </a:lnTo>
                  <a:lnTo>
                    <a:pt x="3207" y="268"/>
                  </a:lnTo>
                  <a:lnTo>
                    <a:pt x="3321" y="199"/>
                  </a:lnTo>
                  <a:lnTo>
                    <a:pt x="3438" y="141"/>
                  </a:lnTo>
                  <a:lnTo>
                    <a:pt x="3562" y="91"/>
                  </a:lnTo>
                  <a:lnTo>
                    <a:pt x="3691" y="52"/>
                  </a:lnTo>
                  <a:lnTo>
                    <a:pt x="3822" y="24"/>
                  </a:lnTo>
                  <a:lnTo>
                    <a:pt x="3959" y="6"/>
                  </a:lnTo>
                  <a:lnTo>
                    <a:pt x="4099" y="0"/>
                  </a:lnTo>
                  <a:close/>
                </a:path>
              </a:pathLst>
            </a:custGeom>
            <a:solidFill>
              <a:srgbClr val="66667E"/>
            </a:solidFill>
            <a:ln w="0">
              <a:noFill/>
              <a:prstDash val="solid"/>
              <a:round/>
              <a:headEnd/>
              <a:tailEnd/>
            </a:ln>
            <a:scene3d>
              <a:camera prst="perspectiveRelaxed"/>
              <a:lightRig rig="threePt" dir="t"/>
            </a:scene3d>
          </p:spPr>
          <p:txBody>
            <a:bodyPr vert="horz" wrap="square" lIns="84586" tIns="42293" rIns="84586" bIns="42293" numCol="1" anchor="t" anchorCtr="0" compatLnSpc="1">
              <a:prstTxWarp prst="textNoShape">
                <a:avLst/>
              </a:prstTxWarp>
            </a:bodyPr>
            <a:lstStyle/>
            <a:p>
              <a:pPr defTabSz="609393"/>
              <a:endParaRPr lang="en-US" sz="1665" kern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DCAA3174-AA2F-B433-6D96-CD0233845513}"/>
                </a:ext>
              </a:extLst>
            </p:cNvPr>
            <p:cNvSpPr/>
            <p:nvPr/>
          </p:nvSpPr>
          <p:spPr>
            <a:xfrm>
              <a:off x="5138742" y="1907306"/>
              <a:ext cx="504000" cy="21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dirty="0"/>
                <a:t>PLM</a:t>
              </a:r>
            </a:p>
          </p:txBody>
        </p: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EFC50032-BD50-B475-97ED-1625D1D61841}"/>
              </a:ext>
            </a:extLst>
          </p:cNvPr>
          <p:cNvGrpSpPr/>
          <p:nvPr/>
        </p:nvGrpSpPr>
        <p:grpSpPr>
          <a:xfrm>
            <a:off x="6448294" y="1655872"/>
            <a:ext cx="705928" cy="607110"/>
            <a:chOff x="6448294" y="1655872"/>
            <a:chExt cx="705928" cy="607110"/>
          </a:xfrm>
        </p:grpSpPr>
        <p:sp>
          <p:nvSpPr>
            <p:cNvPr id="330" name="Freeform 6">
              <a:extLst>
                <a:ext uri="{FF2B5EF4-FFF2-40B4-BE49-F238E27FC236}">
                  <a16:creationId xmlns:a16="http://schemas.microsoft.com/office/drawing/2014/main" id="{9D93F409-CB00-AF44-DA68-A87FD61B3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48294" y="1655872"/>
              <a:ext cx="705928" cy="607110"/>
            </a:xfrm>
            <a:custGeom>
              <a:avLst/>
              <a:gdLst>
                <a:gd name="T0" fmla="*/ 3778 w 6560"/>
                <a:gd name="T1" fmla="*/ 453 h 4092"/>
                <a:gd name="T2" fmla="*/ 3394 w 6560"/>
                <a:gd name="T3" fmla="*/ 638 h 4092"/>
                <a:gd name="T4" fmla="*/ 3092 w 6560"/>
                <a:gd name="T5" fmla="*/ 946 h 4092"/>
                <a:gd name="T6" fmla="*/ 2549 w 6560"/>
                <a:gd name="T7" fmla="*/ 1234 h 4092"/>
                <a:gd name="T8" fmla="*/ 2276 w 6560"/>
                <a:gd name="T9" fmla="*/ 1249 h 4092"/>
                <a:gd name="T10" fmla="*/ 1952 w 6560"/>
                <a:gd name="T11" fmla="*/ 1406 h 4092"/>
                <a:gd name="T12" fmla="*/ 1727 w 6560"/>
                <a:gd name="T13" fmla="*/ 1692 h 4092"/>
                <a:gd name="T14" fmla="*/ 1218 w 6560"/>
                <a:gd name="T15" fmla="*/ 2046 h 4092"/>
                <a:gd name="T16" fmla="*/ 838 w 6560"/>
                <a:gd name="T17" fmla="*/ 2145 h 4092"/>
                <a:gd name="T18" fmla="*/ 555 w 6560"/>
                <a:gd name="T19" fmla="*/ 2402 h 4092"/>
                <a:gd name="T20" fmla="*/ 416 w 6560"/>
                <a:gd name="T21" fmla="*/ 2763 h 4092"/>
                <a:gd name="T22" fmla="*/ 458 w 6560"/>
                <a:gd name="T23" fmla="*/ 3141 h 4092"/>
                <a:gd name="T24" fmla="*/ 651 w 6560"/>
                <a:gd name="T25" fmla="*/ 3442 h 4092"/>
                <a:gd name="T26" fmla="*/ 953 w 6560"/>
                <a:gd name="T27" fmla="*/ 3635 h 4092"/>
                <a:gd name="T28" fmla="*/ 5330 w 6560"/>
                <a:gd name="T29" fmla="*/ 3683 h 4092"/>
                <a:gd name="T30" fmla="*/ 5691 w 6560"/>
                <a:gd name="T31" fmla="*/ 3599 h 4092"/>
                <a:gd name="T32" fmla="*/ 5969 w 6560"/>
                <a:gd name="T33" fmla="*/ 3377 h 4092"/>
                <a:gd name="T34" fmla="*/ 6128 w 6560"/>
                <a:gd name="T35" fmla="*/ 3053 h 4092"/>
                <a:gd name="T36" fmla="*/ 6128 w 6560"/>
                <a:gd name="T37" fmla="*/ 2682 h 4092"/>
                <a:gd name="T38" fmla="*/ 5971 w 6560"/>
                <a:gd name="T39" fmla="*/ 2358 h 4092"/>
                <a:gd name="T40" fmla="*/ 5685 w 6560"/>
                <a:gd name="T41" fmla="*/ 2131 h 4092"/>
                <a:gd name="T42" fmla="*/ 5330 w 6560"/>
                <a:gd name="T43" fmla="*/ 1621 h 4092"/>
                <a:gd name="T44" fmla="*/ 5229 w 6560"/>
                <a:gd name="T45" fmla="*/ 1150 h 4092"/>
                <a:gd name="T46" fmla="*/ 4964 w 6560"/>
                <a:gd name="T47" fmla="*/ 765 h 4092"/>
                <a:gd name="T48" fmla="*/ 4574 w 6560"/>
                <a:gd name="T49" fmla="*/ 505 h 4092"/>
                <a:gd name="T50" fmla="*/ 4099 w 6560"/>
                <a:gd name="T51" fmla="*/ 409 h 4092"/>
                <a:gd name="T52" fmla="*/ 4515 w 6560"/>
                <a:gd name="T53" fmla="*/ 52 h 4092"/>
                <a:gd name="T54" fmla="*/ 5002 w 6560"/>
                <a:gd name="T55" fmla="*/ 270 h 4092"/>
                <a:gd name="T56" fmla="*/ 5392 w 6560"/>
                <a:gd name="T57" fmla="*/ 628 h 4092"/>
                <a:gd name="T58" fmla="*/ 5647 w 6560"/>
                <a:gd name="T59" fmla="*/ 1095 h 4092"/>
                <a:gd name="T60" fmla="*/ 5740 w 6560"/>
                <a:gd name="T61" fmla="*/ 1637 h 4092"/>
                <a:gd name="T62" fmla="*/ 5943 w 6560"/>
                <a:gd name="T63" fmla="*/ 1806 h 4092"/>
                <a:gd name="T64" fmla="*/ 6291 w 6560"/>
                <a:gd name="T65" fmla="*/ 2104 h 4092"/>
                <a:gd name="T66" fmla="*/ 6506 w 6560"/>
                <a:gd name="T67" fmla="*/ 2509 h 4092"/>
                <a:gd name="T68" fmla="*/ 6554 w 6560"/>
                <a:gd name="T69" fmla="*/ 2990 h 4092"/>
                <a:gd name="T70" fmla="*/ 6411 w 6560"/>
                <a:gd name="T71" fmla="*/ 3450 h 4092"/>
                <a:gd name="T72" fmla="*/ 6112 w 6560"/>
                <a:gd name="T73" fmla="*/ 3812 h 4092"/>
                <a:gd name="T74" fmla="*/ 5695 w 6560"/>
                <a:gd name="T75" fmla="*/ 4036 h 4092"/>
                <a:gd name="T76" fmla="*/ 1230 w 6560"/>
                <a:gd name="T77" fmla="*/ 4092 h 4092"/>
                <a:gd name="T78" fmla="*/ 752 w 6560"/>
                <a:gd name="T79" fmla="*/ 3997 h 4092"/>
                <a:gd name="T80" fmla="*/ 360 w 6560"/>
                <a:gd name="T81" fmla="*/ 3732 h 4092"/>
                <a:gd name="T82" fmla="*/ 97 w 6560"/>
                <a:gd name="T83" fmla="*/ 3343 h 4092"/>
                <a:gd name="T84" fmla="*/ 0 w 6560"/>
                <a:gd name="T85" fmla="*/ 2864 h 4092"/>
                <a:gd name="T86" fmla="*/ 97 w 6560"/>
                <a:gd name="T87" fmla="*/ 2388 h 4092"/>
                <a:gd name="T88" fmla="*/ 360 w 6560"/>
                <a:gd name="T89" fmla="*/ 1996 h 4092"/>
                <a:gd name="T90" fmla="*/ 752 w 6560"/>
                <a:gd name="T91" fmla="*/ 1734 h 4092"/>
                <a:gd name="T92" fmla="*/ 1230 w 6560"/>
                <a:gd name="T93" fmla="*/ 1637 h 4092"/>
                <a:gd name="T94" fmla="*/ 1401 w 6560"/>
                <a:gd name="T95" fmla="*/ 1432 h 4092"/>
                <a:gd name="T96" fmla="*/ 1697 w 6560"/>
                <a:gd name="T97" fmla="*/ 1087 h 4092"/>
                <a:gd name="T98" fmla="*/ 2103 w 6560"/>
                <a:gd name="T99" fmla="*/ 870 h 4092"/>
                <a:gd name="T100" fmla="*/ 2533 w 6560"/>
                <a:gd name="T101" fmla="*/ 820 h 4092"/>
                <a:gd name="T102" fmla="*/ 2821 w 6560"/>
                <a:gd name="T103" fmla="*/ 622 h 4092"/>
                <a:gd name="T104" fmla="*/ 3207 w 6560"/>
                <a:gd name="T105" fmla="*/ 268 h 4092"/>
                <a:gd name="T106" fmla="*/ 3691 w 6560"/>
                <a:gd name="T107" fmla="*/ 52 h 4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0" h="4092">
                  <a:moveTo>
                    <a:pt x="4099" y="409"/>
                  </a:moveTo>
                  <a:lnTo>
                    <a:pt x="3991" y="413"/>
                  </a:lnTo>
                  <a:lnTo>
                    <a:pt x="3884" y="429"/>
                  </a:lnTo>
                  <a:lnTo>
                    <a:pt x="3778" y="453"/>
                  </a:lnTo>
                  <a:lnTo>
                    <a:pt x="3677" y="487"/>
                  </a:lnTo>
                  <a:lnTo>
                    <a:pt x="3579" y="528"/>
                  </a:lnTo>
                  <a:lnTo>
                    <a:pt x="3484" y="578"/>
                  </a:lnTo>
                  <a:lnTo>
                    <a:pt x="3394" y="638"/>
                  </a:lnTo>
                  <a:lnTo>
                    <a:pt x="3309" y="703"/>
                  </a:lnTo>
                  <a:lnTo>
                    <a:pt x="3231" y="777"/>
                  </a:lnTo>
                  <a:lnTo>
                    <a:pt x="3158" y="858"/>
                  </a:lnTo>
                  <a:lnTo>
                    <a:pt x="3092" y="946"/>
                  </a:lnTo>
                  <a:lnTo>
                    <a:pt x="3032" y="1041"/>
                  </a:lnTo>
                  <a:lnTo>
                    <a:pt x="2891" y="1295"/>
                  </a:lnTo>
                  <a:lnTo>
                    <a:pt x="2603" y="1243"/>
                  </a:lnTo>
                  <a:lnTo>
                    <a:pt x="2549" y="1234"/>
                  </a:lnTo>
                  <a:lnTo>
                    <a:pt x="2501" y="1230"/>
                  </a:lnTo>
                  <a:lnTo>
                    <a:pt x="2459" y="1228"/>
                  </a:lnTo>
                  <a:lnTo>
                    <a:pt x="2368" y="1234"/>
                  </a:lnTo>
                  <a:lnTo>
                    <a:pt x="2276" y="1249"/>
                  </a:lnTo>
                  <a:lnTo>
                    <a:pt x="2189" y="1275"/>
                  </a:lnTo>
                  <a:lnTo>
                    <a:pt x="2105" y="1309"/>
                  </a:lnTo>
                  <a:lnTo>
                    <a:pt x="2026" y="1355"/>
                  </a:lnTo>
                  <a:lnTo>
                    <a:pt x="1952" y="1406"/>
                  </a:lnTo>
                  <a:lnTo>
                    <a:pt x="1886" y="1468"/>
                  </a:lnTo>
                  <a:lnTo>
                    <a:pt x="1825" y="1535"/>
                  </a:lnTo>
                  <a:lnTo>
                    <a:pt x="1771" y="1611"/>
                  </a:lnTo>
                  <a:lnTo>
                    <a:pt x="1727" y="1692"/>
                  </a:lnTo>
                  <a:lnTo>
                    <a:pt x="1691" y="1780"/>
                  </a:lnTo>
                  <a:lnTo>
                    <a:pt x="1588" y="2072"/>
                  </a:lnTo>
                  <a:lnTo>
                    <a:pt x="1275" y="2052"/>
                  </a:lnTo>
                  <a:lnTo>
                    <a:pt x="1218" y="2046"/>
                  </a:lnTo>
                  <a:lnTo>
                    <a:pt x="1116" y="2054"/>
                  </a:lnTo>
                  <a:lnTo>
                    <a:pt x="1019" y="2074"/>
                  </a:lnTo>
                  <a:lnTo>
                    <a:pt x="925" y="2106"/>
                  </a:lnTo>
                  <a:lnTo>
                    <a:pt x="838" y="2145"/>
                  </a:lnTo>
                  <a:lnTo>
                    <a:pt x="756" y="2197"/>
                  </a:lnTo>
                  <a:lnTo>
                    <a:pt x="680" y="2257"/>
                  </a:lnTo>
                  <a:lnTo>
                    <a:pt x="613" y="2326"/>
                  </a:lnTo>
                  <a:lnTo>
                    <a:pt x="555" y="2402"/>
                  </a:lnTo>
                  <a:lnTo>
                    <a:pt x="505" y="2483"/>
                  </a:lnTo>
                  <a:lnTo>
                    <a:pt x="464" y="2572"/>
                  </a:lnTo>
                  <a:lnTo>
                    <a:pt x="434" y="2666"/>
                  </a:lnTo>
                  <a:lnTo>
                    <a:pt x="416" y="2763"/>
                  </a:lnTo>
                  <a:lnTo>
                    <a:pt x="410" y="2864"/>
                  </a:lnTo>
                  <a:lnTo>
                    <a:pt x="416" y="2960"/>
                  </a:lnTo>
                  <a:lnTo>
                    <a:pt x="432" y="3053"/>
                  </a:lnTo>
                  <a:lnTo>
                    <a:pt x="458" y="3141"/>
                  </a:lnTo>
                  <a:lnTo>
                    <a:pt x="493" y="3224"/>
                  </a:lnTo>
                  <a:lnTo>
                    <a:pt x="537" y="3303"/>
                  </a:lnTo>
                  <a:lnTo>
                    <a:pt x="591" y="3377"/>
                  </a:lnTo>
                  <a:lnTo>
                    <a:pt x="651" y="3442"/>
                  </a:lnTo>
                  <a:lnTo>
                    <a:pt x="718" y="3504"/>
                  </a:lnTo>
                  <a:lnTo>
                    <a:pt x="790" y="3556"/>
                  </a:lnTo>
                  <a:lnTo>
                    <a:pt x="869" y="3599"/>
                  </a:lnTo>
                  <a:lnTo>
                    <a:pt x="953" y="3635"/>
                  </a:lnTo>
                  <a:lnTo>
                    <a:pt x="1043" y="3661"/>
                  </a:lnTo>
                  <a:lnTo>
                    <a:pt x="1134" y="3677"/>
                  </a:lnTo>
                  <a:lnTo>
                    <a:pt x="1230" y="3683"/>
                  </a:lnTo>
                  <a:lnTo>
                    <a:pt x="5330" y="3683"/>
                  </a:lnTo>
                  <a:lnTo>
                    <a:pt x="5426" y="3677"/>
                  </a:lnTo>
                  <a:lnTo>
                    <a:pt x="5517" y="3661"/>
                  </a:lnTo>
                  <a:lnTo>
                    <a:pt x="5607" y="3635"/>
                  </a:lnTo>
                  <a:lnTo>
                    <a:pt x="5691" y="3599"/>
                  </a:lnTo>
                  <a:lnTo>
                    <a:pt x="5768" y="3556"/>
                  </a:lnTo>
                  <a:lnTo>
                    <a:pt x="5842" y="3504"/>
                  </a:lnTo>
                  <a:lnTo>
                    <a:pt x="5909" y="3442"/>
                  </a:lnTo>
                  <a:lnTo>
                    <a:pt x="5969" y="3377"/>
                  </a:lnTo>
                  <a:lnTo>
                    <a:pt x="6023" y="3303"/>
                  </a:lnTo>
                  <a:lnTo>
                    <a:pt x="6067" y="3224"/>
                  </a:lnTo>
                  <a:lnTo>
                    <a:pt x="6102" y="3141"/>
                  </a:lnTo>
                  <a:lnTo>
                    <a:pt x="6128" y="3053"/>
                  </a:lnTo>
                  <a:lnTo>
                    <a:pt x="6144" y="2960"/>
                  </a:lnTo>
                  <a:lnTo>
                    <a:pt x="6150" y="2864"/>
                  </a:lnTo>
                  <a:lnTo>
                    <a:pt x="6144" y="2771"/>
                  </a:lnTo>
                  <a:lnTo>
                    <a:pt x="6128" y="2682"/>
                  </a:lnTo>
                  <a:lnTo>
                    <a:pt x="6102" y="2594"/>
                  </a:lnTo>
                  <a:lnTo>
                    <a:pt x="6067" y="2511"/>
                  </a:lnTo>
                  <a:lnTo>
                    <a:pt x="6023" y="2431"/>
                  </a:lnTo>
                  <a:lnTo>
                    <a:pt x="5971" y="2358"/>
                  </a:lnTo>
                  <a:lnTo>
                    <a:pt x="5909" y="2290"/>
                  </a:lnTo>
                  <a:lnTo>
                    <a:pt x="5842" y="2231"/>
                  </a:lnTo>
                  <a:lnTo>
                    <a:pt x="5766" y="2177"/>
                  </a:lnTo>
                  <a:lnTo>
                    <a:pt x="5685" y="2131"/>
                  </a:lnTo>
                  <a:lnTo>
                    <a:pt x="5597" y="2096"/>
                  </a:lnTo>
                  <a:lnTo>
                    <a:pt x="5312" y="1996"/>
                  </a:lnTo>
                  <a:lnTo>
                    <a:pt x="5322" y="1696"/>
                  </a:lnTo>
                  <a:lnTo>
                    <a:pt x="5330" y="1621"/>
                  </a:lnTo>
                  <a:lnTo>
                    <a:pt x="5322" y="1498"/>
                  </a:lnTo>
                  <a:lnTo>
                    <a:pt x="5303" y="1377"/>
                  </a:lnTo>
                  <a:lnTo>
                    <a:pt x="5271" y="1261"/>
                  </a:lnTo>
                  <a:lnTo>
                    <a:pt x="5229" y="1150"/>
                  </a:lnTo>
                  <a:lnTo>
                    <a:pt x="5177" y="1043"/>
                  </a:lnTo>
                  <a:lnTo>
                    <a:pt x="5116" y="944"/>
                  </a:lnTo>
                  <a:lnTo>
                    <a:pt x="5044" y="850"/>
                  </a:lnTo>
                  <a:lnTo>
                    <a:pt x="4964" y="765"/>
                  </a:lnTo>
                  <a:lnTo>
                    <a:pt x="4877" y="685"/>
                  </a:lnTo>
                  <a:lnTo>
                    <a:pt x="4783" y="616"/>
                  </a:lnTo>
                  <a:lnTo>
                    <a:pt x="4682" y="554"/>
                  </a:lnTo>
                  <a:lnTo>
                    <a:pt x="4574" y="505"/>
                  </a:lnTo>
                  <a:lnTo>
                    <a:pt x="4463" y="463"/>
                  </a:lnTo>
                  <a:lnTo>
                    <a:pt x="4345" y="433"/>
                  </a:lnTo>
                  <a:lnTo>
                    <a:pt x="4224" y="415"/>
                  </a:lnTo>
                  <a:lnTo>
                    <a:pt x="4099" y="409"/>
                  </a:lnTo>
                  <a:close/>
                  <a:moveTo>
                    <a:pt x="4099" y="0"/>
                  </a:moveTo>
                  <a:lnTo>
                    <a:pt x="4242" y="6"/>
                  </a:lnTo>
                  <a:lnTo>
                    <a:pt x="4379" y="24"/>
                  </a:lnTo>
                  <a:lnTo>
                    <a:pt x="4515" y="52"/>
                  </a:lnTo>
                  <a:lnTo>
                    <a:pt x="4644" y="91"/>
                  </a:lnTo>
                  <a:lnTo>
                    <a:pt x="4769" y="141"/>
                  </a:lnTo>
                  <a:lnTo>
                    <a:pt x="4889" y="201"/>
                  </a:lnTo>
                  <a:lnTo>
                    <a:pt x="5002" y="270"/>
                  </a:lnTo>
                  <a:lnTo>
                    <a:pt x="5110" y="348"/>
                  </a:lnTo>
                  <a:lnTo>
                    <a:pt x="5211" y="433"/>
                  </a:lnTo>
                  <a:lnTo>
                    <a:pt x="5305" y="526"/>
                  </a:lnTo>
                  <a:lnTo>
                    <a:pt x="5392" y="628"/>
                  </a:lnTo>
                  <a:lnTo>
                    <a:pt x="5470" y="735"/>
                  </a:lnTo>
                  <a:lnTo>
                    <a:pt x="5537" y="848"/>
                  </a:lnTo>
                  <a:lnTo>
                    <a:pt x="5597" y="969"/>
                  </a:lnTo>
                  <a:lnTo>
                    <a:pt x="5647" y="1095"/>
                  </a:lnTo>
                  <a:lnTo>
                    <a:pt x="5687" y="1224"/>
                  </a:lnTo>
                  <a:lnTo>
                    <a:pt x="5716" y="1357"/>
                  </a:lnTo>
                  <a:lnTo>
                    <a:pt x="5734" y="1496"/>
                  </a:lnTo>
                  <a:lnTo>
                    <a:pt x="5740" y="1637"/>
                  </a:lnTo>
                  <a:lnTo>
                    <a:pt x="5736" y="1673"/>
                  </a:lnTo>
                  <a:lnTo>
                    <a:pt x="5732" y="1710"/>
                  </a:lnTo>
                  <a:lnTo>
                    <a:pt x="5842" y="1752"/>
                  </a:lnTo>
                  <a:lnTo>
                    <a:pt x="5943" y="1806"/>
                  </a:lnTo>
                  <a:lnTo>
                    <a:pt x="6041" y="1867"/>
                  </a:lnTo>
                  <a:lnTo>
                    <a:pt x="6132" y="1939"/>
                  </a:lnTo>
                  <a:lnTo>
                    <a:pt x="6216" y="2016"/>
                  </a:lnTo>
                  <a:lnTo>
                    <a:pt x="6291" y="2104"/>
                  </a:lnTo>
                  <a:lnTo>
                    <a:pt x="6359" y="2195"/>
                  </a:lnTo>
                  <a:lnTo>
                    <a:pt x="6419" y="2294"/>
                  </a:lnTo>
                  <a:lnTo>
                    <a:pt x="6467" y="2400"/>
                  </a:lnTo>
                  <a:lnTo>
                    <a:pt x="6506" y="2509"/>
                  </a:lnTo>
                  <a:lnTo>
                    <a:pt x="6536" y="2624"/>
                  </a:lnTo>
                  <a:lnTo>
                    <a:pt x="6554" y="2743"/>
                  </a:lnTo>
                  <a:lnTo>
                    <a:pt x="6560" y="2864"/>
                  </a:lnTo>
                  <a:lnTo>
                    <a:pt x="6554" y="2990"/>
                  </a:lnTo>
                  <a:lnTo>
                    <a:pt x="6534" y="3113"/>
                  </a:lnTo>
                  <a:lnTo>
                    <a:pt x="6504" y="3230"/>
                  </a:lnTo>
                  <a:lnTo>
                    <a:pt x="6463" y="3343"/>
                  </a:lnTo>
                  <a:lnTo>
                    <a:pt x="6411" y="3450"/>
                  </a:lnTo>
                  <a:lnTo>
                    <a:pt x="6349" y="3552"/>
                  </a:lnTo>
                  <a:lnTo>
                    <a:pt x="6279" y="3645"/>
                  </a:lnTo>
                  <a:lnTo>
                    <a:pt x="6200" y="3732"/>
                  </a:lnTo>
                  <a:lnTo>
                    <a:pt x="6112" y="3812"/>
                  </a:lnTo>
                  <a:lnTo>
                    <a:pt x="6017" y="3883"/>
                  </a:lnTo>
                  <a:lnTo>
                    <a:pt x="5915" y="3945"/>
                  </a:lnTo>
                  <a:lnTo>
                    <a:pt x="5808" y="3997"/>
                  </a:lnTo>
                  <a:lnTo>
                    <a:pt x="5695" y="4036"/>
                  </a:lnTo>
                  <a:lnTo>
                    <a:pt x="5577" y="4068"/>
                  </a:lnTo>
                  <a:lnTo>
                    <a:pt x="5456" y="4086"/>
                  </a:lnTo>
                  <a:lnTo>
                    <a:pt x="5330" y="4092"/>
                  </a:lnTo>
                  <a:lnTo>
                    <a:pt x="1230" y="4092"/>
                  </a:lnTo>
                  <a:lnTo>
                    <a:pt x="1104" y="4086"/>
                  </a:lnTo>
                  <a:lnTo>
                    <a:pt x="983" y="4068"/>
                  </a:lnTo>
                  <a:lnTo>
                    <a:pt x="864" y="4036"/>
                  </a:lnTo>
                  <a:lnTo>
                    <a:pt x="752" y="3997"/>
                  </a:lnTo>
                  <a:lnTo>
                    <a:pt x="645" y="3945"/>
                  </a:lnTo>
                  <a:lnTo>
                    <a:pt x="543" y="3883"/>
                  </a:lnTo>
                  <a:lnTo>
                    <a:pt x="448" y="3812"/>
                  </a:lnTo>
                  <a:lnTo>
                    <a:pt x="360" y="3732"/>
                  </a:lnTo>
                  <a:lnTo>
                    <a:pt x="281" y="3645"/>
                  </a:lnTo>
                  <a:lnTo>
                    <a:pt x="211" y="3552"/>
                  </a:lnTo>
                  <a:lnTo>
                    <a:pt x="149" y="3450"/>
                  </a:lnTo>
                  <a:lnTo>
                    <a:pt x="97" y="3343"/>
                  </a:lnTo>
                  <a:lnTo>
                    <a:pt x="56" y="3230"/>
                  </a:lnTo>
                  <a:lnTo>
                    <a:pt x="26" y="3113"/>
                  </a:lnTo>
                  <a:lnTo>
                    <a:pt x="6" y="2990"/>
                  </a:lnTo>
                  <a:lnTo>
                    <a:pt x="0" y="2864"/>
                  </a:lnTo>
                  <a:lnTo>
                    <a:pt x="6" y="2739"/>
                  </a:lnTo>
                  <a:lnTo>
                    <a:pt x="26" y="2618"/>
                  </a:lnTo>
                  <a:lnTo>
                    <a:pt x="56" y="2499"/>
                  </a:lnTo>
                  <a:lnTo>
                    <a:pt x="97" y="2388"/>
                  </a:lnTo>
                  <a:lnTo>
                    <a:pt x="149" y="2280"/>
                  </a:lnTo>
                  <a:lnTo>
                    <a:pt x="211" y="2179"/>
                  </a:lnTo>
                  <a:lnTo>
                    <a:pt x="281" y="2084"/>
                  </a:lnTo>
                  <a:lnTo>
                    <a:pt x="360" y="1996"/>
                  </a:lnTo>
                  <a:lnTo>
                    <a:pt x="448" y="1917"/>
                  </a:lnTo>
                  <a:lnTo>
                    <a:pt x="543" y="1847"/>
                  </a:lnTo>
                  <a:lnTo>
                    <a:pt x="645" y="1786"/>
                  </a:lnTo>
                  <a:lnTo>
                    <a:pt x="752" y="1734"/>
                  </a:lnTo>
                  <a:lnTo>
                    <a:pt x="864" y="1692"/>
                  </a:lnTo>
                  <a:lnTo>
                    <a:pt x="983" y="1661"/>
                  </a:lnTo>
                  <a:lnTo>
                    <a:pt x="1104" y="1643"/>
                  </a:lnTo>
                  <a:lnTo>
                    <a:pt x="1230" y="1637"/>
                  </a:lnTo>
                  <a:lnTo>
                    <a:pt x="1267" y="1639"/>
                  </a:lnTo>
                  <a:lnTo>
                    <a:pt x="1303" y="1645"/>
                  </a:lnTo>
                  <a:lnTo>
                    <a:pt x="1347" y="1535"/>
                  </a:lnTo>
                  <a:lnTo>
                    <a:pt x="1401" y="1432"/>
                  </a:lnTo>
                  <a:lnTo>
                    <a:pt x="1462" y="1335"/>
                  </a:lnTo>
                  <a:lnTo>
                    <a:pt x="1532" y="1245"/>
                  </a:lnTo>
                  <a:lnTo>
                    <a:pt x="1612" y="1162"/>
                  </a:lnTo>
                  <a:lnTo>
                    <a:pt x="1697" y="1087"/>
                  </a:lnTo>
                  <a:lnTo>
                    <a:pt x="1791" y="1019"/>
                  </a:lnTo>
                  <a:lnTo>
                    <a:pt x="1888" y="959"/>
                  </a:lnTo>
                  <a:lnTo>
                    <a:pt x="1994" y="910"/>
                  </a:lnTo>
                  <a:lnTo>
                    <a:pt x="2103" y="870"/>
                  </a:lnTo>
                  <a:lnTo>
                    <a:pt x="2219" y="842"/>
                  </a:lnTo>
                  <a:lnTo>
                    <a:pt x="2338" y="824"/>
                  </a:lnTo>
                  <a:lnTo>
                    <a:pt x="2459" y="818"/>
                  </a:lnTo>
                  <a:lnTo>
                    <a:pt x="2533" y="820"/>
                  </a:lnTo>
                  <a:lnTo>
                    <a:pt x="2605" y="828"/>
                  </a:lnTo>
                  <a:lnTo>
                    <a:pt x="2676" y="840"/>
                  </a:lnTo>
                  <a:lnTo>
                    <a:pt x="2746" y="727"/>
                  </a:lnTo>
                  <a:lnTo>
                    <a:pt x="2821" y="622"/>
                  </a:lnTo>
                  <a:lnTo>
                    <a:pt x="2907" y="522"/>
                  </a:lnTo>
                  <a:lnTo>
                    <a:pt x="3000" y="429"/>
                  </a:lnTo>
                  <a:lnTo>
                    <a:pt x="3100" y="344"/>
                  </a:lnTo>
                  <a:lnTo>
                    <a:pt x="3207" y="268"/>
                  </a:lnTo>
                  <a:lnTo>
                    <a:pt x="3321" y="199"/>
                  </a:lnTo>
                  <a:lnTo>
                    <a:pt x="3438" y="141"/>
                  </a:lnTo>
                  <a:lnTo>
                    <a:pt x="3562" y="91"/>
                  </a:lnTo>
                  <a:lnTo>
                    <a:pt x="3691" y="52"/>
                  </a:lnTo>
                  <a:lnTo>
                    <a:pt x="3822" y="24"/>
                  </a:lnTo>
                  <a:lnTo>
                    <a:pt x="3959" y="6"/>
                  </a:lnTo>
                  <a:lnTo>
                    <a:pt x="4099" y="0"/>
                  </a:lnTo>
                  <a:close/>
                </a:path>
              </a:pathLst>
            </a:custGeom>
            <a:solidFill>
              <a:srgbClr val="66667E"/>
            </a:solidFill>
            <a:ln w="0">
              <a:noFill/>
              <a:prstDash val="solid"/>
              <a:round/>
              <a:headEnd/>
              <a:tailEnd/>
            </a:ln>
            <a:scene3d>
              <a:camera prst="perspectiveRelaxed"/>
              <a:lightRig rig="threePt" dir="t"/>
            </a:scene3d>
          </p:spPr>
          <p:txBody>
            <a:bodyPr vert="horz" wrap="square" lIns="84586" tIns="42293" rIns="84586" bIns="42293" numCol="1" anchor="t" anchorCtr="0" compatLnSpc="1">
              <a:prstTxWarp prst="textNoShape">
                <a:avLst/>
              </a:prstTxWarp>
            </a:bodyPr>
            <a:lstStyle/>
            <a:p>
              <a:pPr defTabSz="609393"/>
              <a:endParaRPr lang="en-US" sz="1665" kern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57F28B7-206C-D0EE-81FC-749CA99D1C63}"/>
                </a:ext>
              </a:extLst>
            </p:cNvPr>
            <p:cNvSpPr/>
            <p:nvPr/>
          </p:nvSpPr>
          <p:spPr>
            <a:xfrm>
              <a:off x="6549258" y="1907306"/>
              <a:ext cx="504000" cy="21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/>
                <a:t>IEE</a:t>
              </a:r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F3074EDA-C63F-3915-E7D3-2B93B539D788}"/>
              </a:ext>
            </a:extLst>
          </p:cNvPr>
          <p:cNvSpPr/>
          <p:nvPr/>
        </p:nvSpPr>
        <p:spPr>
          <a:xfrm>
            <a:off x="7140342" y="2429201"/>
            <a:ext cx="504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/>
              <a:t>AWS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3362ED2-3F93-D2D1-46FF-497DB4FA996D}"/>
              </a:ext>
            </a:extLst>
          </p:cNvPr>
          <p:cNvSpPr/>
          <p:nvPr/>
        </p:nvSpPr>
        <p:spPr>
          <a:xfrm>
            <a:off x="5376001" y="2780928"/>
            <a:ext cx="144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LDF Data Platform</a:t>
            </a:r>
          </a:p>
        </p:txBody>
      </p:sp>
      <p:pic>
        <p:nvPicPr>
          <p:cNvPr id="487" name="Grafik 486" descr="Server Silhouette">
            <a:extLst>
              <a:ext uri="{FF2B5EF4-FFF2-40B4-BE49-F238E27FC236}">
                <a16:creationId xmlns:a16="http://schemas.microsoft.com/office/drawing/2014/main" id="{9384ACE8-D44A-8C99-0D1B-3D3D65C130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67848" y="4005104"/>
            <a:ext cx="360000" cy="360000"/>
          </a:xfrm>
          <a:prstGeom prst="rect">
            <a:avLst/>
          </a:prstGeom>
        </p:spPr>
      </p:pic>
      <p:sp>
        <p:nvSpPr>
          <p:cNvPr id="488" name="Rechteck 487">
            <a:extLst>
              <a:ext uri="{FF2B5EF4-FFF2-40B4-BE49-F238E27FC236}">
                <a16:creationId xmlns:a16="http://schemas.microsoft.com/office/drawing/2014/main" id="{C628100A-BC72-4FA3-310B-2E6DB5902C0B}"/>
              </a:ext>
            </a:extLst>
          </p:cNvPr>
          <p:cNvSpPr/>
          <p:nvPr/>
        </p:nvSpPr>
        <p:spPr>
          <a:xfrm>
            <a:off x="4727384" y="4005104"/>
            <a:ext cx="1080584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 anchorCtr="0"/>
          <a:lstStyle/>
          <a:p>
            <a:r>
              <a:rPr lang="en-US" sz="800"/>
              <a:t>Local Data Center</a:t>
            </a:r>
          </a:p>
        </p:txBody>
      </p:sp>
      <p:cxnSp>
        <p:nvCxnSpPr>
          <p:cNvPr id="489" name="Gerader Verbinder 488">
            <a:extLst>
              <a:ext uri="{FF2B5EF4-FFF2-40B4-BE49-F238E27FC236}">
                <a16:creationId xmlns:a16="http://schemas.microsoft.com/office/drawing/2014/main" id="{6982CE2B-BEAC-D21E-9508-73A309934C85}"/>
              </a:ext>
            </a:extLst>
          </p:cNvPr>
          <p:cNvCxnSpPr>
            <a:cxnSpLocks/>
          </p:cNvCxnSpPr>
          <p:nvPr/>
        </p:nvCxnSpPr>
        <p:spPr>
          <a:xfrm flipH="1">
            <a:off x="4704527" y="4296195"/>
            <a:ext cx="13905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Rechteck 12">
            <a:extLst>
              <a:ext uri="{FF2B5EF4-FFF2-40B4-BE49-F238E27FC236}">
                <a16:creationId xmlns:a16="http://schemas.microsoft.com/office/drawing/2014/main" id="{BE1FC620-8A6E-1EB3-4BAE-9032A10E1C7B}"/>
              </a:ext>
            </a:extLst>
          </p:cNvPr>
          <p:cNvSpPr/>
          <p:nvPr/>
        </p:nvSpPr>
        <p:spPr>
          <a:xfrm>
            <a:off x="5829827" y="1633164"/>
            <a:ext cx="553875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 err="1"/>
              <a:t>GenAI</a:t>
            </a:r>
            <a:endParaRPr lang="en-US" sz="800" dirty="0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2AF7AC04-61A0-CAE1-2524-F296514EDE6C}"/>
              </a:ext>
            </a:extLst>
          </p:cNvPr>
          <p:cNvSpPr>
            <a:spLocks noEditPoints="1"/>
          </p:cNvSpPr>
          <p:nvPr/>
        </p:nvSpPr>
        <p:spPr bwMode="auto">
          <a:xfrm>
            <a:off x="5753800" y="1381730"/>
            <a:ext cx="705928" cy="607110"/>
          </a:xfrm>
          <a:custGeom>
            <a:avLst/>
            <a:gdLst>
              <a:gd name="T0" fmla="*/ 3778 w 6560"/>
              <a:gd name="T1" fmla="*/ 453 h 4092"/>
              <a:gd name="T2" fmla="*/ 3394 w 6560"/>
              <a:gd name="T3" fmla="*/ 638 h 4092"/>
              <a:gd name="T4" fmla="*/ 3092 w 6560"/>
              <a:gd name="T5" fmla="*/ 946 h 4092"/>
              <a:gd name="T6" fmla="*/ 2549 w 6560"/>
              <a:gd name="T7" fmla="*/ 1234 h 4092"/>
              <a:gd name="T8" fmla="*/ 2276 w 6560"/>
              <a:gd name="T9" fmla="*/ 1249 h 4092"/>
              <a:gd name="T10" fmla="*/ 1952 w 6560"/>
              <a:gd name="T11" fmla="*/ 1406 h 4092"/>
              <a:gd name="T12" fmla="*/ 1727 w 6560"/>
              <a:gd name="T13" fmla="*/ 1692 h 4092"/>
              <a:gd name="T14" fmla="*/ 1218 w 6560"/>
              <a:gd name="T15" fmla="*/ 2046 h 4092"/>
              <a:gd name="T16" fmla="*/ 838 w 6560"/>
              <a:gd name="T17" fmla="*/ 2145 h 4092"/>
              <a:gd name="T18" fmla="*/ 555 w 6560"/>
              <a:gd name="T19" fmla="*/ 2402 h 4092"/>
              <a:gd name="T20" fmla="*/ 416 w 6560"/>
              <a:gd name="T21" fmla="*/ 2763 h 4092"/>
              <a:gd name="T22" fmla="*/ 458 w 6560"/>
              <a:gd name="T23" fmla="*/ 3141 h 4092"/>
              <a:gd name="T24" fmla="*/ 651 w 6560"/>
              <a:gd name="T25" fmla="*/ 3442 h 4092"/>
              <a:gd name="T26" fmla="*/ 953 w 6560"/>
              <a:gd name="T27" fmla="*/ 3635 h 4092"/>
              <a:gd name="T28" fmla="*/ 5330 w 6560"/>
              <a:gd name="T29" fmla="*/ 3683 h 4092"/>
              <a:gd name="T30" fmla="*/ 5691 w 6560"/>
              <a:gd name="T31" fmla="*/ 3599 h 4092"/>
              <a:gd name="T32" fmla="*/ 5969 w 6560"/>
              <a:gd name="T33" fmla="*/ 3377 h 4092"/>
              <a:gd name="T34" fmla="*/ 6128 w 6560"/>
              <a:gd name="T35" fmla="*/ 3053 h 4092"/>
              <a:gd name="T36" fmla="*/ 6128 w 6560"/>
              <a:gd name="T37" fmla="*/ 2682 h 4092"/>
              <a:gd name="T38" fmla="*/ 5971 w 6560"/>
              <a:gd name="T39" fmla="*/ 2358 h 4092"/>
              <a:gd name="T40" fmla="*/ 5685 w 6560"/>
              <a:gd name="T41" fmla="*/ 2131 h 4092"/>
              <a:gd name="T42" fmla="*/ 5330 w 6560"/>
              <a:gd name="T43" fmla="*/ 1621 h 4092"/>
              <a:gd name="T44" fmla="*/ 5229 w 6560"/>
              <a:gd name="T45" fmla="*/ 1150 h 4092"/>
              <a:gd name="T46" fmla="*/ 4964 w 6560"/>
              <a:gd name="T47" fmla="*/ 765 h 4092"/>
              <a:gd name="T48" fmla="*/ 4574 w 6560"/>
              <a:gd name="T49" fmla="*/ 505 h 4092"/>
              <a:gd name="T50" fmla="*/ 4099 w 6560"/>
              <a:gd name="T51" fmla="*/ 409 h 4092"/>
              <a:gd name="T52" fmla="*/ 4515 w 6560"/>
              <a:gd name="T53" fmla="*/ 52 h 4092"/>
              <a:gd name="T54" fmla="*/ 5002 w 6560"/>
              <a:gd name="T55" fmla="*/ 270 h 4092"/>
              <a:gd name="T56" fmla="*/ 5392 w 6560"/>
              <a:gd name="T57" fmla="*/ 628 h 4092"/>
              <a:gd name="T58" fmla="*/ 5647 w 6560"/>
              <a:gd name="T59" fmla="*/ 1095 h 4092"/>
              <a:gd name="T60" fmla="*/ 5740 w 6560"/>
              <a:gd name="T61" fmla="*/ 1637 h 4092"/>
              <a:gd name="T62" fmla="*/ 5943 w 6560"/>
              <a:gd name="T63" fmla="*/ 1806 h 4092"/>
              <a:gd name="T64" fmla="*/ 6291 w 6560"/>
              <a:gd name="T65" fmla="*/ 2104 h 4092"/>
              <a:gd name="T66" fmla="*/ 6506 w 6560"/>
              <a:gd name="T67" fmla="*/ 2509 h 4092"/>
              <a:gd name="T68" fmla="*/ 6554 w 6560"/>
              <a:gd name="T69" fmla="*/ 2990 h 4092"/>
              <a:gd name="T70" fmla="*/ 6411 w 6560"/>
              <a:gd name="T71" fmla="*/ 3450 h 4092"/>
              <a:gd name="T72" fmla="*/ 6112 w 6560"/>
              <a:gd name="T73" fmla="*/ 3812 h 4092"/>
              <a:gd name="T74" fmla="*/ 5695 w 6560"/>
              <a:gd name="T75" fmla="*/ 4036 h 4092"/>
              <a:gd name="T76" fmla="*/ 1230 w 6560"/>
              <a:gd name="T77" fmla="*/ 4092 h 4092"/>
              <a:gd name="T78" fmla="*/ 752 w 6560"/>
              <a:gd name="T79" fmla="*/ 3997 h 4092"/>
              <a:gd name="T80" fmla="*/ 360 w 6560"/>
              <a:gd name="T81" fmla="*/ 3732 h 4092"/>
              <a:gd name="T82" fmla="*/ 97 w 6560"/>
              <a:gd name="T83" fmla="*/ 3343 h 4092"/>
              <a:gd name="T84" fmla="*/ 0 w 6560"/>
              <a:gd name="T85" fmla="*/ 2864 h 4092"/>
              <a:gd name="T86" fmla="*/ 97 w 6560"/>
              <a:gd name="T87" fmla="*/ 2388 h 4092"/>
              <a:gd name="T88" fmla="*/ 360 w 6560"/>
              <a:gd name="T89" fmla="*/ 1996 h 4092"/>
              <a:gd name="T90" fmla="*/ 752 w 6560"/>
              <a:gd name="T91" fmla="*/ 1734 h 4092"/>
              <a:gd name="T92" fmla="*/ 1230 w 6560"/>
              <a:gd name="T93" fmla="*/ 1637 h 4092"/>
              <a:gd name="T94" fmla="*/ 1401 w 6560"/>
              <a:gd name="T95" fmla="*/ 1432 h 4092"/>
              <a:gd name="T96" fmla="*/ 1697 w 6560"/>
              <a:gd name="T97" fmla="*/ 1087 h 4092"/>
              <a:gd name="T98" fmla="*/ 2103 w 6560"/>
              <a:gd name="T99" fmla="*/ 870 h 4092"/>
              <a:gd name="T100" fmla="*/ 2533 w 6560"/>
              <a:gd name="T101" fmla="*/ 820 h 4092"/>
              <a:gd name="T102" fmla="*/ 2821 w 6560"/>
              <a:gd name="T103" fmla="*/ 622 h 4092"/>
              <a:gd name="T104" fmla="*/ 3207 w 6560"/>
              <a:gd name="T105" fmla="*/ 268 h 4092"/>
              <a:gd name="T106" fmla="*/ 3691 w 6560"/>
              <a:gd name="T107" fmla="*/ 52 h 4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560" h="4092">
                <a:moveTo>
                  <a:pt x="4099" y="409"/>
                </a:moveTo>
                <a:lnTo>
                  <a:pt x="3991" y="413"/>
                </a:lnTo>
                <a:lnTo>
                  <a:pt x="3884" y="429"/>
                </a:lnTo>
                <a:lnTo>
                  <a:pt x="3778" y="453"/>
                </a:lnTo>
                <a:lnTo>
                  <a:pt x="3677" y="487"/>
                </a:lnTo>
                <a:lnTo>
                  <a:pt x="3579" y="528"/>
                </a:lnTo>
                <a:lnTo>
                  <a:pt x="3484" y="578"/>
                </a:lnTo>
                <a:lnTo>
                  <a:pt x="3394" y="638"/>
                </a:lnTo>
                <a:lnTo>
                  <a:pt x="3309" y="703"/>
                </a:lnTo>
                <a:lnTo>
                  <a:pt x="3231" y="777"/>
                </a:lnTo>
                <a:lnTo>
                  <a:pt x="3158" y="858"/>
                </a:lnTo>
                <a:lnTo>
                  <a:pt x="3092" y="946"/>
                </a:lnTo>
                <a:lnTo>
                  <a:pt x="3032" y="1041"/>
                </a:lnTo>
                <a:lnTo>
                  <a:pt x="2891" y="1295"/>
                </a:lnTo>
                <a:lnTo>
                  <a:pt x="2603" y="1243"/>
                </a:lnTo>
                <a:lnTo>
                  <a:pt x="2549" y="1234"/>
                </a:lnTo>
                <a:lnTo>
                  <a:pt x="2501" y="1230"/>
                </a:lnTo>
                <a:lnTo>
                  <a:pt x="2459" y="1228"/>
                </a:lnTo>
                <a:lnTo>
                  <a:pt x="2368" y="1234"/>
                </a:lnTo>
                <a:lnTo>
                  <a:pt x="2276" y="1249"/>
                </a:lnTo>
                <a:lnTo>
                  <a:pt x="2189" y="1275"/>
                </a:lnTo>
                <a:lnTo>
                  <a:pt x="2105" y="1309"/>
                </a:lnTo>
                <a:lnTo>
                  <a:pt x="2026" y="1355"/>
                </a:lnTo>
                <a:lnTo>
                  <a:pt x="1952" y="1406"/>
                </a:lnTo>
                <a:lnTo>
                  <a:pt x="1886" y="1468"/>
                </a:lnTo>
                <a:lnTo>
                  <a:pt x="1825" y="1535"/>
                </a:lnTo>
                <a:lnTo>
                  <a:pt x="1771" y="1611"/>
                </a:lnTo>
                <a:lnTo>
                  <a:pt x="1727" y="1692"/>
                </a:lnTo>
                <a:lnTo>
                  <a:pt x="1691" y="1780"/>
                </a:lnTo>
                <a:lnTo>
                  <a:pt x="1588" y="2072"/>
                </a:lnTo>
                <a:lnTo>
                  <a:pt x="1275" y="2052"/>
                </a:lnTo>
                <a:lnTo>
                  <a:pt x="1218" y="2046"/>
                </a:lnTo>
                <a:lnTo>
                  <a:pt x="1116" y="2054"/>
                </a:lnTo>
                <a:lnTo>
                  <a:pt x="1019" y="2074"/>
                </a:lnTo>
                <a:lnTo>
                  <a:pt x="925" y="2106"/>
                </a:lnTo>
                <a:lnTo>
                  <a:pt x="838" y="2145"/>
                </a:lnTo>
                <a:lnTo>
                  <a:pt x="756" y="2197"/>
                </a:lnTo>
                <a:lnTo>
                  <a:pt x="680" y="2257"/>
                </a:lnTo>
                <a:lnTo>
                  <a:pt x="613" y="2326"/>
                </a:lnTo>
                <a:lnTo>
                  <a:pt x="555" y="2402"/>
                </a:lnTo>
                <a:lnTo>
                  <a:pt x="505" y="2483"/>
                </a:lnTo>
                <a:lnTo>
                  <a:pt x="464" y="2572"/>
                </a:lnTo>
                <a:lnTo>
                  <a:pt x="434" y="2666"/>
                </a:lnTo>
                <a:lnTo>
                  <a:pt x="416" y="2763"/>
                </a:lnTo>
                <a:lnTo>
                  <a:pt x="410" y="2864"/>
                </a:lnTo>
                <a:lnTo>
                  <a:pt x="416" y="2960"/>
                </a:lnTo>
                <a:lnTo>
                  <a:pt x="432" y="3053"/>
                </a:lnTo>
                <a:lnTo>
                  <a:pt x="458" y="3141"/>
                </a:lnTo>
                <a:lnTo>
                  <a:pt x="493" y="3224"/>
                </a:lnTo>
                <a:lnTo>
                  <a:pt x="537" y="3303"/>
                </a:lnTo>
                <a:lnTo>
                  <a:pt x="591" y="3377"/>
                </a:lnTo>
                <a:lnTo>
                  <a:pt x="651" y="3442"/>
                </a:lnTo>
                <a:lnTo>
                  <a:pt x="718" y="3504"/>
                </a:lnTo>
                <a:lnTo>
                  <a:pt x="790" y="3556"/>
                </a:lnTo>
                <a:lnTo>
                  <a:pt x="869" y="3599"/>
                </a:lnTo>
                <a:lnTo>
                  <a:pt x="953" y="3635"/>
                </a:lnTo>
                <a:lnTo>
                  <a:pt x="1043" y="3661"/>
                </a:lnTo>
                <a:lnTo>
                  <a:pt x="1134" y="3677"/>
                </a:lnTo>
                <a:lnTo>
                  <a:pt x="1230" y="3683"/>
                </a:lnTo>
                <a:lnTo>
                  <a:pt x="5330" y="3683"/>
                </a:lnTo>
                <a:lnTo>
                  <a:pt x="5426" y="3677"/>
                </a:lnTo>
                <a:lnTo>
                  <a:pt x="5517" y="3661"/>
                </a:lnTo>
                <a:lnTo>
                  <a:pt x="5607" y="3635"/>
                </a:lnTo>
                <a:lnTo>
                  <a:pt x="5691" y="3599"/>
                </a:lnTo>
                <a:lnTo>
                  <a:pt x="5768" y="3556"/>
                </a:lnTo>
                <a:lnTo>
                  <a:pt x="5842" y="3504"/>
                </a:lnTo>
                <a:lnTo>
                  <a:pt x="5909" y="3442"/>
                </a:lnTo>
                <a:lnTo>
                  <a:pt x="5969" y="3377"/>
                </a:lnTo>
                <a:lnTo>
                  <a:pt x="6023" y="3303"/>
                </a:lnTo>
                <a:lnTo>
                  <a:pt x="6067" y="3224"/>
                </a:lnTo>
                <a:lnTo>
                  <a:pt x="6102" y="3141"/>
                </a:lnTo>
                <a:lnTo>
                  <a:pt x="6128" y="3053"/>
                </a:lnTo>
                <a:lnTo>
                  <a:pt x="6144" y="2960"/>
                </a:lnTo>
                <a:lnTo>
                  <a:pt x="6150" y="2864"/>
                </a:lnTo>
                <a:lnTo>
                  <a:pt x="6144" y="2771"/>
                </a:lnTo>
                <a:lnTo>
                  <a:pt x="6128" y="2682"/>
                </a:lnTo>
                <a:lnTo>
                  <a:pt x="6102" y="2594"/>
                </a:lnTo>
                <a:lnTo>
                  <a:pt x="6067" y="2511"/>
                </a:lnTo>
                <a:lnTo>
                  <a:pt x="6023" y="2431"/>
                </a:lnTo>
                <a:lnTo>
                  <a:pt x="5971" y="2358"/>
                </a:lnTo>
                <a:lnTo>
                  <a:pt x="5909" y="2290"/>
                </a:lnTo>
                <a:lnTo>
                  <a:pt x="5842" y="2231"/>
                </a:lnTo>
                <a:lnTo>
                  <a:pt x="5766" y="2177"/>
                </a:lnTo>
                <a:lnTo>
                  <a:pt x="5685" y="2131"/>
                </a:lnTo>
                <a:lnTo>
                  <a:pt x="5597" y="2096"/>
                </a:lnTo>
                <a:lnTo>
                  <a:pt x="5312" y="1996"/>
                </a:lnTo>
                <a:lnTo>
                  <a:pt x="5322" y="1696"/>
                </a:lnTo>
                <a:lnTo>
                  <a:pt x="5330" y="1621"/>
                </a:lnTo>
                <a:lnTo>
                  <a:pt x="5322" y="1498"/>
                </a:lnTo>
                <a:lnTo>
                  <a:pt x="5303" y="1377"/>
                </a:lnTo>
                <a:lnTo>
                  <a:pt x="5271" y="1261"/>
                </a:lnTo>
                <a:lnTo>
                  <a:pt x="5229" y="1150"/>
                </a:lnTo>
                <a:lnTo>
                  <a:pt x="5177" y="1043"/>
                </a:lnTo>
                <a:lnTo>
                  <a:pt x="5116" y="944"/>
                </a:lnTo>
                <a:lnTo>
                  <a:pt x="5044" y="850"/>
                </a:lnTo>
                <a:lnTo>
                  <a:pt x="4964" y="765"/>
                </a:lnTo>
                <a:lnTo>
                  <a:pt x="4877" y="685"/>
                </a:lnTo>
                <a:lnTo>
                  <a:pt x="4783" y="616"/>
                </a:lnTo>
                <a:lnTo>
                  <a:pt x="4682" y="554"/>
                </a:lnTo>
                <a:lnTo>
                  <a:pt x="4574" y="505"/>
                </a:lnTo>
                <a:lnTo>
                  <a:pt x="4463" y="463"/>
                </a:lnTo>
                <a:lnTo>
                  <a:pt x="4345" y="433"/>
                </a:lnTo>
                <a:lnTo>
                  <a:pt x="4224" y="415"/>
                </a:lnTo>
                <a:lnTo>
                  <a:pt x="4099" y="409"/>
                </a:lnTo>
                <a:close/>
                <a:moveTo>
                  <a:pt x="4099" y="0"/>
                </a:moveTo>
                <a:lnTo>
                  <a:pt x="4242" y="6"/>
                </a:lnTo>
                <a:lnTo>
                  <a:pt x="4379" y="24"/>
                </a:lnTo>
                <a:lnTo>
                  <a:pt x="4515" y="52"/>
                </a:lnTo>
                <a:lnTo>
                  <a:pt x="4644" y="91"/>
                </a:lnTo>
                <a:lnTo>
                  <a:pt x="4769" y="141"/>
                </a:lnTo>
                <a:lnTo>
                  <a:pt x="4889" y="201"/>
                </a:lnTo>
                <a:lnTo>
                  <a:pt x="5002" y="270"/>
                </a:lnTo>
                <a:lnTo>
                  <a:pt x="5110" y="348"/>
                </a:lnTo>
                <a:lnTo>
                  <a:pt x="5211" y="433"/>
                </a:lnTo>
                <a:lnTo>
                  <a:pt x="5305" y="526"/>
                </a:lnTo>
                <a:lnTo>
                  <a:pt x="5392" y="628"/>
                </a:lnTo>
                <a:lnTo>
                  <a:pt x="5470" y="735"/>
                </a:lnTo>
                <a:lnTo>
                  <a:pt x="5537" y="848"/>
                </a:lnTo>
                <a:lnTo>
                  <a:pt x="5597" y="969"/>
                </a:lnTo>
                <a:lnTo>
                  <a:pt x="5647" y="1095"/>
                </a:lnTo>
                <a:lnTo>
                  <a:pt x="5687" y="1224"/>
                </a:lnTo>
                <a:lnTo>
                  <a:pt x="5716" y="1357"/>
                </a:lnTo>
                <a:lnTo>
                  <a:pt x="5734" y="1496"/>
                </a:lnTo>
                <a:lnTo>
                  <a:pt x="5740" y="1637"/>
                </a:lnTo>
                <a:lnTo>
                  <a:pt x="5736" y="1673"/>
                </a:lnTo>
                <a:lnTo>
                  <a:pt x="5732" y="1710"/>
                </a:lnTo>
                <a:lnTo>
                  <a:pt x="5842" y="1752"/>
                </a:lnTo>
                <a:lnTo>
                  <a:pt x="5943" y="1806"/>
                </a:lnTo>
                <a:lnTo>
                  <a:pt x="6041" y="1867"/>
                </a:lnTo>
                <a:lnTo>
                  <a:pt x="6132" y="1939"/>
                </a:lnTo>
                <a:lnTo>
                  <a:pt x="6216" y="2016"/>
                </a:lnTo>
                <a:lnTo>
                  <a:pt x="6291" y="2104"/>
                </a:lnTo>
                <a:lnTo>
                  <a:pt x="6359" y="2195"/>
                </a:lnTo>
                <a:lnTo>
                  <a:pt x="6419" y="2294"/>
                </a:lnTo>
                <a:lnTo>
                  <a:pt x="6467" y="2400"/>
                </a:lnTo>
                <a:lnTo>
                  <a:pt x="6506" y="2509"/>
                </a:lnTo>
                <a:lnTo>
                  <a:pt x="6536" y="2624"/>
                </a:lnTo>
                <a:lnTo>
                  <a:pt x="6554" y="2743"/>
                </a:lnTo>
                <a:lnTo>
                  <a:pt x="6560" y="2864"/>
                </a:lnTo>
                <a:lnTo>
                  <a:pt x="6554" y="2990"/>
                </a:lnTo>
                <a:lnTo>
                  <a:pt x="6534" y="3113"/>
                </a:lnTo>
                <a:lnTo>
                  <a:pt x="6504" y="3230"/>
                </a:lnTo>
                <a:lnTo>
                  <a:pt x="6463" y="3343"/>
                </a:lnTo>
                <a:lnTo>
                  <a:pt x="6411" y="3450"/>
                </a:lnTo>
                <a:lnTo>
                  <a:pt x="6349" y="3552"/>
                </a:lnTo>
                <a:lnTo>
                  <a:pt x="6279" y="3645"/>
                </a:lnTo>
                <a:lnTo>
                  <a:pt x="6200" y="3732"/>
                </a:lnTo>
                <a:lnTo>
                  <a:pt x="6112" y="3812"/>
                </a:lnTo>
                <a:lnTo>
                  <a:pt x="6017" y="3883"/>
                </a:lnTo>
                <a:lnTo>
                  <a:pt x="5915" y="3945"/>
                </a:lnTo>
                <a:lnTo>
                  <a:pt x="5808" y="3997"/>
                </a:lnTo>
                <a:lnTo>
                  <a:pt x="5695" y="4036"/>
                </a:lnTo>
                <a:lnTo>
                  <a:pt x="5577" y="4068"/>
                </a:lnTo>
                <a:lnTo>
                  <a:pt x="5456" y="4086"/>
                </a:lnTo>
                <a:lnTo>
                  <a:pt x="5330" y="4092"/>
                </a:lnTo>
                <a:lnTo>
                  <a:pt x="1230" y="4092"/>
                </a:lnTo>
                <a:lnTo>
                  <a:pt x="1104" y="4086"/>
                </a:lnTo>
                <a:lnTo>
                  <a:pt x="983" y="4068"/>
                </a:lnTo>
                <a:lnTo>
                  <a:pt x="864" y="4036"/>
                </a:lnTo>
                <a:lnTo>
                  <a:pt x="752" y="3997"/>
                </a:lnTo>
                <a:lnTo>
                  <a:pt x="645" y="3945"/>
                </a:lnTo>
                <a:lnTo>
                  <a:pt x="543" y="3883"/>
                </a:lnTo>
                <a:lnTo>
                  <a:pt x="448" y="3812"/>
                </a:lnTo>
                <a:lnTo>
                  <a:pt x="360" y="3732"/>
                </a:lnTo>
                <a:lnTo>
                  <a:pt x="281" y="3645"/>
                </a:lnTo>
                <a:lnTo>
                  <a:pt x="211" y="3552"/>
                </a:lnTo>
                <a:lnTo>
                  <a:pt x="149" y="3450"/>
                </a:lnTo>
                <a:lnTo>
                  <a:pt x="97" y="3343"/>
                </a:lnTo>
                <a:lnTo>
                  <a:pt x="56" y="3230"/>
                </a:lnTo>
                <a:lnTo>
                  <a:pt x="26" y="3113"/>
                </a:lnTo>
                <a:lnTo>
                  <a:pt x="6" y="2990"/>
                </a:lnTo>
                <a:lnTo>
                  <a:pt x="0" y="2864"/>
                </a:lnTo>
                <a:lnTo>
                  <a:pt x="6" y="2739"/>
                </a:lnTo>
                <a:lnTo>
                  <a:pt x="26" y="2618"/>
                </a:lnTo>
                <a:lnTo>
                  <a:pt x="56" y="2499"/>
                </a:lnTo>
                <a:lnTo>
                  <a:pt x="97" y="2388"/>
                </a:lnTo>
                <a:lnTo>
                  <a:pt x="149" y="2280"/>
                </a:lnTo>
                <a:lnTo>
                  <a:pt x="211" y="2179"/>
                </a:lnTo>
                <a:lnTo>
                  <a:pt x="281" y="2084"/>
                </a:lnTo>
                <a:lnTo>
                  <a:pt x="360" y="1996"/>
                </a:lnTo>
                <a:lnTo>
                  <a:pt x="448" y="1917"/>
                </a:lnTo>
                <a:lnTo>
                  <a:pt x="543" y="1847"/>
                </a:lnTo>
                <a:lnTo>
                  <a:pt x="645" y="1786"/>
                </a:lnTo>
                <a:lnTo>
                  <a:pt x="752" y="1734"/>
                </a:lnTo>
                <a:lnTo>
                  <a:pt x="864" y="1692"/>
                </a:lnTo>
                <a:lnTo>
                  <a:pt x="983" y="1661"/>
                </a:lnTo>
                <a:lnTo>
                  <a:pt x="1104" y="1643"/>
                </a:lnTo>
                <a:lnTo>
                  <a:pt x="1230" y="1637"/>
                </a:lnTo>
                <a:lnTo>
                  <a:pt x="1267" y="1639"/>
                </a:lnTo>
                <a:lnTo>
                  <a:pt x="1303" y="1645"/>
                </a:lnTo>
                <a:lnTo>
                  <a:pt x="1347" y="1535"/>
                </a:lnTo>
                <a:lnTo>
                  <a:pt x="1401" y="1432"/>
                </a:lnTo>
                <a:lnTo>
                  <a:pt x="1462" y="1335"/>
                </a:lnTo>
                <a:lnTo>
                  <a:pt x="1532" y="1245"/>
                </a:lnTo>
                <a:lnTo>
                  <a:pt x="1612" y="1162"/>
                </a:lnTo>
                <a:lnTo>
                  <a:pt x="1697" y="1087"/>
                </a:lnTo>
                <a:lnTo>
                  <a:pt x="1791" y="1019"/>
                </a:lnTo>
                <a:lnTo>
                  <a:pt x="1888" y="959"/>
                </a:lnTo>
                <a:lnTo>
                  <a:pt x="1994" y="910"/>
                </a:lnTo>
                <a:lnTo>
                  <a:pt x="2103" y="870"/>
                </a:lnTo>
                <a:lnTo>
                  <a:pt x="2219" y="842"/>
                </a:lnTo>
                <a:lnTo>
                  <a:pt x="2338" y="824"/>
                </a:lnTo>
                <a:lnTo>
                  <a:pt x="2459" y="818"/>
                </a:lnTo>
                <a:lnTo>
                  <a:pt x="2533" y="820"/>
                </a:lnTo>
                <a:lnTo>
                  <a:pt x="2605" y="828"/>
                </a:lnTo>
                <a:lnTo>
                  <a:pt x="2676" y="840"/>
                </a:lnTo>
                <a:lnTo>
                  <a:pt x="2746" y="727"/>
                </a:lnTo>
                <a:lnTo>
                  <a:pt x="2821" y="622"/>
                </a:lnTo>
                <a:lnTo>
                  <a:pt x="2907" y="522"/>
                </a:lnTo>
                <a:lnTo>
                  <a:pt x="3000" y="429"/>
                </a:lnTo>
                <a:lnTo>
                  <a:pt x="3100" y="344"/>
                </a:lnTo>
                <a:lnTo>
                  <a:pt x="3207" y="268"/>
                </a:lnTo>
                <a:lnTo>
                  <a:pt x="3321" y="199"/>
                </a:lnTo>
                <a:lnTo>
                  <a:pt x="3438" y="141"/>
                </a:lnTo>
                <a:lnTo>
                  <a:pt x="3562" y="91"/>
                </a:lnTo>
                <a:lnTo>
                  <a:pt x="3691" y="52"/>
                </a:lnTo>
                <a:lnTo>
                  <a:pt x="3822" y="24"/>
                </a:lnTo>
                <a:lnTo>
                  <a:pt x="3959" y="6"/>
                </a:lnTo>
                <a:lnTo>
                  <a:pt x="4099" y="0"/>
                </a:lnTo>
                <a:close/>
              </a:path>
            </a:pathLst>
          </a:custGeom>
          <a:solidFill>
            <a:srgbClr val="66667E"/>
          </a:solidFill>
          <a:ln w="0">
            <a:noFill/>
            <a:prstDash val="solid"/>
            <a:round/>
            <a:headEnd/>
            <a:tailEnd/>
          </a:ln>
          <a:scene3d>
            <a:camera prst="perspectiveRelaxed"/>
            <a:lightRig rig="threePt" dir="t"/>
          </a:scene3d>
        </p:spPr>
        <p:txBody>
          <a:bodyPr vert="horz" wrap="square" lIns="84586" tIns="42293" rIns="84586" bIns="42293" numCol="1" anchor="t" anchorCtr="0" compatLnSpc="1">
            <a:prstTxWarp prst="textNoShape">
              <a:avLst/>
            </a:prstTxWarp>
          </a:bodyPr>
          <a:lstStyle/>
          <a:p>
            <a:pPr defTabSz="609393"/>
            <a:endParaRPr lang="en-US" sz="1665" kern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9362D271-5833-9831-AB60-14BD21B00BDF}"/>
              </a:ext>
            </a:extLst>
          </p:cNvPr>
          <p:cNvCxnSpPr>
            <a:cxnSpLocks/>
          </p:cNvCxnSpPr>
          <p:nvPr/>
        </p:nvCxnSpPr>
        <p:spPr>
          <a:xfrm>
            <a:off x="6098942" y="1880880"/>
            <a:ext cx="0" cy="450000"/>
          </a:xfrm>
          <a:prstGeom prst="line">
            <a:avLst/>
          </a:prstGeom>
          <a:ln w="9525">
            <a:solidFill>
              <a:srgbClr val="66667E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Rechteck 36">
            <a:extLst>
              <a:ext uri="{FF2B5EF4-FFF2-40B4-BE49-F238E27FC236}">
                <a16:creationId xmlns:a16="http://schemas.microsoft.com/office/drawing/2014/main" id="{CB057116-E026-9D0D-C87F-65D6C22FF8B8}"/>
              </a:ext>
            </a:extLst>
          </p:cNvPr>
          <p:cNvSpPr/>
          <p:nvPr/>
        </p:nvSpPr>
        <p:spPr bwMode="gray">
          <a:xfrm>
            <a:off x="5460771" y="2317590"/>
            <a:ext cx="1270460" cy="751370"/>
          </a:xfrm>
          <a:custGeom>
            <a:avLst/>
            <a:gdLst/>
            <a:ahLst/>
            <a:cxnLst/>
            <a:rect l="l" t="t" r="r" b="b"/>
            <a:pathLst>
              <a:path w="921121" h="544766">
                <a:moveTo>
                  <a:pt x="520850" y="0"/>
                </a:moveTo>
                <a:cubicBezTo>
                  <a:pt x="635620" y="0"/>
                  <a:pt x="728659" y="96804"/>
                  <a:pt x="728659" y="216218"/>
                </a:cubicBezTo>
                <a:lnTo>
                  <a:pt x="726919" y="234180"/>
                </a:lnTo>
                <a:cubicBezTo>
                  <a:pt x="738468" y="228121"/>
                  <a:pt x="751342" y="226444"/>
                  <a:pt x="764600" y="226444"/>
                </a:cubicBezTo>
                <a:cubicBezTo>
                  <a:pt x="851044" y="226444"/>
                  <a:pt x="921121" y="297703"/>
                  <a:pt x="921121" y="385605"/>
                </a:cubicBezTo>
                <a:cubicBezTo>
                  <a:pt x="921121" y="473507"/>
                  <a:pt x="851044" y="544766"/>
                  <a:pt x="764600" y="544766"/>
                </a:cubicBezTo>
                <a:lnTo>
                  <a:pt x="758804" y="543680"/>
                </a:lnTo>
                <a:lnTo>
                  <a:pt x="758804" y="544766"/>
                </a:lnTo>
                <a:lnTo>
                  <a:pt x="160927" y="544766"/>
                </a:lnTo>
                <a:lnTo>
                  <a:pt x="160927" y="543862"/>
                </a:lnTo>
                <a:cubicBezTo>
                  <a:pt x="159479" y="544745"/>
                  <a:pt x="158002" y="544766"/>
                  <a:pt x="156521" y="544766"/>
                </a:cubicBezTo>
                <a:cubicBezTo>
                  <a:pt x="70077" y="544766"/>
                  <a:pt x="0" y="473507"/>
                  <a:pt x="0" y="385605"/>
                </a:cubicBezTo>
                <a:cubicBezTo>
                  <a:pt x="0" y="311312"/>
                  <a:pt x="50058" y="248908"/>
                  <a:pt x="118495" y="234251"/>
                </a:cubicBezTo>
                <a:cubicBezTo>
                  <a:pt x="121548" y="163141"/>
                  <a:pt x="180939" y="106936"/>
                  <a:pt x="253540" y="106936"/>
                </a:cubicBezTo>
                <a:cubicBezTo>
                  <a:pt x="282127" y="106936"/>
                  <a:pt x="308666" y="115650"/>
                  <a:pt x="329199" y="132635"/>
                </a:cubicBezTo>
                <a:cubicBezTo>
                  <a:pt x="360565" y="54713"/>
                  <a:pt x="434566" y="0"/>
                  <a:pt x="520850" y="0"/>
                </a:cubicBezTo>
                <a:close/>
              </a:path>
            </a:pathLst>
          </a:cu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72000" tIns="0" rIns="72000" bIns="36000" rtlCol="0" anchor="ctr"/>
          <a:lstStyle/>
          <a:p>
            <a:pPr marL="0" marR="0" lvl="0" indent="3175" algn="ctr" defTabSz="457293" eaLnBrk="1" fontAlgn="base" latinLnBrk="0" hangingPunct="1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srgbClr val="E20074"/>
              </a:buClr>
              <a:buSzPct val="75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500" name="Rechteck 487">
            <a:extLst>
              <a:ext uri="{FF2B5EF4-FFF2-40B4-BE49-F238E27FC236}">
                <a16:creationId xmlns:a16="http://schemas.microsoft.com/office/drawing/2014/main" id="{1E5D68A7-0750-91B6-F0AC-612945DB1390}"/>
              </a:ext>
            </a:extLst>
          </p:cNvPr>
          <p:cNvSpPr/>
          <p:nvPr/>
        </p:nvSpPr>
        <p:spPr>
          <a:xfrm>
            <a:off x="4727384" y="3645064"/>
            <a:ext cx="1080584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 anchorCtr="0"/>
          <a:lstStyle/>
          <a:p>
            <a:r>
              <a:rPr lang="en-US" sz="800" dirty="0"/>
              <a:t>Local Compute Power</a:t>
            </a:r>
          </a:p>
        </p:txBody>
      </p:sp>
      <p:cxnSp>
        <p:nvCxnSpPr>
          <p:cNvPr id="501" name="Gerader Verbinder 488">
            <a:extLst>
              <a:ext uri="{FF2B5EF4-FFF2-40B4-BE49-F238E27FC236}">
                <a16:creationId xmlns:a16="http://schemas.microsoft.com/office/drawing/2014/main" id="{7D22F00D-5E5B-A147-FC2B-081DE4C444DA}"/>
              </a:ext>
            </a:extLst>
          </p:cNvPr>
          <p:cNvCxnSpPr>
            <a:cxnSpLocks/>
          </p:cNvCxnSpPr>
          <p:nvPr/>
        </p:nvCxnSpPr>
        <p:spPr>
          <a:xfrm flipH="1">
            <a:off x="4705485" y="3936155"/>
            <a:ext cx="13905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0" name="Picture 739">
            <a:extLst>
              <a:ext uri="{FF2B5EF4-FFF2-40B4-BE49-F238E27FC236}">
                <a16:creationId xmlns:a16="http://schemas.microsoft.com/office/drawing/2014/main" id="{1DE22445-5185-BC75-028E-9D88877060A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45505" r="39801" b="9527"/>
          <a:stretch/>
        </p:blipFill>
        <p:spPr>
          <a:xfrm>
            <a:off x="4367848" y="3728295"/>
            <a:ext cx="360000" cy="2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55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61EF739-A413-4797-A548-05DA775739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61EF739-A413-4797-A548-05DA77573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317344A-4228-48BC-84B2-D538290E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D595A9-84F3-4F4A-AB23-2DF3CCB8E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AA02293-84DC-6B93-5996-E6F61CA3F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7" name="Textfeld 62">
            <a:extLst>
              <a:ext uri="{FF2B5EF4-FFF2-40B4-BE49-F238E27FC236}">
                <a16:creationId xmlns:a16="http://schemas.microsoft.com/office/drawing/2014/main" id="{92C27DB3-4FB7-4514-863F-61CA8D1589EC}"/>
              </a:ext>
            </a:extLst>
          </p:cNvPr>
          <p:cNvSpPr txBox="1">
            <a:spLocks/>
          </p:cNvSpPr>
          <p:nvPr/>
        </p:nvSpPr>
        <p:spPr>
          <a:xfrm>
            <a:off x="1164641" y="2868658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Synergies of LDF Data Platform within SDC</a:t>
            </a:r>
          </a:p>
        </p:txBody>
      </p:sp>
      <p:sp>
        <p:nvSpPr>
          <p:cNvPr id="29" name="Rectangle 1276">
            <a:extLst>
              <a:ext uri="{FF2B5EF4-FFF2-40B4-BE49-F238E27FC236}">
                <a16:creationId xmlns:a16="http://schemas.microsoft.com/office/drawing/2014/main" id="{B64AA73B-0E17-4EAE-A6E8-D88A90808A6C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868752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2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34FAF27-82B2-4A89-88EA-989F3D578D53}"/>
              </a:ext>
            </a:extLst>
          </p:cNvPr>
          <p:cNvCxnSpPr>
            <a:cxnSpLocks/>
          </p:cNvCxnSpPr>
          <p:nvPr/>
        </p:nvCxnSpPr>
        <p:spPr>
          <a:xfrm flipH="1">
            <a:off x="983432" y="2922658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62">
            <a:extLst>
              <a:ext uri="{FF2B5EF4-FFF2-40B4-BE49-F238E27FC236}">
                <a16:creationId xmlns:a16="http://schemas.microsoft.com/office/drawing/2014/main" id="{87F6E1BC-9240-4085-8F3D-5B74167AF972}"/>
              </a:ext>
            </a:extLst>
          </p:cNvPr>
          <p:cNvSpPr txBox="1">
            <a:spLocks/>
          </p:cNvSpPr>
          <p:nvPr/>
        </p:nvSpPr>
        <p:spPr>
          <a:xfrm>
            <a:off x="1164641" y="3701215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Introduction to Hybrid Architecture Concept</a:t>
            </a:r>
          </a:p>
        </p:txBody>
      </p:sp>
      <p:sp>
        <p:nvSpPr>
          <p:cNvPr id="37" name="Rectangle 1276">
            <a:extLst>
              <a:ext uri="{FF2B5EF4-FFF2-40B4-BE49-F238E27FC236}">
                <a16:creationId xmlns:a16="http://schemas.microsoft.com/office/drawing/2014/main" id="{195F8945-19E3-41FC-A83D-0A0281CC5439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3701309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3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39EA111-559F-4014-AEDD-5BCE838DDA36}"/>
              </a:ext>
            </a:extLst>
          </p:cNvPr>
          <p:cNvCxnSpPr>
            <a:cxnSpLocks/>
          </p:cNvCxnSpPr>
          <p:nvPr/>
        </p:nvCxnSpPr>
        <p:spPr>
          <a:xfrm flipH="1">
            <a:off x="983432" y="3755215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62">
            <a:extLst>
              <a:ext uri="{FF2B5EF4-FFF2-40B4-BE49-F238E27FC236}">
                <a16:creationId xmlns:a16="http://schemas.microsoft.com/office/drawing/2014/main" id="{878969A8-2ECE-4A56-9F38-EF222D6C5DA7}"/>
              </a:ext>
            </a:extLst>
          </p:cNvPr>
          <p:cNvSpPr txBox="1">
            <a:spLocks/>
          </p:cNvSpPr>
          <p:nvPr/>
        </p:nvSpPr>
        <p:spPr>
          <a:xfrm>
            <a:off x="1164641" y="4533772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latin typeface="+mj-lt"/>
                <a:cs typeface="Segoe UI Semibold" panose="020B0702040204020203" pitchFamily="34" charset="0"/>
              </a:rPr>
              <a:t>Project Ambition Fiscal Year 2024</a:t>
            </a:r>
          </a:p>
        </p:txBody>
      </p:sp>
      <p:sp>
        <p:nvSpPr>
          <p:cNvPr id="42" name="Rectangle 1276">
            <a:extLst>
              <a:ext uri="{FF2B5EF4-FFF2-40B4-BE49-F238E27FC236}">
                <a16:creationId xmlns:a16="http://schemas.microsoft.com/office/drawing/2014/main" id="{DC9C4AB3-F7AA-4950-B479-83167D57637E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4533866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latin typeface="+mj-lt"/>
                <a:cs typeface="Segoe UI" pitchFamily="34" charset="0"/>
              </a:rPr>
              <a:t>4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F38A2C1A-FBCE-4546-98CD-1BA78B18BAFE}"/>
              </a:ext>
            </a:extLst>
          </p:cNvPr>
          <p:cNvCxnSpPr>
            <a:cxnSpLocks/>
          </p:cNvCxnSpPr>
          <p:nvPr/>
        </p:nvCxnSpPr>
        <p:spPr>
          <a:xfrm flipH="1">
            <a:off x="983432" y="4587772"/>
            <a:ext cx="0" cy="252000"/>
          </a:xfrm>
          <a:prstGeom prst="line">
            <a:avLst/>
          </a:prstGeom>
          <a:ln w="19050">
            <a:solidFill>
              <a:schemeClr val="accent2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62">
            <a:extLst>
              <a:ext uri="{FF2B5EF4-FFF2-40B4-BE49-F238E27FC236}">
                <a16:creationId xmlns:a16="http://schemas.microsoft.com/office/drawing/2014/main" id="{B5743862-7809-86FF-D3CA-2F8BAF758FEC}"/>
              </a:ext>
            </a:extLst>
          </p:cNvPr>
          <p:cNvSpPr txBox="1">
            <a:spLocks/>
          </p:cNvSpPr>
          <p:nvPr/>
        </p:nvSpPr>
        <p:spPr>
          <a:xfrm>
            <a:off x="1164641" y="2036101"/>
            <a:ext cx="9215997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chemeClr val="tx1">
                    <a:alpha val="40000"/>
                  </a:schemeClr>
                </a:solidFill>
                <a:latin typeface="+mj-lt"/>
                <a:cs typeface="Segoe UI Semibold" panose="020B0702040204020203" pitchFamily="34" charset="0"/>
              </a:rPr>
              <a:t>Status Update LDF Data Platform</a:t>
            </a:r>
          </a:p>
        </p:txBody>
      </p:sp>
      <p:sp>
        <p:nvSpPr>
          <p:cNvPr id="18" name="Rectangle 1276">
            <a:extLst>
              <a:ext uri="{FF2B5EF4-FFF2-40B4-BE49-F238E27FC236}">
                <a16:creationId xmlns:a16="http://schemas.microsoft.com/office/drawing/2014/main" id="{C598E224-8417-EDB5-45DA-A7948C228635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517900" y="2036195"/>
            <a:ext cx="359644" cy="359813"/>
          </a:xfrm>
          <a:prstGeom prst="rect">
            <a:avLst/>
          </a:prstGeom>
          <a:noFill/>
        </p:spPr>
        <p:txBody>
          <a:bodyPr vert="horz" wrap="none" lIns="72000" tIns="72000" rIns="72000" bIns="7200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1400" b="1">
                <a:solidFill>
                  <a:schemeClr val="tx1">
                    <a:alpha val="40000"/>
                  </a:schemeClr>
                </a:solidFill>
                <a:latin typeface="+mj-lt"/>
                <a:cs typeface="Segoe UI" pitchFamily="34" charset="0"/>
              </a:rPr>
              <a:t>1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967B95A-4441-910A-5FA9-9FD67F52A7B3}"/>
              </a:ext>
            </a:extLst>
          </p:cNvPr>
          <p:cNvCxnSpPr>
            <a:cxnSpLocks/>
          </p:cNvCxnSpPr>
          <p:nvPr/>
        </p:nvCxnSpPr>
        <p:spPr>
          <a:xfrm flipH="1">
            <a:off x="983432" y="2090101"/>
            <a:ext cx="0" cy="252000"/>
          </a:xfrm>
          <a:prstGeom prst="line">
            <a:avLst/>
          </a:prstGeom>
          <a:ln w="19050">
            <a:solidFill>
              <a:schemeClr val="accent2">
                <a:alpha val="40000"/>
              </a:schemeClr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617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B21C23CB-33C3-F22F-ACD6-BD481B5B8EC1}"/>
              </a:ext>
            </a:extLst>
          </p:cNvPr>
          <p:cNvSpPr/>
          <p:nvPr/>
        </p:nvSpPr>
        <p:spPr>
          <a:xfrm>
            <a:off x="5299045" y="1412776"/>
            <a:ext cx="6480000" cy="4284000"/>
          </a:xfrm>
          <a:prstGeom prst="rect">
            <a:avLst/>
          </a:prstGeom>
          <a:solidFill>
            <a:srgbClr val="001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AF3FF1-0898-2446-8E08-49663670EA6E}"/>
              </a:ext>
            </a:extLst>
          </p:cNvPr>
          <p:cNvGrpSpPr/>
          <p:nvPr/>
        </p:nvGrpSpPr>
        <p:grpSpPr>
          <a:xfrm>
            <a:off x="3281465" y="1410013"/>
            <a:ext cx="2022447" cy="4284000"/>
            <a:chOff x="3276600" y="1419517"/>
            <a:chExt cx="2022447" cy="4748389"/>
          </a:xfrm>
          <a:gradFill flip="none" rotWithShape="1">
            <a:gsLst>
              <a:gs pos="0">
                <a:srgbClr val="000F32"/>
              </a:gs>
              <a:gs pos="80000">
                <a:srgbClr val="012C48"/>
              </a:gs>
            </a:gsLst>
            <a:lin ang="10800000" scaled="0"/>
            <a:tileRect/>
          </a:gradFill>
        </p:grpSpPr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08645DB6-1719-9E92-F3F4-21E1819B06C4}"/>
                </a:ext>
              </a:extLst>
            </p:cNvPr>
            <p:cNvSpPr/>
            <p:nvPr/>
          </p:nvSpPr>
          <p:spPr>
            <a:xfrm rot="5400000" flipV="1">
              <a:off x="2588853" y="3457711"/>
              <a:ext cx="3397942" cy="2022447"/>
            </a:xfrm>
            <a:prstGeom prst="triangle">
              <a:avLst>
                <a:gd name="adj" fmla="val 270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D5F4D608-B8FA-0554-B9DA-BE39C2636D16}"/>
                </a:ext>
              </a:extLst>
            </p:cNvPr>
            <p:cNvSpPr/>
            <p:nvPr/>
          </p:nvSpPr>
          <p:spPr>
            <a:xfrm rot="16200000">
              <a:off x="2764511" y="2312606"/>
              <a:ext cx="3427040" cy="1640862"/>
            </a:xfrm>
            <a:prstGeom prst="triangle">
              <a:avLst>
                <a:gd name="adj" fmla="val 270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 dirty="0"/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7F4394-F498-F65F-577D-3E050F5C2F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F3742D-9480-AAEB-D17C-767A5AF71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BFA8B3-C396-2174-3005-21370A2EE300}"/>
              </a:ext>
            </a:extLst>
          </p:cNvPr>
          <p:cNvGrpSpPr/>
          <p:nvPr/>
        </p:nvGrpSpPr>
        <p:grpSpPr>
          <a:xfrm>
            <a:off x="462291" y="2572891"/>
            <a:ext cx="3990188" cy="2124000"/>
            <a:chOff x="429412" y="2769964"/>
            <a:chExt cx="3990188" cy="2315339"/>
          </a:xfrm>
        </p:grpSpPr>
        <p:sp>
          <p:nvSpPr>
            <p:cNvPr id="10" name="Rectangle 33">
              <a:extLst>
                <a:ext uri="{FF2B5EF4-FFF2-40B4-BE49-F238E27FC236}">
                  <a16:creationId xmlns:a16="http://schemas.microsoft.com/office/drawing/2014/main" id="{2B575F20-DFE6-EFFD-18FA-6575D187F17D}"/>
                </a:ext>
              </a:extLst>
            </p:cNvPr>
            <p:cNvSpPr/>
            <p:nvPr/>
          </p:nvSpPr>
          <p:spPr>
            <a:xfrm>
              <a:off x="429412" y="2769964"/>
              <a:ext cx="3990188" cy="2315339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72000" rIns="144000" bIns="7200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Grafik 6">
              <a:extLst>
                <a:ext uri="{FF2B5EF4-FFF2-40B4-BE49-F238E27FC236}">
                  <a16:creationId xmlns:a16="http://schemas.microsoft.com/office/drawing/2014/main" id="{D7A9E41D-9FB6-38FB-7150-AB10E3111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88" y="2833954"/>
              <a:ext cx="3888635" cy="218735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07D576-F6FC-9091-8AB2-70A92DCC2FED}"/>
              </a:ext>
            </a:extLst>
          </p:cNvPr>
          <p:cNvGrpSpPr>
            <a:grpSpLocks noChangeAspect="1"/>
          </p:cNvGrpSpPr>
          <p:nvPr/>
        </p:nvGrpSpPr>
        <p:grpSpPr>
          <a:xfrm>
            <a:off x="7440611" y="1466888"/>
            <a:ext cx="1590000" cy="900000"/>
            <a:chOff x="7414223" y="1414463"/>
            <a:chExt cx="1929526" cy="108388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304F37F-6628-8CFA-05A4-557467F91EA8}"/>
                </a:ext>
              </a:extLst>
            </p:cNvPr>
            <p:cNvSpPr/>
            <p:nvPr/>
          </p:nvSpPr>
          <p:spPr>
            <a:xfrm>
              <a:off x="7414223" y="1414463"/>
              <a:ext cx="1924639" cy="1083881"/>
            </a:xfrm>
            <a:prstGeom prst="rect">
              <a:avLst/>
            </a:prstGeom>
            <a:solidFill>
              <a:srgbClr val="0000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DE94AC22-3618-E279-9C21-A2BC040B0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23748" y="1418344"/>
              <a:ext cx="1920001" cy="1080000"/>
            </a:xfrm>
            <a:prstGeom prst="rect">
              <a:avLst/>
            </a:prstGeom>
          </p:spPr>
        </p:pic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ABE38533-64DA-ADEC-886B-AE496A3A1B33}"/>
              </a:ext>
            </a:extLst>
          </p:cNvPr>
          <p:cNvSpPr/>
          <p:nvPr/>
        </p:nvSpPr>
        <p:spPr>
          <a:xfrm>
            <a:off x="7176120" y="1410013"/>
            <a:ext cx="36000" cy="1008000"/>
          </a:xfrm>
          <a:prstGeom prst="rect">
            <a:avLst/>
          </a:prstGeom>
          <a:solidFill>
            <a:srgbClr val="4EFFD2"/>
          </a:solidFill>
          <a:ln>
            <a:solidFill>
              <a:srgbClr val="4EFF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0FEBC22-D3C7-E573-10E2-4D435504483C}"/>
              </a:ext>
            </a:extLst>
          </p:cNvPr>
          <p:cNvSpPr>
            <a:spLocks/>
          </p:cNvSpPr>
          <p:nvPr/>
        </p:nvSpPr>
        <p:spPr>
          <a:xfrm>
            <a:off x="9223046" y="1412888"/>
            <a:ext cx="2556000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</a:rPr>
              <a:t>Roll-out existing use-cases in further factories such as CATE@GWE to enhance operations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2B83DD8-B00E-D949-0AA1-AB032B3821BD}"/>
              </a:ext>
            </a:extLst>
          </p:cNvPr>
          <p:cNvSpPr>
            <a:spLocks/>
          </p:cNvSpPr>
          <p:nvPr/>
        </p:nvSpPr>
        <p:spPr>
          <a:xfrm>
            <a:off x="5329339" y="1410013"/>
            <a:ext cx="1915363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/>
              <a:t>Scale existing </a:t>
            </a:r>
            <a:br>
              <a:rPr lang="en-US" sz="1400" b="1"/>
            </a:br>
            <a:r>
              <a:rPr lang="en-US" sz="1400" b="1"/>
              <a:t>Use Cases</a:t>
            </a:r>
          </a:p>
        </p:txBody>
      </p:sp>
      <p:sp>
        <p:nvSpPr>
          <p:cNvPr id="21" name="Rechteck 5">
            <a:extLst>
              <a:ext uri="{FF2B5EF4-FFF2-40B4-BE49-F238E27FC236}">
                <a16:creationId xmlns:a16="http://schemas.microsoft.com/office/drawing/2014/main" id="{8E0F591B-74FB-595F-FFFE-C767DF2E5D56}"/>
              </a:ext>
            </a:extLst>
          </p:cNvPr>
          <p:cNvSpPr>
            <a:spLocks/>
          </p:cNvSpPr>
          <p:nvPr/>
        </p:nvSpPr>
        <p:spPr>
          <a:xfrm>
            <a:off x="5299045" y="1412888"/>
            <a:ext cx="6480000" cy="10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Rechteck 17">
            <a:extLst>
              <a:ext uri="{FF2B5EF4-FFF2-40B4-BE49-F238E27FC236}">
                <a16:creationId xmlns:a16="http://schemas.microsoft.com/office/drawing/2014/main" id="{9A2C869B-590B-E0C3-FC71-E4C9A131E80C}"/>
              </a:ext>
            </a:extLst>
          </p:cNvPr>
          <p:cNvSpPr>
            <a:spLocks/>
          </p:cNvSpPr>
          <p:nvPr/>
        </p:nvSpPr>
        <p:spPr>
          <a:xfrm>
            <a:off x="5329339" y="2492896"/>
            <a:ext cx="1915364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/>
              <a:t>Develop </a:t>
            </a:r>
            <a:br>
              <a:rPr lang="en-US" sz="1400" b="1"/>
            </a:br>
            <a:r>
              <a:rPr lang="en-US" sz="1400" b="1"/>
              <a:t>new Use Cases</a:t>
            </a:r>
          </a:p>
        </p:txBody>
      </p:sp>
      <p:sp>
        <p:nvSpPr>
          <p:cNvPr id="25" name="Rechteck 13">
            <a:extLst>
              <a:ext uri="{FF2B5EF4-FFF2-40B4-BE49-F238E27FC236}">
                <a16:creationId xmlns:a16="http://schemas.microsoft.com/office/drawing/2014/main" id="{72A5FFB0-7FC2-8278-B580-790E6933CB62}"/>
              </a:ext>
            </a:extLst>
          </p:cNvPr>
          <p:cNvSpPr/>
          <p:nvPr/>
        </p:nvSpPr>
        <p:spPr>
          <a:xfrm>
            <a:off x="7176120" y="2493836"/>
            <a:ext cx="36000" cy="1008000"/>
          </a:xfrm>
          <a:prstGeom prst="rect">
            <a:avLst/>
          </a:prstGeom>
          <a:solidFill>
            <a:srgbClr val="4EFFD2"/>
          </a:solidFill>
          <a:ln>
            <a:solidFill>
              <a:srgbClr val="4EFF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DE81F8-15B4-9FCF-3F1C-F7E1B53F6224}"/>
              </a:ext>
            </a:extLst>
          </p:cNvPr>
          <p:cNvGrpSpPr>
            <a:grpSpLocks noChangeAspect="1"/>
          </p:cNvGrpSpPr>
          <p:nvPr/>
        </p:nvGrpSpPr>
        <p:grpSpPr>
          <a:xfrm>
            <a:off x="7422894" y="2510896"/>
            <a:ext cx="1625434" cy="900000"/>
            <a:chOff x="7400745" y="2665054"/>
            <a:chExt cx="1924639" cy="106228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E6F6C5-15D5-630E-18E2-80720CA620AF}"/>
                </a:ext>
              </a:extLst>
            </p:cNvPr>
            <p:cNvSpPr/>
            <p:nvPr/>
          </p:nvSpPr>
          <p:spPr>
            <a:xfrm>
              <a:off x="7400745" y="2665054"/>
              <a:ext cx="1924639" cy="1062284"/>
            </a:xfrm>
            <a:prstGeom prst="rect">
              <a:avLst/>
            </a:prstGeom>
            <a:solidFill>
              <a:srgbClr val="0000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/>
            </a:p>
          </p:txBody>
        </p:sp>
        <p:pic>
          <p:nvPicPr>
            <p:cNvPr id="28" name="Grafik 31">
              <a:extLst>
                <a:ext uri="{FF2B5EF4-FFF2-40B4-BE49-F238E27FC236}">
                  <a16:creationId xmlns:a16="http://schemas.microsoft.com/office/drawing/2014/main" id="{233EC4A3-1122-3D28-A1AA-95836FAE96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01918" y="2667131"/>
              <a:ext cx="1922292" cy="1042582"/>
            </a:xfrm>
            <a:prstGeom prst="rect">
              <a:avLst/>
            </a:prstGeom>
          </p:spPr>
        </p:pic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4182BF9C-4EF1-2A57-A3EB-F97307160351}"/>
              </a:ext>
            </a:extLst>
          </p:cNvPr>
          <p:cNvSpPr>
            <a:spLocks/>
          </p:cNvSpPr>
          <p:nvPr/>
        </p:nvSpPr>
        <p:spPr>
          <a:xfrm>
            <a:off x="5299045" y="2493836"/>
            <a:ext cx="6480000" cy="10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3" name="Rechteck 17">
            <a:extLst>
              <a:ext uri="{FF2B5EF4-FFF2-40B4-BE49-F238E27FC236}">
                <a16:creationId xmlns:a16="http://schemas.microsoft.com/office/drawing/2014/main" id="{B6F0D1C6-BC52-1E48-0FF0-D95270DE3F90}"/>
              </a:ext>
            </a:extLst>
          </p:cNvPr>
          <p:cNvSpPr>
            <a:spLocks/>
          </p:cNvSpPr>
          <p:nvPr/>
        </p:nvSpPr>
        <p:spPr>
          <a:xfrm>
            <a:off x="5329338" y="3574428"/>
            <a:ext cx="1915364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/>
              <a:t>Extend Platform Capabilities</a:t>
            </a:r>
          </a:p>
        </p:txBody>
      </p:sp>
      <p:sp>
        <p:nvSpPr>
          <p:cNvPr id="27" name="Rechteck 13">
            <a:extLst>
              <a:ext uri="{FF2B5EF4-FFF2-40B4-BE49-F238E27FC236}">
                <a16:creationId xmlns:a16="http://schemas.microsoft.com/office/drawing/2014/main" id="{00283D1D-E0E4-3C9D-A6CE-BFC7391F2B9C}"/>
              </a:ext>
            </a:extLst>
          </p:cNvPr>
          <p:cNvSpPr/>
          <p:nvPr/>
        </p:nvSpPr>
        <p:spPr>
          <a:xfrm>
            <a:off x="7176120" y="3573016"/>
            <a:ext cx="36000" cy="1008000"/>
          </a:xfrm>
          <a:prstGeom prst="rect">
            <a:avLst/>
          </a:prstGeom>
          <a:solidFill>
            <a:srgbClr val="4EFFD2"/>
          </a:solidFill>
          <a:ln>
            <a:solidFill>
              <a:srgbClr val="4EFF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4B80E9-886A-4C75-1838-D11930DAD7BC}"/>
              </a:ext>
            </a:extLst>
          </p:cNvPr>
          <p:cNvGrpSpPr>
            <a:grpSpLocks noChangeAspect="1"/>
          </p:cNvGrpSpPr>
          <p:nvPr/>
        </p:nvGrpSpPr>
        <p:grpSpPr>
          <a:xfrm>
            <a:off x="7428714" y="3592428"/>
            <a:ext cx="1613794" cy="900000"/>
            <a:chOff x="7407484" y="3874549"/>
            <a:chExt cx="1924639" cy="10679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B6E9329-F3CD-372A-457B-919DFF4A4F23}"/>
                </a:ext>
              </a:extLst>
            </p:cNvPr>
            <p:cNvSpPr/>
            <p:nvPr/>
          </p:nvSpPr>
          <p:spPr>
            <a:xfrm>
              <a:off x="7407484" y="3874549"/>
              <a:ext cx="1924639" cy="1067900"/>
            </a:xfrm>
            <a:prstGeom prst="rect">
              <a:avLst/>
            </a:prstGeom>
            <a:solidFill>
              <a:srgbClr val="0000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/>
            </a:p>
          </p:txBody>
        </p:sp>
        <p:pic>
          <p:nvPicPr>
            <p:cNvPr id="29" name="Grafik 21">
              <a:extLst>
                <a:ext uri="{FF2B5EF4-FFF2-40B4-BE49-F238E27FC236}">
                  <a16:creationId xmlns:a16="http://schemas.microsoft.com/office/drawing/2014/main" id="{ED941CF1-EE79-18A6-D559-7C009CF9DB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07484" y="3910624"/>
              <a:ext cx="1924639" cy="979769"/>
            </a:xfrm>
            <a:prstGeom prst="rect">
              <a:avLst/>
            </a:prstGeom>
          </p:spPr>
        </p:pic>
      </p:grpSp>
      <p:sp>
        <p:nvSpPr>
          <p:cNvPr id="38" name="Rechteck 15">
            <a:extLst>
              <a:ext uri="{FF2B5EF4-FFF2-40B4-BE49-F238E27FC236}">
                <a16:creationId xmlns:a16="http://schemas.microsoft.com/office/drawing/2014/main" id="{C8DBDF5F-DD62-FD5D-701D-2B6123D697DF}"/>
              </a:ext>
            </a:extLst>
          </p:cNvPr>
          <p:cNvSpPr>
            <a:spLocks/>
          </p:cNvSpPr>
          <p:nvPr/>
        </p:nvSpPr>
        <p:spPr>
          <a:xfrm>
            <a:off x="9223046" y="3587286"/>
            <a:ext cx="2556000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  <a:latin typeface="+mj-lt"/>
              </a:rPr>
              <a:t>Extending the platform </a:t>
            </a:r>
            <a:r>
              <a:rPr lang="en-US" sz="1000" b="0" i="0" dirty="0">
                <a:solidFill>
                  <a:schemeClr val="tx1"/>
                </a:solidFill>
                <a:effectLst/>
                <a:latin typeface="+mj-lt"/>
              </a:rPr>
              <a:t>from basic to full blown scope enabling advanced</a:t>
            </a:r>
            <a:r>
              <a:rPr lang="en-US" sz="1000" dirty="0">
                <a:solidFill>
                  <a:schemeClr val="tx1"/>
                </a:solidFill>
                <a:latin typeface="+mj-lt"/>
              </a:rPr>
              <a:t> capabilities such as </a:t>
            </a:r>
            <a:r>
              <a:rPr lang="en-US" sz="1000" dirty="0">
                <a:solidFill>
                  <a:schemeClr val="tx1"/>
                </a:solidFill>
              </a:rPr>
              <a:t>data science, data prototyping, data security </a:t>
            </a:r>
            <a:r>
              <a:rPr lang="en-US" sz="1000" dirty="0" err="1">
                <a:solidFill>
                  <a:schemeClr val="tx1"/>
                </a:solidFill>
              </a:rPr>
              <a:t>etc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F8A6FAD-AD0D-A4BA-CFD3-C24979EB9025}"/>
              </a:ext>
            </a:extLst>
          </p:cNvPr>
          <p:cNvSpPr>
            <a:spLocks/>
          </p:cNvSpPr>
          <p:nvPr/>
        </p:nvSpPr>
        <p:spPr>
          <a:xfrm>
            <a:off x="5299045" y="3573016"/>
            <a:ext cx="6480000" cy="10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Rechteck 17">
            <a:extLst>
              <a:ext uri="{FF2B5EF4-FFF2-40B4-BE49-F238E27FC236}">
                <a16:creationId xmlns:a16="http://schemas.microsoft.com/office/drawing/2014/main" id="{A73F1084-CC2D-3FB8-4501-5300202E1002}"/>
              </a:ext>
            </a:extLst>
          </p:cNvPr>
          <p:cNvSpPr>
            <a:spLocks/>
          </p:cNvSpPr>
          <p:nvPr/>
        </p:nvSpPr>
        <p:spPr>
          <a:xfrm>
            <a:off x="5331007" y="4669100"/>
            <a:ext cx="1915364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/>
              <a:t>Provide Expert Services and </a:t>
            </a:r>
            <a:br>
              <a:rPr lang="en-US" sz="1400" b="1"/>
            </a:br>
            <a:r>
              <a:rPr lang="en-US" sz="1400" b="1"/>
              <a:t>IT Support</a:t>
            </a:r>
          </a:p>
        </p:txBody>
      </p:sp>
      <p:sp>
        <p:nvSpPr>
          <p:cNvPr id="26" name="Rechteck 13">
            <a:extLst>
              <a:ext uri="{FF2B5EF4-FFF2-40B4-BE49-F238E27FC236}">
                <a16:creationId xmlns:a16="http://schemas.microsoft.com/office/drawing/2014/main" id="{75A192EC-6DEC-487B-C1D3-6B025CF7923D}"/>
              </a:ext>
            </a:extLst>
          </p:cNvPr>
          <p:cNvSpPr/>
          <p:nvPr/>
        </p:nvSpPr>
        <p:spPr>
          <a:xfrm>
            <a:off x="7176120" y="4674484"/>
            <a:ext cx="36000" cy="1008000"/>
          </a:xfrm>
          <a:prstGeom prst="rect">
            <a:avLst/>
          </a:prstGeom>
          <a:solidFill>
            <a:srgbClr val="4EFFD2"/>
          </a:solidFill>
          <a:ln>
            <a:solidFill>
              <a:srgbClr val="4EFF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/>
          </a:p>
        </p:txBody>
      </p:sp>
      <p:sp>
        <p:nvSpPr>
          <p:cNvPr id="39" name="Rechteck 15">
            <a:extLst>
              <a:ext uri="{FF2B5EF4-FFF2-40B4-BE49-F238E27FC236}">
                <a16:creationId xmlns:a16="http://schemas.microsoft.com/office/drawing/2014/main" id="{A1290024-D633-1B87-B8FF-3C9554BE1A47}"/>
              </a:ext>
            </a:extLst>
          </p:cNvPr>
          <p:cNvSpPr>
            <a:spLocks/>
          </p:cNvSpPr>
          <p:nvPr/>
        </p:nvSpPr>
        <p:spPr>
          <a:xfrm>
            <a:off x="9223046" y="4674484"/>
            <a:ext cx="2556000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chemeClr val="tx1"/>
                </a:solidFill>
              </a:rPr>
              <a:t>Offer dedicated expert services and ensure 1</a:t>
            </a:r>
            <a:r>
              <a:rPr lang="en-US" sz="1000" baseline="30000" dirty="0">
                <a:solidFill>
                  <a:schemeClr val="tx1"/>
                </a:solidFill>
              </a:rPr>
              <a:t>st</a:t>
            </a:r>
            <a:r>
              <a:rPr lang="en-US" sz="1000" dirty="0">
                <a:solidFill>
                  <a:schemeClr val="tx1"/>
                </a:solidFill>
              </a:rPr>
              <a:t>, 2</a:t>
            </a:r>
            <a:r>
              <a:rPr lang="en-US" sz="1000" baseline="30000" dirty="0">
                <a:solidFill>
                  <a:schemeClr val="tx1"/>
                </a:solidFill>
              </a:rPr>
              <a:t>nd</a:t>
            </a:r>
            <a:r>
              <a:rPr lang="en-US" sz="1000" dirty="0">
                <a:solidFill>
                  <a:schemeClr val="tx1"/>
                </a:solidFill>
              </a:rPr>
              <a:t> and 3</a:t>
            </a:r>
            <a:r>
              <a:rPr lang="en-US" sz="1000" baseline="30000" dirty="0">
                <a:solidFill>
                  <a:schemeClr val="tx1"/>
                </a:solidFill>
              </a:rPr>
              <a:t>rd</a:t>
            </a:r>
            <a:r>
              <a:rPr lang="en-US" sz="1000" dirty="0">
                <a:solidFill>
                  <a:schemeClr val="tx1"/>
                </a:solidFill>
              </a:rPr>
              <a:t> level IT support during the lifecycle 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CEC1EEC-8F67-7228-8C76-47B02FF361F9}"/>
              </a:ext>
            </a:extLst>
          </p:cNvPr>
          <p:cNvSpPr>
            <a:spLocks/>
          </p:cNvSpPr>
          <p:nvPr/>
        </p:nvSpPr>
        <p:spPr>
          <a:xfrm>
            <a:off x="5299045" y="4674484"/>
            <a:ext cx="6480000" cy="10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98CDE9D1-9792-32AD-B80C-FBFD3AEA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</p:spPr>
        <p:txBody>
          <a:bodyPr/>
          <a:lstStyle/>
          <a:p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4 |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Project Ambition Fiscal Year 2024</a:t>
            </a:r>
            <a:br>
              <a:rPr lang="en-US" sz="1400" b="0" dirty="0">
                <a:solidFill>
                  <a:prstClr val="white"/>
                </a:solidFill>
                <a:latin typeface="Arial"/>
              </a:rPr>
            </a:br>
            <a:r>
              <a:rPr lang="en-US" dirty="0"/>
              <a:t>Plan for FY 24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C240B43-FEE8-08C8-C6FC-ACE99F0A0C6C}"/>
              </a:ext>
            </a:extLst>
          </p:cNvPr>
          <p:cNvSpPr/>
          <p:nvPr/>
        </p:nvSpPr>
        <p:spPr>
          <a:xfrm>
            <a:off x="884716" y="5805263"/>
            <a:ext cx="10872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/>
              <a:t>All activities within LDF Data Platform are and will be continuously aligned with XO Portfolio</a:t>
            </a:r>
            <a:endParaRPr lang="de-DE" dirty="0"/>
          </a:p>
        </p:txBody>
      </p:sp>
      <p:sp>
        <p:nvSpPr>
          <p:cNvPr id="40" name="Rechteck 15">
            <a:extLst>
              <a:ext uri="{FF2B5EF4-FFF2-40B4-BE49-F238E27FC236}">
                <a16:creationId xmlns:a16="http://schemas.microsoft.com/office/drawing/2014/main" id="{49F957AA-07FA-E29F-E6A1-984178D76B79}"/>
              </a:ext>
            </a:extLst>
          </p:cNvPr>
          <p:cNvSpPr>
            <a:spLocks/>
          </p:cNvSpPr>
          <p:nvPr/>
        </p:nvSpPr>
        <p:spPr>
          <a:xfrm>
            <a:off x="9223046" y="2500087"/>
            <a:ext cx="2556000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dirty="0"/>
              <a:t>Developing new use-cases to extend the product and service portfolio (e.g., Closed Loop SMT, PIP and PDA)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185FB9-CC0A-E7D6-670C-EB4D227E0F0D}"/>
              </a:ext>
            </a:extLst>
          </p:cNvPr>
          <p:cNvGrpSpPr/>
          <p:nvPr/>
        </p:nvGrpSpPr>
        <p:grpSpPr>
          <a:xfrm>
            <a:off x="462291" y="5825378"/>
            <a:ext cx="336601" cy="360000"/>
            <a:chOff x="1991543" y="5408784"/>
            <a:chExt cx="336601" cy="3600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B97BFE8-BB22-D0E7-A577-AF58DEE72AED}"/>
                </a:ext>
              </a:extLst>
            </p:cNvPr>
            <p:cNvGrpSpPr/>
            <p:nvPr/>
          </p:nvGrpSpPr>
          <p:grpSpPr>
            <a:xfrm>
              <a:off x="1991543" y="5408784"/>
              <a:ext cx="180000" cy="360000"/>
              <a:chOff x="2214826" y="5195615"/>
              <a:chExt cx="145177" cy="253039"/>
            </a:xfrm>
          </p:grpSpPr>
          <p:sp>
            <p:nvSpPr>
              <p:cNvPr id="43" name="Pfeil: Chevron 124">
                <a:extLst>
                  <a:ext uri="{FF2B5EF4-FFF2-40B4-BE49-F238E27FC236}">
                    <a16:creationId xmlns:a16="http://schemas.microsoft.com/office/drawing/2014/main" id="{95415C07-5421-3660-D1D9-09C839B21A9B}"/>
                  </a:ext>
                </a:extLst>
              </p:cNvPr>
              <p:cNvSpPr/>
              <p:nvPr/>
            </p:nvSpPr>
            <p:spPr>
              <a:xfrm>
                <a:off x="2214826" y="5195615"/>
                <a:ext cx="116136" cy="253039"/>
              </a:xfrm>
              <a:prstGeom prst="chevron">
                <a:avLst/>
              </a:prstGeom>
              <a:solidFill>
                <a:schemeClr val="accent2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Pfeil: Chevron 148">
                <a:extLst>
                  <a:ext uri="{FF2B5EF4-FFF2-40B4-BE49-F238E27FC236}">
                    <a16:creationId xmlns:a16="http://schemas.microsoft.com/office/drawing/2014/main" id="{973ED5EE-5D37-4644-7E33-98D61B3D609F}"/>
                  </a:ext>
                </a:extLst>
              </p:cNvPr>
              <p:cNvSpPr/>
              <p:nvPr/>
            </p:nvSpPr>
            <p:spPr>
              <a:xfrm>
                <a:off x="2243867" y="5195615"/>
                <a:ext cx="116136" cy="253039"/>
              </a:xfrm>
              <a:prstGeom prst="chevro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DA52A53-9964-410E-683E-D8171AAD3C5A}"/>
                </a:ext>
              </a:extLst>
            </p:cNvPr>
            <p:cNvGrpSpPr/>
            <p:nvPr/>
          </p:nvGrpSpPr>
          <p:grpSpPr>
            <a:xfrm>
              <a:off x="2148144" y="5408784"/>
              <a:ext cx="180000" cy="360000"/>
              <a:chOff x="2214826" y="5195615"/>
              <a:chExt cx="145177" cy="253039"/>
            </a:xfrm>
          </p:grpSpPr>
          <p:sp>
            <p:nvSpPr>
              <p:cNvPr id="46" name="Pfeil: Chevron 124">
                <a:extLst>
                  <a:ext uri="{FF2B5EF4-FFF2-40B4-BE49-F238E27FC236}">
                    <a16:creationId xmlns:a16="http://schemas.microsoft.com/office/drawing/2014/main" id="{0D189D56-5F90-776F-0384-2204F99D26E9}"/>
                  </a:ext>
                </a:extLst>
              </p:cNvPr>
              <p:cNvSpPr/>
              <p:nvPr/>
            </p:nvSpPr>
            <p:spPr>
              <a:xfrm>
                <a:off x="2214826" y="5195615"/>
                <a:ext cx="116136" cy="253039"/>
              </a:xfrm>
              <a:prstGeom prst="chevron">
                <a:avLst/>
              </a:prstGeom>
              <a:solidFill>
                <a:schemeClr val="accent2">
                  <a:lumMod val="60000"/>
                  <a:lumOff val="4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Pfeil: Chevron 148">
                <a:extLst>
                  <a:ext uri="{FF2B5EF4-FFF2-40B4-BE49-F238E27FC236}">
                    <a16:creationId xmlns:a16="http://schemas.microsoft.com/office/drawing/2014/main" id="{770E3807-C3AF-960A-0879-102BB85E14C3}"/>
                  </a:ext>
                </a:extLst>
              </p:cNvPr>
              <p:cNvSpPr/>
              <p:nvPr/>
            </p:nvSpPr>
            <p:spPr>
              <a:xfrm>
                <a:off x="2243867" y="5195615"/>
                <a:ext cx="116136" cy="253039"/>
              </a:xfrm>
              <a:prstGeom prst="chevro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sz="120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30" name="Grafik 29">
            <a:extLst>
              <a:ext uri="{FF2B5EF4-FFF2-40B4-BE49-F238E27FC236}">
                <a16:creationId xmlns:a16="http://schemas.microsoft.com/office/drawing/2014/main" id="{3B6EADC1-3D9D-44C7-EDB2-CCCE2E15608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5611" y="4728484"/>
            <a:ext cx="16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3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Objekt 25" hidden="1">
            <a:extLst>
              <a:ext uri="{FF2B5EF4-FFF2-40B4-BE49-F238E27FC236}">
                <a16:creationId xmlns:a16="http://schemas.microsoft.com/office/drawing/2014/main" id="{A3BD3FD9-C298-44B5-BD00-10E02614BF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592" imgH="591" progId="TCLayout.ActiveDocument.1">
                  <p:embed/>
                </p:oleObj>
              </mc:Choice>
              <mc:Fallback>
                <p:oleObj name="think-cell Folie" r:id="rId4" imgW="592" imgH="591" progId="TCLayout.ActiveDocument.1">
                  <p:embed/>
                  <p:pic>
                    <p:nvPicPr>
                      <p:cNvPr id="26" name="Objekt 25" hidden="1">
                        <a:extLst>
                          <a:ext uri="{FF2B5EF4-FFF2-40B4-BE49-F238E27FC236}">
                            <a16:creationId xmlns:a16="http://schemas.microsoft.com/office/drawing/2014/main" id="{A3BD3FD9-C298-44B5-BD00-10E02614B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90E399-7A58-4298-A295-CCB60BD97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3125015" cy="54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2023 | DI IT DEMA | 2023-09-08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GB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3D59AB02-847C-4AC5-9490-96ACF2DE4DA3}"/>
              </a:ext>
            </a:extLst>
          </p:cNvPr>
          <p:cNvSpPr/>
          <p:nvPr/>
        </p:nvSpPr>
        <p:spPr bwMode="gray">
          <a:xfrm>
            <a:off x="3959810" y="1782659"/>
            <a:ext cx="7776000" cy="1152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Extend Platform Capabilities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Scale existing Use Cases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Develop new Use Cases on the platform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Provide Expert Services and IT Support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Continuous alignment with XO Portfolio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5" name="Rechteck 194">
            <a:extLst>
              <a:ext uri="{FF2B5EF4-FFF2-40B4-BE49-F238E27FC236}">
                <a16:creationId xmlns:a16="http://schemas.microsoft.com/office/drawing/2014/main" id="{D4C506DC-D77D-4ADB-88E8-9CF43C950831}"/>
              </a:ext>
            </a:extLst>
          </p:cNvPr>
          <p:cNvSpPr/>
          <p:nvPr/>
        </p:nvSpPr>
        <p:spPr bwMode="gray">
          <a:xfrm>
            <a:off x="4112718" y="3048000"/>
            <a:ext cx="1116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OBJECTIVES</a:t>
            </a:r>
          </a:p>
        </p:txBody>
      </p:sp>
      <p:sp>
        <p:nvSpPr>
          <p:cNvPr id="203" name="Rechteck 202">
            <a:extLst>
              <a:ext uri="{FF2B5EF4-FFF2-40B4-BE49-F238E27FC236}">
                <a16:creationId xmlns:a16="http://schemas.microsoft.com/office/drawing/2014/main" id="{1152DCD8-C044-4082-B6E8-5C1B39267972}"/>
              </a:ext>
            </a:extLst>
          </p:cNvPr>
          <p:cNvSpPr/>
          <p:nvPr/>
        </p:nvSpPr>
        <p:spPr bwMode="gray">
          <a:xfrm>
            <a:off x="4112717" y="1414859"/>
            <a:ext cx="1188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DESCRIPTION</a:t>
            </a:r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DB54C98C-B8A1-4D63-B58C-C0CCCDE603BB}"/>
              </a:ext>
            </a:extLst>
          </p:cNvPr>
          <p:cNvSpPr/>
          <p:nvPr/>
        </p:nvSpPr>
        <p:spPr bwMode="gray">
          <a:xfrm>
            <a:off x="988698" y="3644358"/>
            <a:ext cx="2519980" cy="71500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72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280.000 € (FY23) – FA, MC (PA invested already in base concept)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480.000 € (FY24) – FA, MC, PA</a:t>
            </a:r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BAA2D3EB-89AD-4B8D-BB96-B941F999D793}"/>
              </a:ext>
            </a:extLst>
          </p:cNvPr>
          <p:cNvSpPr/>
          <p:nvPr/>
        </p:nvSpPr>
        <p:spPr bwMode="gray">
          <a:xfrm>
            <a:off x="992501" y="4566342"/>
            <a:ext cx="2516177" cy="40505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FY23: 04/2023 – 09/2023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FY24: 10/2023 – 09/2024</a:t>
            </a:r>
          </a:p>
        </p:txBody>
      </p: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35C8C1D1-DBD9-43D0-86B4-8AA522F62DF4}"/>
              </a:ext>
            </a:extLst>
          </p:cNvPr>
          <p:cNvCxnSpPr>
            <a:cxnSpLocks/>
          </p:cNvCxnSpPr>
          <p:nvPr/>
        </p:nvCxnSpPr>
        <p:spPr>
          <a:xfrm flipH="1">
            <a:off x="1676400" y="4420298"/>
            <a:ext cx="1524000" cy="0"/>
          </a:xfrm>
          <a:prstGeom prst="line">
            <a:avLst/>
          </a:prstGeom>
          <a:ln w="9525">
            <a:gradFill>
              <a:gsLst>
                <a:gs pos="20000">
                  <a:schemeClr val="bg1"/>
                </a:gs>
                <a:gs pos="0">
                  <a:srgbClr val="00052B"/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hteck 234">
            <a:extLst>
              <a:ext uri="{FF2B5EF4-FFF2-40B4-BE49-F238E27FC236}">
                <a16:creationId xmlns:a16="http://schemas.microsoft.com/office/drawing/2014/main" id="{51838C5D-85FD-4807-BF61-1FD0B9D7FD41}"/>
              </a:ext>
            </a:extLst>
          </p:cNvPr>
          <p:cNvSpPr/>
          <p:nvPr/>
        </p:nvSpPr>
        <p:spPr bwMode="gray">
          <a:xfrm>
            <a:off x="1002361" y="4314976"/>
            <a:ext cx="674039" cy="216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</a:t>
            </a:r>
          </a:p>
        </p:txBody>
      </p:sp>
      <p:sp>
        <p:nvSpPr>
          <p:cNvPr id="256" name="Rechteck 255">
            <a:extLst>
              <a:ext uri="{FF2B5EF4-FFF2-40B4-BE49-F238E27FC236}">
                <a16:creationId xmlns:a16="http://schemas.microsoft.com/office/drawing/2014/main" id="{C52D68F8-7CED-4FF1-B9AC-6D9FFE6D1BB5}"/>
              </a:ext>
            </a:extLst>
          </p:cNvPr>
          <p:cNvSpPr/>
          <p:nvPr/>
        </p:nvSpPr>
        <p:spPr>
          <a:xfrm>
            <a:off x="411163" y="1414463"/>
            <a:ext cx="3231380" cy="912471"/>
          </a:xfrm>
          <a:prstGeom prst="rect">
            <a:avLst/>
          </a:prstGeom>
          <a:blipFill>
            <a:blip r:embed="rId6"/>
            <a:srcRect/>
            <a:stretch>
              <a:fillRect l="-10327" t="-49472" r="-2" b="-7002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4800" tIns="83200" rIns="124800" bIns="832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30" name="Gerader Verbinder 229">
            <a:extLst>
              <a:ext uri="{FF2B5EF4-FFF2-40B4-BE49-F238E27FC236}">
                <a16:creationId xmlns:a16="http://schemas.microsoft.com/office/drawing/2014/main" id="{08749221-AF9B-4B42-925F-B2A4B1B24BB3}"/>
              </a:ext>
            </a:extLst>
          </p:cNvPr>
          <p:cNvCxnSpPr>
            <a:cxnSpLocks/>
          </p:cNvCxnSpPr>
          <p:nvPr/>
        </p:nvCxnSpPr>
        <p:spPr>
          <a:xfrm flipH="1">
            <a:off x="1607916" y="3500992"/>
            <a:ext cx="1598415" cy="0"/>
          </a:xfrm>
          <a:prstGeom prst="line">
            <a:avLst/>
          </a:prstGeom>
          <a:ln w="9525">
            <a:gradFill>
              <a:gsLst>
                <a:gs pos="20000">
                  <a:schemeClr val="bg1"/>
                </a:gs>
                <a:gs pos="0">
                  <a:srgbClr val="00052B"/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Rechteck 228">
            <a:extLst>
              <a:ext uri="{FF2B5EF4-FFF2-40B4-BE49-F238E27FC236}">
                <a16:creationId xmlns:a16="http://schemas.microsoft.com/office/drawing/2014/main" id="{73EDCE5A-F76A-455E-BFC6-DB037923E463}"/>
              </a:ext>
            </a:extLst>
          </p:cNvPr>
          <p:cNvSpPr/>
          <p:nvPr/>
        </p:nvSpPr>
        <p:spPr bwMode="gray">
          <a:xfrm>
            <a:off x="990600" y="3392992"/>
            <a:ext cx="617316" cy="216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Budget</a:t>
            </a:r>
          </a:p>
        </p:txBody>
      </p:sp>
      <p:sp>
        <p:nvSpPr>
          <p:cNvPr id="480" name="Parallelogramm 479">
            <a:extLst>
              <a:ext uri="{FF2B5EF4-FFF2-40B4-BE49-F238E27FC236}">
                <a16:creationId xmlns:a16="http://schemas.microsoft.com/office/drawing/2014/main" id="{3247D742-867B-4763-B41B-D86F1A349D2B}"/>
              </a:ext>
            </a:extLst>
          </p:cNvPr>
          <p:cNvSpPr/>
          <p:nvPr/>
        </p:nvSpPr>
        <p:spPr bwMode="gray">
          <a:xfrm rot="10800000">
            <a:off x="411163" y="1414463"/>
            <a:ext cx="3231380" cy="912471"/>
          </a:xfrm>
          <a:prstGeom prst="parallelogram">
            <a:avLst>
              <a:gd name="adj" fmla="val 0"/>
            </a:avLst>
          </a:prstGeom>
          <a:solidFill>
            <a:srgbClr val="00283E">
              <a:alpha val="50000"/>
            </a:srgbClr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8" name="Gleichschenkliges Dreieck 257">
            <a:extLst>
              <a:ext uri="{FF2B5EF4-FFF2-40B4-BE49-F238E27FC236}">
                <a16:creationId xmlns:a16="http://schemas.microsoft.com/office/drawing/2014/main" id="{41A1ABD5-9F95-4C06-BA45-C8D8CC0752A7}"/>
              </a:ext>
            </a:extLst>
          </p:cNvPr>
          <p:cNvSpPr/>
          <p:nvPr/>
        </p:nvSpPr>
        <p:spPr>
          <a:xfrm rot="16200000" flipH="1" flipV="1">
            <a:off x="333910" y="1303949"/>
            <a:ext cx="309037" cy="328788"/>
          </a:xfrm>
          <a:prstGeom prst="triangle">
            <a:avLst>
              <a:gd name="adj" fmla="val 0"/>
            </a:avLst>
          </a:prstGeom>
          <a:solidFill>
            <a:srgbClr val="00233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4800" tIns="83200" rIns="124800" bIns="832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86" name="Gerader Verbinder 485">
            <a:extLst>
              <a:ext uri="{FF2B5EF4-FFF2-40B4-BE49-F238E27FC236}">
                <a16:creationId xmlns:a16="http://schemas.microsoft.com/office/drawing/2014/main" id="{459B90FA-AD8C-4F63-9C54-A8A55134D4EE}"/>
              </a:ext>
            </a:extLst>
          </p:cNvPr>
          <p:cNvCxnSpPr>
            <a:cxnSpLocks/>
            <a:endCxn id="203" idx="3"/>
          </p:cNvCxnSpPr>
          <p:nvPr/>
        </p:nvCxnSpPr>
        <p:spPr>
          <a:xfrm flipH="1">
            <a:off x="5300717" y="1558859"/>
            <a:ext cx="6639379" cy="0"/>
          </a:xfrm>
          <a:prstGeom prst="line">
            <a:avLst/>
          </a:prstGeom>
          <a:ln w="9525">
            <a:gradFill>
              <a:gsLst>
                <a:gs pos="15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Rechteck 488">
            <a:extLst>
              <a:ext uri="{FF2B5EF4-FFF2-40B4-BE49-F238E27FC236}">
                <a16:creationId xmlns:a16="http://schemas.microsoft.com/office/drawing/2014/main" id="{4ABA39BF-B297-42D4-957A-D06FCD0E504B}"/>
              </a:ext>
            </a:extLst>
          </p:cNvPr>
          <p:cNvSpPr/>
          <p:nvPr/>
        </p:nvSpPr>
        <p:spPr bwMode="gray">
          <a:xfrm>
            <a:off x="990599" y="2550116"/>
            <a:ext cx="1072937" cy="18416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Responsibility </a:t>
            </a:r>
          </a:p>
        </p:txBody>
      </p:sp>
      <p:sp>
        <p:nvSpPr>
          <p:cNvPr id="247" name="Gleichschenkliges Dreieck 246">
            <a:extLst>
              <a:ext uri="{FF2B5EF4-FFF2-40B4-BE49-F238E27FC236}">
                <a16:creationId xmlns:a16="http://schemas.microsoft.com/office/drawing/2014/main" id="{27B42E39-2F38-490E-83BD-882368BEB4F4}"/>
              </a:ext>
            </a:extLst>
          </p:cNvPr>
          <p:cNvSpPr/>
          <p:nvPr/>
        </p:nvSpPr>
        <p:spPr>
          <a:xfrm rot="5400000" flipH="1" flipV="1">
            <a:off x="418130" y="1410845"/>
            <a:ext cx="131344" cy="139443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alpha val="2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4800" tIns="83200" rIns="124800" bIns="832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8" name="Parallelogramm 247">
            <a:extLst>
              <a:ext uri="{FF2B5EF4-FFF2-40B4-BE49-F238E27FC236}">
                <a16:creationId xmlns:a16="http://schemas.microsoft.com/office/drawing/2014/main" id="{1C4AFDBA-6CB8-4D97-B40B-855F7E77C971}"/>
              </a:ext>
            </a:extLst>
          </p:cNvPr>
          <p:cNvSpPr/>
          <p:nvPr/>
        </p:nvSpPr>
        <p:spPr bwMode="gray">
          <a:xfrm flipH="1">
            <a:off x="409262" y="1414462"/>
            <a:ext cx="3231380" cy="4752973"/>
          </a:xfrm>
          <a:prstGeom prst="parallelogram">
            <a:avLst>
              <a:gd name="adj" fmla="val 0"/>
            </a:avLst>
          </a:prstGeom>
          <a:noFill/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3" name="Gerader Verbinder 502">
            <a:extLst>
              <a:ext uri="{FF2B5EF4-FFF2-40B4-BE49-F238E27FC236}">
                <a16:creationId xmlns:a16="http://schemas.microsoft.com/office/drawing/2014/main" id="{07D9A694-9999-422F-B7DC-444078E76042}"/>
              </a:ext>
            </a:extLst>
          </p:cNvPr>
          <p:cNvCxnSpPr>
            <a:cxnSpLocks/>
            <a:stCxn id="203" idx="1"/>
          </p:cNvCxnSpPr>
          <p:nvPr/>
        </p:nvCxnSpPr>
        <p:spPr>
          <a:xfrm flipH="1">
            <a:off x="3886200" y="1558859"/>
            <a:ext cx="226517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Gerader Verbinder 504">
            <a:extLst>
              <a:ext uri="{FF2B5EF4-FFF2-40B4-BE49-F238E27FC236}">
                <a16:creationId xmlns:a16="http://schemas.microsoft.com/office/drawing/2014/main" id="{CDD8C4C9-268A-409A-A0BA-BB81A714583B}"/>
              </a:ext>
            </a:extLst>
          </p:cNvPr>
          <p:cNvCxnSpPr>
            <a:cxnSpLocks/>
            <a:stCxn id="195" idx="1"/>
          </p:cNvCxnSpPr>
          <p:nvPr/>
        </p:nvCxnSpPr>
        <p:spPr>
          <a:xfrm flipH="1">
            <a:off x="3886200" y="3192000"/>
            <a:ext cx="226518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hteck 237">
            <a:extLst>
              <a:ext uri="{FF2B5EF4-FFF2-40B4-BE49-F238E27FC236}">
                <a16:creationId xmlns:a16="http://schemas.microsoft.com/office/drawing/2014/main" id="{A3E712E8-7688-4635-83E6-8F4C9D7ABEF8}"/>
              </a:ext>
            </a:extLst>
          </p:cNvPr>
          <p:cNvSpPr/>
          <p:nvPr/>
        </p:nvSpPr>
        <p:spPr bwMode="gray">
          <a:xfrm>
            <a:off x="4112718" y="4648200"/>
            <a:ext cx="900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3600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/>
                <a:ea typeface="+mn-ea"/>
                <a:cs typeface="Segoe UI Semibold" panose="020B0702040204020203" pitchFamily="34" charset="0"/>
              </a:rPr>
              <a:t>BENEFITS</a:t>
            </a:r>
          </a:p>
        </p:txBody>
      </p:sp>
      <p:sp>
        <p:nvSpPr>
          <p:cNvPr id="293" name="Titel 3">
            <a:extLst>
              <a:ext uri="{FF2B5EF4-FFF2-40B4-BE49-F238E27FC236}">
                <a16:creationId xmlns:a16="http://schemas.microsoft.com/office/drawing/2014/main" id="{D97EB49D-CF4A-4385-A38D-DDE17F3187B0}"/>
              </a:ext>
            </a:extLst>
          </p:cNvPr>
          <p:cNvSpPr txBox="1">
            <a:spLocks/>
          </p:cNvSpPr>
          <p:nvPr/>
        </p:nvSpPr>
        <p:spPr>
          <a:xfrm>
            <a:off x="446086" y="493494"/>
            <a:ext cx="8140160" cy="559019"/>
          </a:xfrm>
          <a:prstGeom prst="rect">
            <a:avLst/>
          </a:prstGeom>
        </p:spPr>
        <p:txBody>
          <a:bodyPr vert="horz" lIns="0" tIns="72000" rIns="72000" bIns="72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LDF Data </a:t>
            </a:r>
            <a:r>
              <a:rPr kumimoji="0" lang="de-DE" sz="2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Platform</a:t>
            </a:r>
            <a:r>
              <a:rPr kumimoji="0" lang="de-DE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FY24 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Enhancement and Rollout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League Spartan" charset="0"/>
                <a:cs typeface="Poppins" pitchFamily="2" charset="77"/>
              </a:rPr>
              <a:t>)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cxnSp>
        <p:nvCxnSpPr>
          <p:cNvPr id="10" name="Gerader Verbinder 497">
            <a:extLst>
              <a:ext uri="{FF2B5EF4-FFF2-40B4-BE49-F238E27FC236}">
                <a16:creationId xmlns:a16="http://schemas.microsoft.com/office/drawing/2014/main" id="{EB447426-66E0-2373-C2CF-F44E23CFC3E6}"/>
              </a:ext>
            </a:extLst>
          </p:cNvPr>
          <p:cNvCxnSpPr>
            <a:cxnSpLocks/>
          </p:cNvCxnSpPr>
          <p:nvPr/>
        </p:nvCxnSpPr>
        <p:spPr>
          <a:xfrm flipH="1">
            <a:off x="411163" y="2642200"/>
            <a:ext cx="72000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229">
            <a:extLst>
              <a:ext uri="{FF2B5EF4-FFF2-40B4-BE49-F238E27FC236}">
                <a16:creationId xmlns:a16="http://schemas.microsoft.com/office/drawing/2014/main" id="{97847D9F-F96A-6BA9-106D-399A0D9ABCFF}"/>
              </a:ext>
            </a:extLst>
          </p:cNvPr>
          <p:cNvCxnSpPr>
            <a:cxnSpLocks/>
            <a:endCxn id="489" idx="3"/>
          </p:cNvCxnSpPr>
          <p:nvPr/>
        </p:nvCxnSpPr>
        <p:spPr>
          <a:xfrm flipH="1">
            <a:off x="2063536" y="2642201"/>
            <a:ext cx="1142795" cy="0"/>
          </a:xfrm>
          <a:prstGeom prst="line">
            <a:avLst/>
          </a:prstGeom>
          <a:ln w="9525">
            <a:gradFill>
              <a:gsLst>
                <a:gs pos="20000">
                  <a:schemeClr val="bg1"/>
                </a:gs>
                <a:gs pos="0">
                  <a:srgbClr val="00052B"/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227">
            <a:extLst>
              <a:ext uri="{FF2B5EF4-FFF2-40B4-BE49-F238E27FC236}">
                <a16:creationId xmlns:a16="http://schemas.microsoft.com/office/drawing/2014/main" id="{A1574378-E940-5181-7977-C03675D21B17}"/>
              </a:ext>
            </a:extLst>
          </p:cNvPr>
          <p:cNvSpPr/>
          <p:nvPr/>
        </p:nvSpPr>
        <p:spPr bwMode="gray">
          <a:xfrm>
            <a:off x="985564" y="2795551"/>
            <a:ext cx="2523114" cy="51473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Achim Moosburger (DI IT DEMA ATR)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Katrin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Weißmann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(DI IT DEMA BDA)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82E480-8EBD-43FA-6908-06F6CDAB4027}"/>
              </a:ext>
            </a:extLst>
          </p:cNvPr>
          <p:cNvSpPr/>
          <p:nvPr/>
        </p:nvSpPr>
        <p:spPr>
          <a:xfrm>
            <a:off x="482868" y="2508648"/>
            <a:ext cx="288000" cy="288000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" name="Gerader Verbinder 497">
            <a:extLst>
              <a:ext uri="{FF2B5EF4-FFF2-40B4-BE49-F238E27FC236}">
                <a16:creationId xmlns:a16="http://schemas.microsoft.com/office/drawing/2014/main" id="{08EBD7E6-7684-1499-A44C-B221E73E45D3}"/>
              </a:ext>
            </a:extLst>
          </p:cNvPr>
          <p:cNvCxnSpPr>
            <a:cxnSpLocks/>
          </p:cNvCxnSpPr>
          <p:nvPr/>
        </p:nvCxnSpPr>
        <p:spPr>
          <a:xfrm flipH="1">
            <a:off x="770868" y="2642200"/>
            <a:ext cx="219732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497">
            <a:extLst>
              <a:ext uri="{FF2B5EF4-FFF2-40B4-BE49-F238E27FC236}">
                <a16:creationId xmlns:a16="http://schemas.microsoft.com/office/drawing/2014/main" id="{5CB07FE2-F97A-B81E-D550-3CE397B15AD1}"/>
              </a:ext>
            </a:extLst>
          </p:cNvPr>
          <p:cNvCxnSpPr>
            <a:cxnSpLocks/>
          </p:cNvCxnSpPr>
          <p:nvPr/>
        </p:nvCxnSpPr>
        <p:spPr>
          <a:xfrm flipH="1">
            <a:off x="411163" y="3500992"/>
            <a:ext cx="72000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452A353-1D9F-86B3-F621-A63B85048B0F}"/>
              </a:ext>
            </a:extLst>
          </p:cNvPr>
          <p:cNvSpPr/>
          <p:nvPr/>
        </p:nvSpPr>
        <p:spPr>
          <a:xfrm>
            <a:off x="482868" y="3356992"/>
            <a:ext cx="288000" cy="288000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7" name="Gerader Verbinder 497">
            <a:extLst>
              <a:ext uri="{FF2B5EF4-FFF2-40B4-BE49-F238E27FC236}">
                <a16:creationId xmlns:a16="http://schemas.microsoft.com/office/drawing/2014/main" id="{87891807-C0E2-3486-8834-808D3DAE07EA}"/>
              </a:ext>
            </a:extLst>
          </p:cNvPr>
          <p:cNvCxnSpPr>
            <a:cxnSpLocks/>
          </p:cNvCxnSpPr>
          <p:nvPr/>
        </p:nvCxnSpPr>
        <p:spPr>
          <a:xfrm flipH="1">
            <a:off x="770868" y="3500992"/>
            <a:ext cx="219732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497">
            <a:extLst>
              <a:ext uri="{FF2B5EF4-FFF2-40B4-BE49-F238E27FC236}">
                <a16:creationId xmlns:a16="http://schemas.microsoft.com/office/drawing/2014/main" id="{B50B552A-77D0-6B02-1BDD-D69FFD09B69D}"/>
              </a:ext>
            </a:extLst>
          </p:cNvPr>
          <p:cNvCxnSpPr>
            <a:cxnSpLocks/>
          </p:cNvCxnSpPr>
          <p:nvPr/>
        </p:nvCxnSpPr>
        <p:spPr>
          <a:xfrm flipH="1">
            <a:off x="413064" y="4422976"/>
            <a:ext cx="72000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E026703-3F24-EC95-DFFF-3B1160C02316}"/>
              </a:ext>
            </a:extLst>
          </p:cNvPr>
          <p:cNvSpPr/>
          <p:nvPr/>
        </p:nvSpPr>
        <p:spPr>
          <a:xfrm>
            <a:off x="484769" y="4278976"/>
            <a:ext cx="288000" cy="288000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0" name="Gerader Verbinder 497">
            <a:extLst>
              <a:ext uri="{FF2B5EF4-FFF2-40B4-BE49-F238E27FC236}">
                <a16:creationId xmlns:a16="http://schemas.microsoft.com/office/drawing/2014/main" id="{AFC1CC4B-DD03-4879-C4A7-792A76321D74}"/>
              </a:ext>
            </a:extLst>
          </p:cNvPr>
          <p:cNvCxnSpPr>
            <a:cxnSpLocks/>
          </p:cNvCxnSpPr>
          <p:nvPr/>
        </p:nvCxnSpPr>
        <p:spPr>
          <a:xfrm flipH="1">
            <a:off x="772769" y="4422976"/>
            <a:ext cx="219732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r Verbinder 504">
            <a:extLst>
              <a:ext uri="{FF2B5EF4-FFF2-40B4-BE49-F238E27FC236}">
                <a16:creationId xmlns:a16="http://schemas.microsoft.com/office/drawing/2014/main" id="{A08DF4AF-DD4C-6BE9-6694-889571F1510B}"/>
              </a:ext>
            </a:extLst>
          </p:cNvPr>
          <p:cNvCxnSpPr>
            <a:cxnSpLocks/>
            <a:stCxn id="238" idx="1"/>
          </p:cNvCxnSpPr>
          <p:nvPr/>
        </p:nvCxnSpPr>
        <p:spPr>
          <a:xfrm flipH="1">
            <a:off x="3886200" y="4792200"/>
            <a:ext cx="226518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hteck 195">
            <a:extLst>
              <a:ext uri="{FF2B5EF4-FFF2-40B4-BE49-F238E27FC236}">
                <a16:creationId xmlns:a16="http://schemas.microsoft.com/office/drawing/2014/main" id="{90CF53B5-F488-7229-5E82-05CD42E45C8D}"/>
              </a:ext>
            </a:extLst>
          </p:cNvPr>
          <p:cNvSpPr/>
          <p:nvPr/>
        </p:nvSpPr>
        <p:spPr bwMode="gray">
          <a:xfrm>
            <a:off x="3959810" y="5016000"/>
            <a:ext cx="7776000" cy="1080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Cost Optimization: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Decreasing operation costs for new use cases or onboarded factories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Scalability: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Faster setup and implementation times of new use cases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Self Service: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Enablement of IoT and Factory Use Cases with easy onboarding of required 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Analytics: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Learning based on more connected data to enable factory networks and enablement of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GenAI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Times New Roman" panose="02020603050405020304" pitchFamily="18" charset="0"/>
              </a:rPr>
              <a:t> use cases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›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</p:txBody>
      </p:sp>
      <p:pic>
        <p:nvPicPr>
          <p:cNvPr id="207" name="Graphic 206" descr="Office worker male outline">
            <a:extLst>
              <a:ext uri="{FF2B5EF4-FFF2-40B4-BE49-F238E27FC236}">
                <a16:creationId xmlns:a16="http://schemas.microsoft.com/office/drawing/2014/main" id="{F3053879-5199-6533-ACF7-2D9C36E62F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868" y="2544648"/>
            <a:ext cx="216000" cy="216000"/>
          </a:xfrm>
          <a:prstGeom prst="rect">
            <a:avLst/>
          </a:prstGeom>
        </p:spPr>
      </p:pic>
      <p:pic>
        <p:nvPicPr>
          <p:cNvPr id="209" name="Graphic 208" descr="Gantt Chart outline">
            <a:extLst>
              <a:ext uri="{FF2B5EF4-FFF2-40B4-BE49-F238E27FC236}">
                <a16:creationId xmlns:a16="http://schemas.microsoft.com/office/drawing/2014/main" id="{F584C73C-028D-874E-79B7-828DA1520B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769" y="4314976"/>
            <a:ext cx="216000" cy="216000"/>
          </a:xfrm>
          <a:prstGeom prst="rect">
            <a:avLst/>
          </a:prstGeom>
        </p:spPr>
      </p:pic>
      <p:pic>
        <p:nvPicPr>
          <p:cNvPr id="211" name="Graphic 210" descr="Euro outline">
            <a:extLst>
              <a:ext uri="{FF2B5EF4-FFF2-40B4-BE49-F238E27FC236}">
                <a16:creationId xmlns:a16="http://schemas.microsoft.com/office/drawing/2014/main" id="{E04A7E9E-0EC5-A313-22FA-0FFB154ED1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868" y="3392992"/>
            <a:ext cx="216000" cy="216000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1E07B52B-4E13-2483-038E-7D1FB77F787D}"/>
              </a:ext>
            </a:extLst>
          </p:cNvPr>
          <p:cNvCxnSpPr>
            <a:cxnSpLocks/>
            <a:endCxn id="238" idx="3"/>
          </p:cNvCxnSpPr>
          <p:nvPr/>
        </p:nvCxnSpPr>
        <p:spPr>
          <a:xfrm flipH="1">
            <a:off x="5012718" y="4792200"/>
            <a:ext cx="6927378" cy="0"/>
          </a:xfrm>
          <a:prstGeom prst="line">
            <a:avLst/>
          </a:prstGeom>
          <a:ln w="9525">
            <a:gradFill>
              <a:gsLst>
                <a:gs pos="15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2EEF675-C17C-F012-0C07-2CC0D46F48A4}"/>
              </a:ext>
            </a:extLst>
          </p:cNvPr>
          <p:cNvCxnSpPr>
            <a:cxnSpLocks/>
          </p:cNvCxnSpPr>
          <p:nvPr/>
        </p:nvCxnSpPr>
        <p:spPr>
          <a:xfrm flipH="1">
            <a:off x="5228718" y="3192000"/>
            <a:ext cx="6927378" cy="0"/>
          </a:xfrm>
          <a:prstGeom prst="line">
            <a:avLst/>
          </a:prstGeom>
          <a:ln w="9525">
            <a:gradFill>
              <a:gsLst>
                <a:gs pos="15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F0B5094-5419-91DA-B9C8-D1AC07ACCBA5}"/>
              </a:ext>
            </a:extLst>
          </p:cNvPr>
          <p:cNvSpPr/>
          <p:nvPr/>
        </p:nvSpPr>
        <p:spPr bwMode="gray">
          <a:xfrm>
            <a:off x="3959810" y="3433183"/>
            <a:ext cx="8196286" cy="1152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Extend Self-service portal for requesting cloud components in IoT Data Lake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multi-cloud, solution blueprints, etc.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Conceptual and logical design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 Continue creation of common LDF Data Model for standardizing data analysis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Times New Roman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Data Ingestion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Standardization by creating data ingestion templates with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SnapLogic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Data Catalog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Implement data catalog for tracing lineage in data products and increase data literacy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Data Observability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 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 Increase trust on data in LDF Data Platform by a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Arial"/>
              </a:rPr>
              <a:t>utomating the detection of data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Data Democratization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 Tools that allow non-technical users to interact with the data and generate insights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</a:rPr>
              <a:t>Data Science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/>
                <a:sym typeface="Wingdings" panose="05000000000000000000" pitchFamily="2" charset="2"/>
              </a:rPr>
              <a:t> Accelerate and scale development, deployment and management of AI applications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6A488AE-27FC-97E0-7F9F-A5A4523B65F1}"/>
              </a:ext>
            </a:extLst>
          </p:cNvPr>
          <p:cNvCxnSpPr>
            <a:cxnSpLocks/>
          </p:cNvCxnSpPr>
          <p:nvPr/>
        </p:nvCxnSpPr>
        <p:spPr>
          <a:xfrm flipH="1">
            <a:off x="2423592" y="5265192"/>
            <a:ext cx="776808" cy="0"/>
          </a:xfrm>
          <a:prstGeom prst="line">
            <a:avLst/>
          </a:prstGeom>
          <a:ln w="9525">
            <a:gradFill>
              <a:gsLst>
                <a:gs pos="20000">
                  <a:schemeClr val="bg1"/>
                </a:gs>
                <a:gs pos="0">
                  <a:srgbClr val="00052B"/>
                </a:gs>
              </a:gsLst>
              <a:lin ang="0" scaled="0"/>
            </a:gra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199F0BEB-3746-6935-E2CC-856220852C7B}"/>
              </a:ext>
            </a:extLst>
          </p:cNvPr>
          <p:cNvSpPr/>
          <p:nvPr/>
        </p:nvSpPr>
        <p:spPr bwMode="gray">
          <a:xfrm>
            <a:off x="1002360" y="5157192"/>
            <a:ext cx="1781272" cy="216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 &amp; Workstreams</a:t>
            </a:r>
          </a:p>
        </p:txBody>
      </p:sp>
      <p:cxnSp>
        <p:nvCxnSpPr>
          <p:cNvPr id="16" name="Gerader Verbinder 497">
            <a:extLst>
              <a:ext uri="{FF2B5EF4-FFF2-40B4-BE49-F238E27FC236}">
                <a16:creationId xmlns:a16="http://schemas.microsoft.com/office/drawing/2014/main" id="{4D0A69BD-0C7B-2F86-FEE0-54C4234475EC}"/>
              </a:ext>
            </a:extLst>
          </p:cNvPr>
          <p:cNvCxnSpPr>
            <a:cxnSpLocks/>
          </p:cNvCxnSpPr>
          <p:nvPr/>
        </p:nvCxnSpPr>
        <p:spPr>
          <a:xfrm flipH="1">
            <a:off x="406127" y="5265192"/>
            <a:ext cx="72000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59">
            <a:extLst>
              <a:ext uri="{FF2B5EF4-FFF2-40B4-BE49-F238E27FC236}">
                <a16:creationId xmlns:a16="http://schemas.microsoft.com/office/drawing/2014/main" id="{C164ECEF-7259-821B-1480-612D65FAD448}"/>
              </a:ext>
            </a:extLst>
          </p:cNvPr>
          <p:cNvSpPr/>
          <p:nvPr/>
        </p:nvSpPr>
        <p:spPr>
          <a:xfrm>
            <a:off x="477832" y="5133161"/>
            <a:ext cx="288000" cy="288000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" name="Gerader Verbinder 497">
            <a:extLst>
              <a:ext uri="{FF2B5EF4-FFF2-40B4-BE49-F238E27FC236}">
                <a16:creationId xmlns:a16="http://schemas.microsoft.com/office/drawing/2014/main" id="{1DBFD96F-988B-5DCB-651C-FFDDBFB743DC}"/>
              </a:ext>
            </a:extLst>
          </p:cNvPr>
          <p:cNvCxnSpPr>
            <a:cxnSpLocks/>
          </p:cNvCxnSpPr>
          <p:nvPr/>
        </p:nvCxnSpPr>
        <p:spPr>
          <a:xfrm flipH="1">
            <a:off x="765832" y="5265192"/>
            <a:ext cx="219732" cy="0"/>
          </a:xfrm>
          <a:prstGeom prst="line">
            <a:avLst/>
          </a:prstGeom>
          <a:ln w="9525">
            <a:solidFill>
              <a:schemeClr val="bg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203" descr="Boardroom outline">
            <a:extLst>
              <a:ext uri="{FF2B5EF4-FFF2-40B4-BE49-F238E27FC236}">
                <a16:creationId xmlns:a16="http://schemas.microsoft.com/office/drawing/2014/main" id="{E6CE1611-67CC-ACEB-09B0-DD89C913681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3832" y="5157192"/>
            <a:ext cx="216000" cy="2160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A044536-F35D-1A51-EA1B-648D8341BEFC}"/>
              </a:ext>
            </a:extLst>
          </p:cNvPr>
          <p:cNvGrpSpPr/>
          <p:nvPr/>
        </p:nvGrpSpPr>
        <p:grpSpPr>
          <a:xfrm>
            <a:off x="976974" y="5706593"/>
            <a:ext cx="1125684" cy="376807"/>
            <a:chOff x="976974" y="5706593"/>
            <a:chExt cx="1125684" cy="376807"/>
          </a:xfrm>
        </p:grpSpPr>
        <p:sp>
          <p:nvSpPr>
            <p:cNvPr id="190" name="Rechteck 437">
              <a:extLst>
                <a:ext uri="{FF2B5EF4-FFF2-40B4-BE49-F238E27FC236}">
                  <a16:creationId xmlns:a16="http://schemas.microsoft.com/office/drawing/2014/main" id="{7AAF19D2-74B5-E53D-B37A-46126AA776B9}"/>
                </a:ext>
              </a:extLst>
            </p:cNvPr>
            <p:cNvSpPr/>
            <p:nvPr/>
          </p:nvSpPr>
          <p:spPr bwMode="gray">
            <a:xfrm>
              <a:off x="976974" y="5867400"/>
              <a:ext cx="340458" cy="216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FA</a:t>
              </a:r>
            </a:p>
          </p:txBody>
        </p:sp>
        <p:sp>
          <p:nvSpPr>
            <p:cNvPr id="191" name="Rechteck 437">
              <a:extLst>
                <a:ext uri="{FF2B5EF4-FFF2-40B4-BE49-F238E27FC236}">
                  <a16:creationId xmlns:a16="http://schemas.microsoft.com/office/drawing/2014/main" id="{C638C39D-89A6-C4B5-B71A-A398D4101EB4}"/>
                </a:ext>
              </a:extLst>
            </p:cNvPr>
            <p:cNvSpPr/>
            <p:nvPr/>
          </p:nvSpPr>
          <p:spPr bwMode="gray">
            <a:xfrm>
              <a:off x="1715745" y="5867400"/>
              <a:ext cx="386913" cy="216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MC</a:t>
              </a:r>
            </a:p>
          </p:txBody>
        </p:sp>
        <p:sp>
          <p:nvSpPr>
            <p:cNvPr id="192" name="Rechteck 437">
              <a:extLst>
                <a:ext uri="{FF2B5EF4-FFF2-40B4-BE49-F238E27FC236}">
                  <a16:creationId xmlns:a16="http://schemas.microsoft.com/office/drawing/2014/main" id="{C6327F65-1BD6-6841-E8C2-0BA5326133B8}"/>
                </a:ext>
              </a:extLst>
            </p:cNvPr>
            <p:cNvSpPr/>
            <p:nvPr/>
          </p:nvSpPr>
          <p:spPr bwMode="gray">
            <a:xfrm>
              <a:off x="1357974" y="5867400"/>
              <a:ext cx="340458" cy="216000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0" rIns="72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PA</a:t>
              </a:r>
            </a:p>
          </p:txBody>
        </p:sp>
        <p:sp>
          <p:nvSpPr>
            <p:cNvPr id="21" name="Rectangle 188">
              <a:extLst>
                <a:ext uri="{FF2B5EF4-FFF2-40B4-BE49-F238E27FC236}">
                  <a16:creationId xmlns:a16="http://schemas.microsoft.com/office/drawing/2014/main" id="{3C8A2569-A35B-B90F-96EF-90C0AC48CC00}"/>
                </a:ext>
              </a:extLst>
            </p:cNvPr>
            <p:cNvSpPr/>
            <p:nvPr/>
          </p:nvSpPr>
          <p:spPr>
            <a:xfrm>
              <a:off x="1066800" y="5706594"/>
              <a:ext cx="160805" cy="160805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Rectangle 192">
              <a:extLst>
                <a:ext uri="{FF2B5EF4-FFF2-40B4-BE49-F238E27FC236}">
                  <a16:creationId xmlns:a16="http://schemas.microsoft.com/office/drawing/2014/main" id="{FA7DBA5B-640B-894D-8A95-638B6D50F320}"/>
                </a:ext>
              </a:extLst>
            </p:cNvPr>
            <p:cNvSpPr/>
            <p:nvPr/>
          </p:nvSpPr>
          <p:spPr>
            <a:xfrm>
              <a:off x="1447800" y="5706594"/>
              <a:ext cx="160805" cy="160805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Rectangle 193">
              <a:extLst>
                <a:ext uri="{FF2B5EF4-FFF2-40B4-BE49-F238E27FC236}">
                  <a16:creationId xmlns:a16="http://schemas.microsoft.com/office/drawing/2014/main" id="{D24F9D31-BF69-98BC-48D8-E51A098DF16C}"/>
                </a:ext>
              </a:extLst>
            </p:cNvPr>
            <p:cNvSpPr/>
            <p:nvPr/>
          </p:nvSpPr>
          <p:spPr>
            <a:xfrm>
              <a:off x="1828799" y="5706594"/>
              <a:ext cx="160805" cy="160805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6" name="Graphic 197" descr="Factory with solid fill">
              <a:extLst>
                <a:ext uri="{FF2B5EF4-FFF2-40B4-BE49-F238E27FC236}">
                  <a16:creationId xmlns:a16="http://schemas.microsoft.com/office/drawing/2014/main" id="{CF82F18B-69BC-3CD1-B075-84425F269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6052" y="5729330"/>
              <a:ext cx="132776" cy="132776"/>
            </a:xfrm>
            <a:prstGeom prst="rect">
              <a:avLst/>
            </a:prstGeom>
          </p:spPr>
        </p:pic>
        <p:pic>
          <p:nvPicPr>
            <p:cNvPr id="37" name="Graphic 197" descr="Factory with solid fill">
              <a:extLst>
                <a:ext uri="{FF2B5EF4-FFF2-40B4-BE49-F238E27FC236}">
                  <a16:creationId xmlns:a16="http://schemas.microsoft.com/office/drawing/2014/main" id="{1544F993-1495-0309-8F64-5BD158002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42814" y="5720308"/>
              <a:ext cx="132776" cy="132776"/>
            </a:xfrm>
            <a:prstGeom prst="rect">
              <a:avLst/>
            </a:prstGeom>
          </p:spPr>
        </p:pic>
        <p:pic>
          <p:nvPicPr>
            <p:cNvPr id="38" name="Graphic 197" descr="Factory with solid fill">
              <a:extLst>
                <a:ext uri="{FF2B5EF4-FFF2-40B4-BE49-F238E27FC236}">
                  <a16:creationId xmlns:a16="http://schemas.microsoft.com/office/drawing/2014/main" id="{08E8776C-8A23-89F7-E9C3-E776A9E6A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61183" y="5706593"/>
              <a:ext cx="132776" cy="132776"/>
            </a:xfrm>
            <a:prstGeom prst="rect">
              <a:avLst/>
            </a:prstGeom>
          </p:spPr>
        </p:pic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FB552C3-F214-33C4-CFAC-7C2E2E6A090B}"/>
              </a:ext>
            </a:extLst>
          </p:cNvPr>
          <p:cNvGrpSpPr/>
          <p:nvPr/>
        </p:nvGrpSpPr>
        <p:grpSpPr>
          <a:xfrm>
            <a:off x="2389050" y="5397279"/>
            <a:ext cx="831696" cy="637216"/>
            <a:chOff x="2389050" y="5397279"/>
            <a:chExt cx="831696" cy="637216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5A71CB62-6285-A459-36F6-A155E5253FB1}"/>
                </a:ext>
              </a:extLst>
            </p:cNvPr>
            <p:cNvSpPr>
              <a:spLocks/>
            </p:cNvSpPr>
            <p:nvPr/>
          </p:nvSpPr>
          <p:spPr bwMode="gray">
            <a:xfrm>
              <a:off x="2653004" y="5835681"/>
              <a:ext cx="503424" cy="198814"/>
            </a:xfrm>
            <a:prstGeom prst="rect">
              <a:avLst/>
            </a:prstGeom>
            <a:noFill/>
            <a:ln w="5715">
              <a:solidFill>
                <a:schemeClr val="bg1">
                  <a:lumMod val="75000"/>
                </a:schemeClr>
              </a:solidFill>
              <a:miter lim="800000"/>
            </a:ln>
            <a:effectLst/>
          </p:spPr>
          <p:txBody>
            <a:bodyPr wrap="square" lIns="32400" tIns="32400" rIns="32400" bIns="32400" numCol="1" spcCol="72000" rtlCol="0" anchor="t" anchorCtr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54447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108895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63343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217791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72239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326687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81135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435583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endParaRPr kumimoji="0" lang="en-US" sz="70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endParaRPr>
            </a:p>
          </p:txBody>
        </p:sp>
        <p:sp>
          <p:nvSpPr>
            <p:cNvPr id="23" name="Richtungspfeil 51">
              <a:extLst>
                <a:ext uri="{FF2B5EF4-FFF2-40B4-BE49-F238E27FC236}">
                  <a16:creationId xmlns:a16="http://schemas.microsoft.com/office/drawing/2014/main" id="{311A18E4-15DC-6D07-2FDE-8839FF81BE10}"/>
                </a:ext>
              </a:extLst>
            </p:cNvPr>
            <p:cNvSpPr>
              <a:spLocks/>
            </p:cNvSpPr>
            <p:nvPr/>
          </p:nvSpPr>
          <p:spPr bwMode="gray">
            <a:xfrm>
              <a:off x="2536303" y="5397279"/>
              <a:ext cx="684443" cy="198959"/>
            </a:xfrm>
            <a:custGeom>
              <a:avLst/>
              <a:gdLst/>
              <a:ahLst/>
              <a:cxnLst/>
              <a:rect l="l" t="t" r="r" b="b"/>
              <a:pathLst>
                <a:path w="3948664" h="1378800">
                  <a:moveTo>
                    <a:pt x="0" y="0"/>
                  </a:moveTo>
                  <a:lnTo>
                    <a:pt x="3594409" y="0"/>
                  </a:lnTo>
                  <a:lnTo>
                    <a:pt x="3948664" y="689400"/>
                  </a:lnTo>
                  <a:lnTo>
                    <a:pt x="3594409" y="1378800"/>
                  </a:lnTo>
                  <a:lnTo>
                    <a:pt x="676007" y="1378800"/>
                  </a:lnTo>
                  <a:lnTo>
                    <a:pt x="676007" y="347373"/>
                  </a:lnTo>
                  <a:close/>
                </a:path>
              </a:pathLst>
            </a:custGeom>
            <a:noFill/>
            <a:ln w="5715">
              <a:solidFill>
                <a:srgbClr val="00FFB9"/>
              </a:solidFill>
              <a:miter lim="800000"/>
            </a:ln>
            <a:effectLst/>
          </p:spPr>
          <p:txBody>
            <a:bodyPr wrap="square" lIns="32400" tIns="36000" rIns="32400" bIns="32400" numCol="1" spcCol="72000" rtlCol="0" anchor="ctr" anchorCtr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54447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108895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63343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217791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72239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326687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81135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435583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charset="-128"/>
                  <a:cs typeface="+mn-cs"/>
                </a:rPr>
                <a:t>Proc.</a:t>
              </a:r>
            </a:p>
          </p:txBody>
        </p:sp>
        <p:sp>
          <p:nvSpPr>
            <p:cNvPr id="31" name="Richtungspfeil 112">
              <a:extLst>
                <a:ext uri="{FF2B5EF4-FFF2-40B4-BE49-F238E27FC236}">
                  <a16:creationId xmlns:a16="http://schemas.microsoft.com/office/drawing/2014/main" id="{70356DEF-874B-157C-7948-996D28375ACB}"/>
                </a:ext>
              </a:extLst>
            </p:cNvPr>
            <p:cNvSpPr>
              <a:spLocks/>
            </p:cNvSpPr>
            <p:nvPr/>
          </p:nvSpPr>
          <p:spPr bwMode="gray">
            <a:xfrm rot="16200000">
              <a:off x="2195215" y="5601666"/>
              <a:ext cx="626664" cy="238994"/>
            </a:xfrm>
            <a:prstGeom prst="homePlate">
              <a:avLst>
                <a:gd name="adj" fmla="val 25693"/>
              </a:avLst>
            </a:prstGeom>
            <a:noFill/>
            <a:ln w="5715">
              <a:solidFill>
                <a:srgbClr val="00FFB9"/>
              </a:solidFill>
              <a:miter lim="800000"/>
            </a:ln>
            <a:effectLst/>
          </p:spPr>
          <p:txBody>
            <a:bodyPr vert="vert" wrap="square" lIns="32400" tIns="32400" rIns="32400" bIns="32400" numCol="1" spcCol="72000" rtlCol="0" anchor="ctr" anchorCtr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54447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108895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63343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217791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72239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326687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81135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435583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charset="-128"/>
                  <a:cs typeface="+mn-cs"/>
                </a:rPr>
                <a:t>DT</a:t>
              </a:r>
            </a:p>
          </p:txBody>
        </p:sp>
        <p:sp>
          <p:nvSpPr>
            <p:cNvPr id="224" name="Rechteck 223">
              <a:extLst>
                <a:ext uri="{FF2B5EF4-FFF2-40B4-BE49-F238E27FC236}">
                  <a16:creationId xmlns:a16="http://schemas.microsoft.com/office/drawing/2014/main" id="{FEE7F29A-4F7C-B81A-F7A4-552B376F3453}"/>
                </a:ext>
              </a:extLst>
            </p:cNvPr>
            <p:cNvSpPr>
              <a:spLocks/>
            </p:cNvSpPr>
            <p:nvPr/>
          </p:nvSpPr>
          <p:spPr bwMode="gray">
            <a:xfrm>
              <a:off x="2917434" y="5616088"/>
              <a:ext cx="238994" cy="198814"/>
            </a:xfrm>
            <a:prstGeom prst="rect">
              <a:avLst/>
            </a:prstGeom>
            <a:noFill/>
            <a:ln w="5715">
              <a:solidFill>
                <a:srgbClr val="00FFB9"/>
              </a:solidFill>
              <a:miter lim="800000"/>
            </a:ln>
            <a:effectLst/>
          </p:spPr>
          <p:txBody>
            <a:bodyPr wrap="square" lIns="0" tIns="32400" rIns="0" bIns="32400" numCol="1" spcCol="72000" rtlCol="0" anchor="ctr" anchorCtr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54447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108895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63343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217791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72239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326687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81135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435583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charset="-128"/>
                  <a:cs typeface="+mn-cs"/>
                </a:rPr>
                <a:t>AMS</a:t>
              </a:r>
            </a:p>
          </p:txBody>
        </p:sp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FF645AC2-2134-D0EA-E4CA-42AAA2DBEA07}"/>
                </a:ext>
              </a:extLst>
            </p:cNvPr>
            <p:cNvSpPr>
              <a:spLocks/>
            </p:cNvSpPr>
            <p:nvPr/>
          </p:nvSpPr>
          <p:spPr bwMode="gray">
            <a:xfrm>
              <a:off x="2653004" y="5616089"/>
              <a:ext cx="238994" cy="198814"/>
            </a:xfrm>
            <a:prstGeom prst="rect">
              <a:avLst/>
            </a:prstGeom>
            <a:noFill/>
            <a:ln w="5715">
              <a:solidFill>
                <a:srgbClr val="00FFB9"/>
              </a:solidFill>
              <a:miter lim="800000"/>
            </a:ln>
            <a:effectLst/>
          </p:spPr>
          <p:txBody>
            <a:bodyPr wrap="square" lIns="0" tIns="32400" rIns="0" bIns="32400" numCol="1" spcCol="72000" rtlCol="0" anchor="ctr" anchorCtr="0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54447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1088959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63343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2177918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72239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3266877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81135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4355836" algn="l" defTabSz="1088959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charset="-128"/>
                  <a:cs typeface="+mn-cs"/>
                </a:rPr>
                <a:t>BDA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2864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21114-AD3A-4661-F100-43095F6A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8CBDF0-3C44-8078-FBD0-8F00D7A7D8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2846FE-ACF1-7F87-914C-C15BF2CEB3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58F7BC1-B6A7-07A9-4227-A9B29E433786}"/>
              </a:ext>
            </a:extLst>
          </p:cNvPr>
          <p:cNvSpPr/>
          <p:nvPr/>
        </p:nvSpPr>
        <p:spPr>
          <a:xfrm>
            <a:off x="411163" y="1414463"/>
            <a:ext cx="11376025" cy="4752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60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7643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E4E5-4793-022B-938F-B75B708B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4 |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Project Ambition Fiscal Year 2024</a:t>
            </a:r>
            <a:br>
              <a:rPr lang="en-US"/>
            </a:br>
            <a:r>
              <a:rPr lang="en-US"/>
              <a:t>What if we loose speed?</a:t>
            </a:r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8699C-55A3-1E3F-0BBF-D20EE6538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LDF Data Platform | 2023-09-07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8E56F-7798-C7D2-FF93-FE21AC378C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0257B-4917-435B-28A7-6B2637076441}"/>
              </a:ext>
            </a:extLst>
          </p:cNvPr>
          <p:cNvSpPr/>
          <p:nvPr/>
        </p:nvSpPr>
        <p:spPr>
          <a:xfrm>
            <a:off x="2308589" y="5085304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b="0" noProof="0"/>
              <a:t>L1 support </a:t>
            </a:r>
            <a:r>
              <a:rPr lang="en-US" sz="1000" b="0" noProof="0">
                <a:sym typeface="Wingdings" panose="05000000000000000000" pitchFamily="2" charset="2"/>
              </a:rPr>
              <a:t> </a:t>
            </a:r>
            <a:r>
              <a:rPr lang="en-US" sz="1000" b="0" noProof="0"/>
              <a:t>IoT Squad</a:t>
            </a:r>
          </a:p>
          <a:p>
            <a:r>
              <a:rPr lang="en-US" sz="1000"/>
              <a:t>L2 support </a:t>
            </a:r>
            <a:r>
              <a:rPr lang="en-US" sz="1000">
                <a:sym typeface="Wingdings" panose="05000000000000000000" pitchFamily="2" charset="2"/>
              </a:rPr>
              <a:t> DA team</a:t>
            </a:r>
          </a:p>
          <a:p>
            <a:r>
              <a:rPr lang="en-US" sz="1000" b="0" noProof="0">
                <a:sym typeface="Wingdings" panose="05000000000000000000" pitchFamily="2" charset="2"/>
              </a:rPr>
              <a:t>L3 support  SaaS vendors</a:t>
            </a:r>
            <a:endParaRPr lang="en-US" sz="1000" b="0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8CA42-E001-910C-6912-AABE6F89956C}"/>
              </a:ext>
            </a:extLst>
          </p:cNvPr>
          <p:cNvSpPr/>
          <p:nvPr/>
        </p:nvSpPr>
        <p:spPr>
          <a:xfrm>
            <a:off x="5389498" y="5085304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 b="0" noProof="0"/>
              <a:t>Intermediate support IoT Squad and escalation to Intelizign or AWS</a:t>
            </a:r>
            <a:endParaRPr lang="de-DE" sz="1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2297A-D62D-0C07-1E71-4AF427541D97}"/>
              </a:ext>
            </a:extLst>
          </p:cNvPr>
          <p:cNvSpPr/>
          <p:nvPr/>
        </p:nvSpPr>
        <p:spPr>
          <a:xfrm>
            <a:off x="8470407" y="5085304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 b="0" noProof="0"/>
              <a:t>Current CATE@MFK support model - support IoT Squad and escalation to Intelizign or AWS</a:t>
            </a:r>
            <a:endParaRPr lang="de-DE" sz="1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82544-6C54-4A3E-E04C-8FBE106595AF}"/>
              </a:ext>
            </a:extLst>
          </p:cNvPr>
          <p:cNvSpPr/>
          <p:nvPr/>
        </p:nvSpPr>
        <p:spPr>
          <a:xfrm>
            <a:off x="2308589" y="4041942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b="0" noProof="0"/>
              <a:t>+ Visual quality inspection (image processing)  use cases</a:t>
            </a:r>
          </a:p>
          <a:p>
            <a:r>
              <a:rPr lang="en-US" sz="1000" b="0" noProof="0"/>
              <a:t>+ (see Use Case </a:t>
            </a:r>
            <a:r>
              <a:rPr lang="en-US" sz="1000" b="0" noProof="0" err="1"/>
              <a:t>Prio</a:t>
            </a:r>
            <a:r>
              <a:rPr lang="en-US" sz="1000" b="0" noProof="0"/>
              <a:t>: Federated learning, connectivity ..)</a:t>
            </a:r>
          </a:p>
          <a:p>
            <a:pPr algn="l"/>
            <a:endParaRPr lang="de-DE" sz="1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878DC-F54A-639D-EE23-8BDAC7982355}"/>
              </a:ext>
            </a:extLst>
          </p:cNvPr>
          <p:cNvSpPr/>
          <p:nvPr/>
        </p:nvSpPr>
        <p:spPr>
          <a:xfrm>
            <a:off x="5389498" y="4082851"/>
            <a:ext cx="2880000" cy="81818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b="0" noProof="0"/>
              <a:t>+ Development of one more use case in one factory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2B800-8764-0CA7-34CE-BDDDFC2AD273}"/>
              </a:ext>
            </a:extLst>
          </p:cNvPr>
          <p:cNvSpPr/>
          <p:nvPr/>
        </p:nvSpPr>
        <p:spPr>
          <a:xfrm>
            <a:off x="8470407" y="4041942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 b="0" noProof="0"/>
              <a:t>Migrate other CATE projects into a standard architecture</a:t>
            </a:r>
            <a:endParaRPr lang="de-DE" sz="1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101A6-BBA5-5ADB-DDD5-E77443EA8868}"/>
              </a:ext>
            </a:extLst>
          </p:cNvPr>
          <p:cNvSpPr/>
          <p:nvPr/>
        </p:nvSpPr>
        <p:spPr>
          <a:xfrm>
            <a:off x="2308589" y="2998580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/>
              <a:t>Data</a:t>
            </a:r>
            <a:r>
              <a:rPr lang="en-US" sz="1000" b="0" noProof="0"/>
              <a:t> Security</a:t>
            </a:r>
          </a:p>
          <a:p>
            <a:r>
              <a:rPr lang="en-US" sz="1000"/>
              <a:t>A</a:t>
            </a:r>
            <a:r>
              <a:rPr lang="en-US" sz="1000" b="0" noProof="0" err="1"/>
              <a:t>dvanced</a:t>
            </a:r>
            <a:r>
              <a:rPr lang="en-US" sz="1000" b="0" noProof="0"/>
              <a:t> capabilities for Data </a:t>
            </a:r>
            <a:r>
              <a:rPr lang="en-US" sz="1000"/>
              <a:t>S</a:t>
            </a:r>
            <a:r>
              <a:rPr lang="en-US" sz="1000" b="0" noProof="0" err="1"/>
              <a:t>cience</a:t>
            </a:r>
            <a:endParaRPr lang="en-US" sz="1000"/>
          </a:p>
          <a:p>
            <a:r>
              <a:rPr lang="en-US" sz="1000"/>
              <a:t>D</a:t>
            </a:r>
            <a:r>
              <a:rPr lang="en-US" sz="1000" b="0" noProof="0" err="1"/>
              <a:t>ata</a:t>
            </a:r>
            <a:r>
              <a:rPr lang="en-US" sz="1000" b="0" noProof="0"/>
              <a:t> democratization (</a:t>
            </a:r>
            <a:r>
              <a:rPr lang="en-US" sz="1000"/>
              <a:t>J</a:t>
            </a:r>
            <a:r>
              <a:rPr lang="en-US" sz="1000" b="0" noProof="0"/>
              <a:t>upiter example)</a:t>
            </a:r>
          </a:p>
          <a:p>
            <a:r>
              <a:rPr lang="en-US" sz="1000"/>
              <a:t>A</a:t>
            </a:r>
            <a:r>
              <a:rPr lang="en-US" sz="1000" b="0" noProof="0" err="1"/>
              <a:t>dvanced</a:t>
            </a:r>
            <a:r>
              <a:rPr lang="en-US" sz="1000" b="0" noProof="0"/>
              <a:t> </a:t>
            </a:r>
            <a:r>
              <a:rPr lang="en-US" sz="1000"/>
              <a:t>G</a:t>
            </a:r>
            <a:r>
              <a:rPr lang="en-US" sz="1000" b="0" noProof="0" err="1"/>
              <a:t>enAI</a:t>
            </a:r>
            <a:r>
              <a:rPr lang="en-US" sz="1000" b="0" noProof="0"/>
              <a:t> capabilities</a:t>
            </a:r>
          </a:p>
          <a:p>
            <a:pPr algn="l"/>
            <a:endParaRPr lang="de-DE" sz="1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9AE1A8-9321-1775-8806-8621968DECD8}"/>
              </a:ext>
            </a:extLst>
          </p:cNvPr>
          <p:cNvSpPr/>
          <p:nvPr/>
        </p:nvSpPr>
        <p:spPr>
          <a:xfrm>
            <a:off x="8470407" y="2998580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b="0" noProof="0"/>
              <a:t>Stay as is (frozen) minimal bug fixing</a:t>
            </a:r>
          </a:p>
        </p:txBody>
      </p: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10085787-B3E9-2856-2FCC-1A9F66FF2310}"/>
              </a:ext>
            </a:extLst>
          </p:cNvPr>
          <p:cNvCxnSpPr>
            <a:cxnSpLocks/>
          </p:cNvCxnSpPr>
          <p:nvPr/>
        </p:nvCxnSpPr>
        <p:spPr>
          <a:xfrm>
            <a:off x="8476355" y="2525520"/>
            <a:ext cx="2880000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27000">
              <a:srgbClr val="12ABDB">
                <a:satMod val="175000"/>
                <a:alpha val="20000"/>
              </a:srgbClr>
            </a:glow>
            <a:outerShdw blurRad="381000" algn="ctr" rotWithShape="0">
              <a:srgbClr val="000000">
                <a:alpha val="5000"/>
              </a:srgbClr>
            </a:outerShdw>
          </a:effectLst>
        </p:spPr>
      </p:cxnSp>
      <p:cxnSp>
        <p:nvCxnSpPr>
          <p:cNvPr id="31" name="Gerader Verbinder 13">
            <a:extLst>
              <a:ext uri="{FF2B5EF4-FFF2-40B4-BE49-F238E27FC236}">
                <a16:creationId xmlns:a16="http://schemas.microsoft.com/office/drawing/2014/main" id="{DBC1271E-4FD3-EABF-6F46-A30FB3D22FC6}"/>
              </a:ext>
            </a:extLst>
          </p:cNvPr>
          <p:cNvCxnSpPr>
            <a:cxnSpLocks/>
          </p:cNvCxnSpPr>
          <p:nvPr/>
        </p:nvCxnSpPr>
        <p:spPr>
          <a:xfrm>
            <a:off x="2315920" y="1815870"/>
            <a:ext cx="3060000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27000">
              <a:srgbClr val="12ABDB">
                <a:satMod val="175000"/>
                <a:alpha val="20000"/>
              </a:srgbClr>
            </a:glow>
            <a:outerShdw blurRad="381000" algn="ctr" rotWithShape="0">
              <a:srgbClr val="000000">
                <a:alpha val="5000"/>
              </a:srgbClr>
            </a:outerShdw>
          </a:effectLst>
        </p:spPr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A9FC4A-C3B4-813A-2562-B9E66BF3D677}"/>
              </a:ext>
            </a:extLst>
          </p:cNvPr>
          <p:cNvGrpSpPr/>
          <p:nvPr/>
        </p:nvGrpSpPr>
        <p:grpSpPr>
          <a:xfrm>
            <a:off x="1991544" y="4365422"/>
            <a:ext cx="145177" cy="253039"/>
            <a:chOff x="2214826" y="4225492"/>
            <a:chExt cx="145177" cy="253039"/>
          </a:xfrm>
        </p:grpSpPr>
        <p:sp>
          <p:nvSpPr>
            <p:cNvPr id="40" name="Pfeil: Chevron 117">
              <a:extLst>
                <a:ext uri="{FF2B5EF4-FFF2-40B4-BE49-F238E27FC236}">
                  <a16:creationId xmlns:a16="http://schemas.microsoft.com/office/drawing/2014/main" id="{EA8EDE21-D37C-3531-4B53-E3D688DAA99D}"/>
                </a:ext>
              </a:extLst>
            </p:cNvPr>
            <p:cNvSpPr/>
            <p:nvPr/>
          </p:nvSpPr>
          <p:spPr>
            <a:xfrm>
              <a:off x="2214826" y="4225492"/>
              <a:ext cx="116136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41" name="Pfeil: Chevron 147">
              <a:extLst>
                <a:ext uri="{FF2B5EF4-FFF2-40B4-BE49-F238E27FC236}">
                  <a16:creationId xmlns:a16="http://schemas.microsoft.com/office/drawing/2014/main" id="{7AF680DC-C888-710A-7403-40D2396E710F}"/>
                </a:ext>
              </a:extLst>
            </p:cNvPr>
            <p:cNvSpPr/>
            <p:nvPr/>
          </p:nvSpPr>
          <p:spPr>
            <a:xfrm>
              <a:off x="2243867" y="4225492"/>
              <a:ext cx="116136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8A1E846-4C9C-FFB0-C67E-F2E243D71540}"/>
              </a:ext>
            </a:extLst>
          </p:cNvPr>
          <p:cNvGrpSpPr/>
          <p:nvPr/>
        </p:nvGrpSpPr>
        <p:grpSpPr>
          <a:xfrm>
            <a:off x="1991544" y="5408785"/>
            <a:ext cx="145177" cy="253039"/>
            <a:chOff x="2214826" y="5195615"/>
            <a:chExt cx="145177" cy="253039"/>
          </a:xfrm>
        </p:grpSpPr>
        <p:sp>
          <p:nvSpPr>
            <p:cNvPr id="43" name="Pfeil: Chevron 124">
              <a:extLst>
                <a:ext uri="{FF2B5EF4-FFF2-40B4-BE49-F238E27FC236}">
                  <a16:creationId xmlns:a16="http://schemas.microsoft.com/office/drawing/2014/main" id="{E94EFE31-3334-1424-AFEE-CC8F8E2DDFD7}"/>
                </a:ext>
              </a:extLst>
            </p:cNvPr>
            <p:cNvSpPr/>
            <p:nvPr/>
          </p:nvSpPr>
          <p:spPr>
            <a:xfrm>
              <a:off x="2214826" y="5195615"/>
              <a:ext cx="116136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44" name="Pfeil: Chevron 148">
              <a:extLst>
                <a:ext uri="{FF2B5EF4-FFF2-40B4-BE49-F238E27FC236}">
                  <a16:creationId xmlns:a16="http://schemas.microsoft.com/office/drawing/2014/main" id="{BDAC4AB9-7723-9BD9-AC27-75648E35BDD9}"/>
                </a:ext>
              </a:extLst>
            </p:cNvPr>
            <p:cNvSpPr/>
            <p:nvPr/>
          </p:nvSpPr>
          <p:spPr>
            <a:xfrm>
              <a:off x="2243867" y="5195615"/>
              <a:ext cx="116136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D26BF391-1AB3-5A8C-2DA1-CC9EAC6948D3}"/>
              </a:ext>
            </a:extLst>
          </p:cNvPr>
          <p:cNvSpPr/>
          <p:nvPr/>
        </p:nvSpPr>
        <p:spPr>
          <a:xfrm>
            <a:off x="5376849" y="2998580"/>
            <a:ext cx="2880000" cy="90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noProof="0"/>
              <a:t>Evolving platform for multicloud</a:t>
            </a:r>
          </a:p>
          <a:p>
            <a:pPr>
              <a:defRPr/>
            </a:pPr>
            <a:r>
              <a:rPr lang="en-US" sz="1000" err="1"/>
              <a:t>SnapLogic</a:t>
            </a:r>
            <a:r>
              <a:rPr lang="en-US" sz="1000" b="0" noProof="0"/>
              <a:t> templates (file transfer)</a:t>
            </a:r>
            <a:endParaRPr lang="en-US" sz="1000" b="0" noProof="0">
              <a:cs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32E4CE-0BD9-4A02-135C-D9F91131EC17}"/>
              </a:ext>
            </a:extLst>
          </p:cNvPr>
          <p:cNvGrpSpPr/>
          <p:nvPr/>
        </p:nvGrpSpPr>
        <p:grpSpPr>
          <a:xfrm>
            <a:off x="1999559" y="3292141"/>
            <a:ext cx="141434" cy="253039"/>
            <a:chOff x="2214826" y="3389321"/>
            <a:chExt cx="141434" cy="253039"/>
          </a:xfrm>
        </p:grpSpPr>
        <p:sp>
          <p:nvSpPr>
            <p:cNvPr id="50" name="Pfeil: Chevron 69">
              <a:extLst>
                <a:ext uri="{FF2B5EF4-FFF2-40B4-BE49-F238E27FC236}">
                  <a16:creationId xmlns:a16="http://schemas.microsoft.com/office/drawing/2014/main" id="{920875A0-E75A-4FAA-C601-0F419AA8F6C1}"/>
                </a:ext>
              </a:extLst>
            </p:cNvPr>
            <p:cNvSpPr/>
            <p:nvPr/>
          </p:nvSpPr>
          <p:spPr>
            <a:xfrm>
              <a:off x="2214826" y="3389321"/>
              <a:ext cx="116136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51" name="Pfeil: Chevron 146">
              <a:extLst>
                <a:ext uri="{FF2B5EF4-FFF2-40B4-BE49-F238E27FC236}">
                  <a16:creationId xmlns:a16="http://schemas.microsoft.com/office/drawing/2014/main" id="{CF951018-CB2F-7B11-9AA3-1CCC6FD924F7}"/>
                </a:ext>
              </a:extLst>
            </p:cNvPr>
            <p:cNvSpPr/>
            <p:nvPr/>
          </p:nvSpPr>
          <p:spPr>
            <a:xfrm>
              <a:off x="2247610" y="3389321"/>
              <a:ext cx="108650" cy="253039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2CE6E18-41B6-B993-878D-FC50122A0FED}"/>
              </a:ext>
            </a:extLst>
          </p:cNvPr>
          <p:cNvSpPr/>
          <p:nvPr/>
        </p:nvSpPr>
        <p:spPr>
          <a:xfrm>
            <a:off x="739676" y="2996952"/>
            <a:ext cx="108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chemeClr val="tx1"/>
                </a:solidFill>
              </a:rPr>
              <a:t>Evolution of Platform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01E714-8B78-E35D-5766-56AAFB215F40}"/>
              </a:ext>
            </a:extLst>
          </p:cNvPr>
          <p:cNvSpPr/>
          <p:nvPr/>
        </p:nvSpPr>
        <p:spPr>
          <a:xfrm>
            <a:off x="739676" y="5073112"/>
            <a:ext cx="108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b="1">
                <a:solidFill>
                  <a:schemeClr val="tx1"/>
                </a:solidFill>
              </a:rPr>
              <a:t>Evolution of Platform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13EB3B4-29C0-B845-D039-CB5D6B22B46F}"/>
              </a:ext>
            </a:extLst>
          </p:cNvPr>
          <p:cNvSpPr/>
          <p:nvPr/>
        </p:nvSpPr>
        <p:spPr>
          <a:xfrm>
            <a:off x="739676" y="4041942"/>
            <a:ext cx="108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How many projects and use cases can be realized</a:t>
            </a:r>
          </a:p>
        </p:txBody>
      </p:sp>
      <p:sp>
        <p:nvSpPr>
          <p:cNvPr id="63" name="Rechteck 141">
            <a:extLst>
              <a:ext uri="{FF2B5EF4-FFF2-40B4-BE49-F238E27FC236}">
                <a16:creationId xmlns:a16="http://schemas.microsoft.com/office/drawing/2014/main" id="{C748EFF8-D225-AAD9-1F87-3481EB8D0B1F}"/>
              </a:ext>
            </a:extLst>
          </p:cNvPr>
          <p:cNvSpPr/>
          <p:nvPr/>
        </p:nvSpPr>
        <p:spPr>
          <a:xfrm>
            <a:off x="479416" y="2996952"/>
            <a:ext cx="36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01</a:t>
            </a:r>
          </a:p>
        </p:txBody>
      </p:sp>
      <p:sp>
        <p:nvSpPr>
          <p:cNvPr id="64" name="Rechteck 142">
            <a:extLst>
              <a:ext uri="{FF2B5EF4-FFF2-40B4-BE49-F238E27FC236}">
                <a16:creationId xmlns:a16="http://schemas.microsoft.com/office/drawing/2014/main" id="{62975CB7-A3AA-666A-4EB3-84C5C568B200}"/>
              </a:ext>
            </a:extLst>
          </p:cNvPr>
          <p:cNvSpPr/>
          <p:nvPr/>
        </p:nvSpPr>
        <p:spPr>
          <a:xfrm>
            <a:off x="479416" y="4048038"/>
            <a:ext cx="36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65" name="Rechteck 143">
            <a:extLst>
              <a:ext uri="{FF2B5EF4-FFF2-40B4-BE49-F238E27FC236}">
                <a16:creationId xmlns:a16="http://schemas.microsoft.com/office/drawing/2014/main" id="{14AAA24B-15D5-93E5-AC64-777E04004B50}"/>
              </a:ext>
            </a:extLst>
          </p:cNvPr>
          <p:cNvSpPr/>
          <p:nvPr/>
        </p:nvSpPr>
        <p:spPr>
          <a:xfrm>
            <a:off x="464504" y="5037112"/>
            <a:ext cx="360000" cy="93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67" name="Rechteck 44">
            <a:extLst>
              <a:ext uri="{FF2B5EF4-FFF2-40B4-BE49-F238E27FC236}">
                <a16:creationId xmlns:a16="http://schemas.microsoft.com/office/drawing/2014/main" id="{8ADF00F3-0F62-6BE0-AD12-BD81A8CCFDA9}"/>
              </a:ext>
            </a:extLst>
          </p:cNvPr>
          <p:cNvSpPr/>
          <p:nvPr/>
        </p:nvSpPr>
        <p:spPr>
          <a:xfrm>
            <a:off x="8470285" y="2535870"/>
            <a:ext cx="288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en-US" sz="1200" b="1">
                <a:solidFill>
                  <a:srgbClr val="EF0137"/>
                </a:solidFill>
              </a:rPr>
              <a:t>1 Platform for 3 Use Case</a:t>
            </a:r>
          </a:p>
        </p:txBody>
      </p:sp>
      <p:sp>
        <p:nvSpPr>
          <p:cNvPr id="69" name="Rechteck 46">
            <a:extLst>
              <a:ext uri="{FF2B5EF4-FFF2-40B4-BE49-F238E27FC236}">
                <a16:creationId xmlns:a16="http://schemas.microsoft.com/office/drawing/2014/main" id="{01656643-77EE-F883-0E25-153962E4BA9B}"/>
              </a:ext>
            </a:extLst>
          </p:cNvPr>
          <p:cNvSpPr/>
          <p:nvPr/>
        </p:nvSpPr>
        <p:spPr>
          <a:xfrm>
            <a:off x="2305465" y="1812380"/>
            <a:ext cx="2880001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en-US" sz="1200" b="1">
                <a:solidFill>
                  <a:srgbClr val="EF0137"/>
                </a:solidFill>
              </a:rPr>
              <a:t>Further Develop Platform</a:t>
            </a:r>
          </a:p>
        </p:txBody>
      </p:sp>
      <p:sp>
        <p:nvSpPr>
          <p:cNvPr id="70" name="Rechteck 23">
            <a:extLst>
              <a:ext uri="{FF2B5EF4-FFF2-40B4-BE49-F238E27FC236}">
                <a16:creationId xmlns:a16="http://schemas.microsoft.com/office/drawing/2014/main" id="{DF4C1011-836C-952E-5A2E-C8E22A78B9CF}"/>
              </a:ext>
            </a:extLst>
          </p:cNvPr>
          <p:cNvSpPr/>
          <p:nvPr/>
        </p:nvSpPr>
        <p:spPr>
          <a:xfrm>
            <a:off x="2308589" y="2488311"/>
            <a:ext cx="288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i="1">
                <a:solidFill>
                  <a:schemeClr val="accent2"/>
                </a:solidFill>
              </a:rPr>
              <a:t>We build and evolve constantly</a:t>
            </a:r>
          </a:p>
        </p:txBody>
      </p:sp>
      <p:sp>
        <p:nvSpPr>
          <p:cNvPr id="71" name="Rechteck 7">
            <a:extLst>
              <a:ext uri="{FF2B5EF4-FFF2-40B4-BE49-F238E27FC236}">
                <a16:creationId xmlns:a16="http://schemas.microsoft.com/office/drawing/2014/main" id="{55A16EEA-B2D1-A3AB-7848-7E106DE8C342}"/>
              </a:ext>
            </a:extLst>
          </p:cNvPr>
          <p:cNvSpPr/>
          <p:nvPr/>
        </p:nvSpPr>
        <p:spPr>
          <a:xfrm>
            <a:off x="8470285" y="2132856"/>
            <a:ext cx="2880000" cy="36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25500" eaLnBrk="1" fontAlgn="auto" latinLnBrk="0" hangingPunct="0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Helvetica Neue"/>
              </a:rPr>
              <a:t>∑ </a:t>
            </a:r>
            <a:r>
              <a:rPr kumimoji="0" lang="en-US" sz="16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Helvetica Neue"/>
              </a:rPr>
              <a:t>200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Helvetica Neue"/>
              </a:rPr>
              <a:t> k €</a:t>
            </a:r>
          </a:p>
        </p:txBody>
      </p:sp>
      <p:cxnSp>
        <p:nvCxnSpPr>
          <p:cNvPr id="28" name="Gerader Verbinder 12">
            <a:extLst>
              <a:ext uri="{FF2B5EF4-FFF2-40B4-BE49-F238E27FC236}">
                <a16:creationId xmlns:a16="http://schemas.microsoft.com/office/drawing/2014/main" id="{A36FFA2C-4B31-7CEE-7CFD-01D5B41CA55D}"/>
              </a:ext>
            </a:extLst>
          </p:cNvPr>
          <p:cNvCxnSpPr>
            <a:cxnSpLocks/>
          </p:cNvCxnSpPr>
          <p:nvPr/>
        </p:nvCxnSpPr>
        <p:spPr>
          <a:xfrm>
            <a:off x="5374285" y="2175870"/>
            <a:ext cx="3096000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27000">
              <a:srgbClr val="12ABDB">
                <a:satMod val="175000"/>
                <a:alpha val="20000"/>
              </a:srgbClr>
            </a:glow>
            <a:outerShdw blurRad="381000" algn="ctr" rotWithShape="0">
              <a:srgbClr val="000000">
                <a:alpha val="5000"/>
              </a:srgbClr>
            </a:outerShdw>
          </a:effectLst>
        </p:spPr>
      </p:cxnSp>
      <p:sp>
        <p:nvSpPr>
          <p:cNvPr id="68" name="Rechteck 45">
            <a:extLst>
              <a:ext uri="{FF2B5EF4-FFF2-40B4-BE49-F238E27FC236}">
                <a16:creationId xmlns:a16="http://schemas.microsoft.com/office/drawing/2014/main" id="{ABB6777A-6C88-426C-CD7E-418C25D60A4A}"/>
              </a:ext>
            </a:extLst>
          </p:cNvPr>
          <p:cNvSpPr/>
          <p:nvPr/>
        </p:nvSpPr>
        <p:spPr>
          <a:xfrm>
            <a:off x="5376240" y="2204904"/>
            <a:ext cx="2879997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ctr"/>
            <a:r>
              <a:rPr lang="en-US" sz="1200" b="1">
                <a:solidFill>
                  <a:srgbClr val="EF0137"/>
                </a:solidFill>
              </a:rPr>
              <a:t>Multiple Use Cases for 1 Platform</a:t>
            </a:r>
          </a:p>
        </p:txBody>
      </p:sp>
      <p:sp>
        <p:nvSpPr>
          <p:cNvPr id="72" name="Rechteck 8">
            <a:extLst>
              <a:ext uri="{FF2B5EF4-FFF2-40B4-BE49-F238E27FC236}">
                <a16:creationId xmlns:a16="http://schemas.microsoft.com/office/drawing/2014/main" id="{279FC962-C12A-D111-1926-DC714BFF19E8}"/>
              </a:ext>
            </a:extLst>
          </p:cNvPr>
          <p:cNvSpPr/>
          <p:nvPr/>
        </p:nvSpPr>
        <p:spPr>
          <a:xfrm>
            <a:off x="5411921" y="1813204"/>
            <a:ext cx="2880000" cy="36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825500" hangingPunct="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600" b="1" kern="0">
                <a:solidFill>
                  <a:schemeClr val="accent2"/>
                </a:solidFill>
                <a:sym typeface="Helvetica Neue"/>
              </a:rPr>
              <a:t>∑ </a:t>
            </a:r>
            <a:r>
              <a:rPr lang="en-US" sz="1600" i="1" kern="0">
                <a:solidFill>
                  <a:schemeClr val="accent2"/>
                </a:solidFill>
                <a:sym typeface="Helvetica Neue"/>
              </a:rPr>
              <a:t>300</a:t>
            </a:r>
            <a:r>
              <a:rPr lang="en-US" sz="1600" b="1" kern="0">
                <a:solidFill>
                  <a:schemeClr val="accent2"/>
                </a:solidFill>
                <a:sym typeface="Helvetica Neue"/>
              </a:rPr>
              <a:t> k €</a:t>
            </a:r>
          </a:p>
        </p:txBody>
      </p:sp>
      <p:sp>
        <p:nvSpPr>
          <p:cNvPr id="73" name="Rechteck 9">
            <a:extLst>
              <a:ext uri="{FF2B5EF4-FFF2-40B4-BE49-F238E27FC236}">
                <a16:creationId xmlns:a16="http://schemas.microsoft.com/office/drawing/2014/main" id="{60CC29B8-FE0E-6D0E-F888-82BAEC382D41}"/>
              </a:ext>
            </a:extLst>
          </p:cNvPr>
          <p:cNvSpPr/>
          <p:nvPr/>
        </p:nvSpPr>
        <p:spPr>
          <a:xfrm>
            <a:off x="2350034" y="1431543"/>
            <a:ext cx="2835432" cy="36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825500" hangingPunct="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600" b="1" kern="0">
                <a:solidFill>
                  <a:schemeClr val="accent2"/>
                </a:solidFill>
                <a:sym typeface="Helvetica Neue"/>
              </a:rPr>
              <a:t>∑ </a:t>
            </a:r>
            <a:r>
              <a:rPr lang="en-US" sz="1600" b="1" i="1" kern="0">
                <a:solidFill>
                  <a:schemeClr val="accent2"/>
                </a:solidFill>
                <a:sym typeface="Helvetica Neue"/>
              </a:rPr>
              <a:t>50</a:t>
            </a:r>
            <a:r>
              <a:rPr lang="en-US" sz="1600" i="1" kern="0">
                <a:solidFill>
                  <a:schemeClr val="accent2"/>
                </a:solidFill>
                <a:sym typeface="Helvetica Neue"/>
              </a:rPr>
              <a:t>0</a:t>
            </a:r>
            <a:r>
              <a:rPr lang="en-US" sz="1600" b="1" kern="0">
                <a:solidFill>
                  <a:schemeClr val="accent2"/>
                </a:solidFill>
                <a:sym typeface="Helvetica Neue"/>
              </a:rPr>
              <a:t> k €</a:t>
            </a:r>
          </a:p>
        </p:txBody>
      </p:sp>
      <p:cxnSp>
        <p:nvCxnSpPr>
          <p:cNvPr id="76" name="Gerader Verbinder 14">
            <a:extLst>
              <a:ext uri="{FF2B5EF4-FFF2-40B4-BE49-F238E27FC236}">
                <a16:creationId xmlns:a16="http://schemas.microsoft.com/office/drawing/2014/main" id="{AC2F9BDD-E2E6-EBAC-0B0A-026401C869BF}"/>
              </a:ext>
            </a:extLst>
          </p:cNvPr>
          <p:cNvCxnSpPr>
            <a:cxnSpLocks/>
          </p:cNvCxnSpPr>
          <p:nvPr/>
        </p:nvCxnSpPr>
        <p:spPr>
          <a:xfrm>
            <a:off x="5375920" y="1815870"/>
            <a:ext cx="0" cy="36000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27000">
              <a:srgbClr val="12ABDB">
                <a:satMod val="175000"/>
                <a:alpha val="20000"/>
              </a:srgbClr>
            </a:glow>
            <a:outerShdw blurRad="381000" algn="ctr" rotWithShape="0">
              <a:srgbClr val="000000">
                <a:alpha val="5000"/>
              </a:srgbClr>
            </a:outerShdw>
          </a:effectLst>
        </p:spPr>
      </p:cxnSp>
      <p:cxnSp>
        <p:nvCxnSpPr>
          <p:cNvPr id="77" name="Gerader Verbinder 14">
            <a:extLst>
              <a:ext uri="{FF2B5EF4-FFF2-40B4-BE49-F238E27FC236}">
                <a16:creationId xmlns:a16="http://schemas.microsoft.com/office/drawing/2014/main" id="{9E998E33-955F-5CAC-9374-51A702049C76}"/>
              </a:ext>
            </a:extLst>
          </p:cNvPr>
          <p:cNvCxnSpPr>
            <a:cxnSpLocks/>
          </p:cNvCxnSpPr>
          <p:nvPr/>
        </p:nvCxnSpPr>
        <p:spPr>
          <a:xfrm>
            <a:off x="8470285" y="2175870"/>
            <a:ext cx="0" cy="36000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glow rad="127000">
              <a:srgbClr val="12ABDB">
                <a:satMod val="175000"/>
                <a:alpha val="20000"/>
              </a:srgbClr>
            </a:glow>
            <a:outerShdw blurRad="381000" algn="ctr" rotWithShape="0">
              <a:srgbClr val="000000">
                <a:alpha val="5000"/>
              </a:srgbClr>
            </a:outerShdw>
          </a:effectLst>
        </p:spPr>
      </p:cxnSp>
      <p:sp>
        <p:nvSpPr>
          <p:cNvPr id="78" name="Rechteck 19">
            <a:extLst>
              <a:ext uri="{FF2B5EF4-FFF2-40B4-BE49-F238E27FC236}">
                <a16:creationId xmlns:a16="http://schemas.microsoft.com/office/drawing/2014/main" id="{7CA5383E-2088-9A82-760B-9D9BA8769A80}"/>
              </a:ext>
            </a:extLst>
          </p:cNvPr>
          <p:cNvSpPr/>
          <p:nvPr/>
        </p:nvSpPr>
        <p:spPr>
          <a:xfrm>
            <a:off x="10272464" y="-78756"/>
            <a:ext cx="1512000" cy="504000"/>
          </a:xfrm>
          <a:prstGeom prst="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New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EBD9962-D6A3-94ED-0ABF-9219DB8C14DA}"/>
              </a:ext>
            </a:extLst>
          </p:cNvPr>
          <p:cNvSpPr/>
          <p:nvPr/>
        </p:nvSpPr>
        <p:spPr>
          <a:xfrm>
            <a:off x="1212264" y="7030681"/>
            <a:ext cx="1848913" cy="720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/>
              <a:t>Service im project scope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3F251C3-4454-023C-7963-E2BE9A0307F2}"/>
              </a:ext>
            </a:extLst>
          </p:cNvPr>
          <p:cNvSpPr/>
          <p:nvPr/>
        </p:nvSpPr>
        <p:spPr>
          <a:xfrm>
            <a:off x="3329335" y="6924397"/>
            <a:ext cx="1848913" cy="720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/>
              <a:t>Onshore support to speed up roll-out</a:t>
            </a:r>
          </a:p>
          <a:p>
            <a:pPr algn="l"/>
            <a:endParaRPr lang="en-US" sz="1000"/>
          </a:p>
          <a:p>
            <a:pPr algn="l"/>
            <a:r>
              <a:rPr lang="en-US" sz="1000"/>
              <a:t>Support by Project Team</a:t>
            </a:r>
          </a:p>
        </p:txBody>
      </p:sp>
      <p:sp>
        <p:nvSpPr>
          <p:cNvPr id="13" name="Rechteck 19">
            <a:extLst>
              <a:ext uri="{FF2B5EF4-FFF2-40B4-BE49-F238E27FC236}">
                <a16:creationId xmlns:a16="http://schemas.microsoft.com/office/drawing/2014/main" id="{D68F9867-2C50-5F9C-1162-F857C2850ED9}"/>
              </a:ext>
            </a:extLst>
          </p:cNvPr>
          <p:cNvSpPr/>
          <p:nvPr/>
        </p:nvSpPr>
        <p:spPr>
          <a:xfrm>
            <a:off x="8398285" y="-78756"/>
            <a:ext cx="1512000" cy="504000"/>
          </a:xfrm>
          <a:prstGeom prst="rect">
            <a:avLst/>
          </a:prstGeom>
          <a:solidFill>
            <a:srgbClr val="FF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Chris</a:t>
            </a:r>
          </a:p>
        </p:txBody>
      </p:sp>
    </p:spTree>
    <p:extLst>
      <p:ext uri="{BB962C8B-B14F-4D97-AF65-F5344CB8AC3E}">
        <p14:creationId xmlns:p14="http://schemas.microsoft.com/office/powerpoint/2010/main" val="2599555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3edb2f5e-e25b-4bbf-81ee-2b4396447386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+kQH0ccBDtJk2tprvnXpzQEAAAAAAADAAAAAAADAAAAAwADAAAAAAADAAAAAwADAAIA////////BQAAAAMAEAALdTDFd8zuBUeDu46ow72rLgQAAAABAAMAAAACAAMAAAAEAAMAAAACAP///////wQAAQD///////8FAAAABAAQAAsuUcS28NgSR66xyZG5Kjdi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6RAfRxwEO0mTa2mu+denNANEYXRhABsAAAAETGlua2VkU2hhcGVEYXRhAAUAAAAAAAJOYW1lABkAAABMaW5rZWRTaGFwZXNEYXRhUHJvcGVydHkAEFZlcnNpb24AAQAAAAlMYXN0V3JpdGUA31o/g4oBAAAAAQD/////gwCDAAAABV9pZAAQAAAABHUwxXfM7gVHg7uOqMO9qy4DRGF0YQAbAAAABExpbmtlZFNoYXBlRGF0YQAFAAAAAAACTmFtZQAZAAAATGlua2VkU2hhcGVzRGF0YVByb3BlcnR5ABBWZXJzaW9uAAAAAAAJTGFzdFdyaXRlAIZaP4OKAQAAAAIA/////8YAxgAAAAVfaWQAEAAAAAQuUcS28NgSR66xyZG5KjdiA0RhdGEAUwAAAAhQcmVzZW50YXRpb25TY2FubmVkRm9yTGlua2VkU2hhcGVzAAACTnVtYmVyRm9ybWF0U2VwYXJhdG9yTW9kZQAKAAAAQXV0b21hdGljAAACTmFtZQAkAAAATGlua2VkU2hhcGVQcmVzZW50YXRpb25TZXR0aW5nc0RhdGEAEFZlcnNpb24AAAAAAAlMYXN0V3JpdGUA9Fo/g4o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EEAAAAAAAFAAAAAwAFAAAAAQAFAAAAAwD///////8DAAIBAwAAAAMA////////GgAGTGlua2VkU2hhcGVzRGF0YVByb3BlcnR5XzAEAAAAAQAFAAAABAAFAAAAAgAFAAAAAAAFAAAAAgAEAAEBAwAAAAQA////////JQAGTGlua2VkU2hhcGVQcmVzZW50YXRpb25TZXR0aW5nc0RhdGFfMAQ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00158821106030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8TDrN77CQ8gzdMhynxP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8TDrN77CQ8gzdMhynxP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8TDrN77CQ8gzdMhynxP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3.xml><?xml version="1.0" encoding="utf-8"?>
<a:theme xmlns:a="http://schemas.openxmlformats.org/drawingml/2006/main" name="2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5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No color">
      <a:srgbClr val="FFFFFF"/>
    </a:custClr>
    <a:custClr name="Dark Blue | 0 85 124">
      <a:srgbClr val="00557C"/>
    </a:custClr>
    <a:custClr name="Dark Green | 0 100 110">
      <a:srgbClr val="00646E"/>
    </a:custClr>
    <a:custClr name="Dark Sand | 170 170 150">
      <a:srgbClr val="AAAA96"/>
    </a:custClr>
    <a:custClr name="Deep Blue | 0 0 40">
      <a:srgbClr val="000028"/>
    </a:custClr>
    <a:custClr name="Deep Blue 40% (Gray) | 153 153 169">
      <a:srgbClr val="9999A9"/>
    </a:custClr>
    <a:custClr name="Dark Purple | 80 0 120">
      <a:srgbClr val="500078"/>
    </a:custClr>
    <a:custClr name="Dark Orange | 236 102 2">
      <a:srgbClr val="EC6602"/>
    </a:custClr>
    <a:custClr name="Red | 239 1 55">
      <a:srgbClr val="EF0137"/>
    </a:custClr>
    <a:custClr name="Deep Blue | 0 0 40">
      <a:srgbClr val="000028"/>
    </a:custClr>
    <a:custClr name="No color">
      <a:srgbClr val="FFFFFF"/>
    </a:custClr>
    <a:custClr name="Blue | 0 135 190">
      <a:srgbClr val="0087BE"/>
    </a:custClr>
    <a:custClr name="Green | 0 175 142">
      <a:srgbClr val="00AF8E"/>
    </a:custClr>
    <a:custClr name="Soft Sand | 197 197 184">
      <a:srgbClr val="C5C5B8"/>
    </a:custClr>
    <a:custClr name="Deep Blue 80% | 51 51 83">
      <a:srgbClr val="333353"/>
    </a:custClr>
    <a:custClr name="Deep Blue 20% (Soft Gray) | 204 204 212">
      <a:srgbClr val="CCCCD4"/>
    </a:custClr>
    <a:custClr name="Purple | 170 50 190">
      <a:srgbClr val="AA32BE"/>
    </a:custClr>
    <a:custClr name="Orange | 255 144 0">
      <a:srgbClr val="FF9000"/>
    </a:custClr>
    <a:custClr name="Soft Red | 254 131 137">
      <a:srgbClr val="FE8389"/>
    </a:custClr>
    <a:custClr name="Light Sand | 243 243 240">
      <a:srgbClr val="F3F3F0"/>
    </a:custClr>
    <a:custClr name="No color">
      <a:srgbClr val="FFFFFF"/>
    </a:custClr>
    <a:custClr name="Soft Blue | 0 190 220">
      <a:srgbClr val="00BEDC"/>
    </a:custClr>
    <a:custClr name="Soft Green | 0 215 160">
      <a:srgbClr val="00D7A0"/>
    </a:custClr>
    <a:custClr name="Bright Sand | 223 223 217">
      <a:srgbClr val="DFDFD9"/>
    </a:custClr>
    <a:custClr name="Deep Blue 60% (Dark Gray) | 102 102 126">
      <a:srgbClr val="66667E"/>
    </a:custClr>
    <a:custClr name="Deep Blue 10% (Light Gray) | 229 229 233">
      <a:srgbClr val="E5E5E9"/>
    </a:custClr>
    <a:custClr name="Yellow | 255 215 50">
      <a:srgbClr val="FFD732"/>
    </a:custClr>
    <a:custClr name="Bold Green">
      <a:srgbClr val="00FFB9"/>
    </a:custClr>
    <a:custClr name="Bold Blue">
      <a:srgbClr val="00E6D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FA61D07DBF6644B745D555A1F24A35" ma:contentTypeVersion="11" ma:contentTypeDescription="Create a new document." ma:contentTypeScope="" ma:versionID="4bebca9d0a63c5d7936aa67e6e739c54">
  <xsd:schema xmlns:xsd="http://www.w3.org/2001/XMLSchema" xmlns:xs="http://www.w3.org/2001/XMLSchema" xmlns:p="http://schemas.microsoft.com/office/2006/metadata/properties" xmlns:ns2="3fc3e9a4-aeb7-4217-b530-b9df93680ac2" xmlns:ns3="db96b697-181e-4016-a408-8ea7f41d3315" targetNamespace="http://schemas.microsoft.com/office/2006/metadata/properties" ma:root="true" ma:fieldsID="8ba7f1fa1e7b54bf125ec5b0ca09f25f" ns2:_="" ns3:_="">
    <xsd:import namespace="3fc3e9a4-aeb7-4217-b530-b9df93680ac2"/>
    <xsd:import namespace="db96b697-181e-4016-a408-8ea7f41d33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3e9a4-aeb7-4217-b530-b9df93680a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6b697-181e-4016-a408-8ea7f41d331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c3e9a4-aeb7-4217-b530-b9df93680ac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2ED4F5-FEAE-42DB-99A5-B07FE1C6E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c3e9a4-aeb7-4217-b530-b9df93680ac2"/>
    <ds:schemaRef ds:uri="db96b697-181e-4016-a408-8ea7f41d33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EDE259-18AC-41A9-985A-C4F9F6BFEC4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3fc3e9a4-aeb7-4217-b530-b9df93680ac2"/>
    <ds:schemaRef ds:uri="db96b697-181e-4016-a408-8ea7f41d331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89DD0CE-C15C-4EE0-9B20-4BF106D872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Microsoft Office PowerPoint</Application>
  <PresentationFormat>Widescreen</PresentationFormat>
  <Paragraphs>446</Paragraphs>
  <Slides>18</Slides>
  <Notes>6</Notes>
  <HiddenSlides>3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Söhne</vt:lpstr>
      <vt:lpstr>Arial</vt:lpstr>
      <vt:lpstr>Calibri</vt:lpstr>
      <vt:lpstr>Century Gothic</vt:lpstr>
      <vt:lpstr>Courier New</vt:lpstr>
      <vt:lpstr>Segoe UI</vt:lpstr>
      <vt:lpstr>Ubuntu</vt:lpstr>
      <vt:lpstr>Wingdings</vt:lpstr>
      <vt:lpstr>1_Siemens 2020</vt:lpstr>
      <vt:lpstr>Siemens 2020</vt:lpstr>
      <vt:lpstr>2_Siemens 2020</vt:lpstr>
      <vt:lpstr>3_Siemens 2020</vt:lpstr>
      <vt:lpstr>think-cell Folie</vt:lpstr>
      <vt:lpstr>think-cell Slide</vt:lpstr>
      <vt:lpstr>LDF Data Platform LDF Core Team Meeting</vt:lpstr>
      <vt:lpstr>Agenda</vt:lpstr>
      <vt:lpstr>Agenda</vt:lpstr>
      <vt:lpstr> 1 | Status Update LDF Data Platform Becoming a Data Driven Company</vt:lpstr>
      <vt:lpstr>1 | Overall Project Status Milestone and Deliverables Plan</vt:lpstr>
      <vt:lpstr>Agenda</vt:lpstr>
      <vt:lpstr>2 | Synergies of LDF Data Platform within SDC Full integration of IoT Data Lake into open data ecosystem</vt:lpstr>
      <vt:lpstr>2 | Synergies of LDF Data Platform within SDC Full integration of IoT Data Lake into open data ecosystem</vt:lpstr>
      <vt:lpstr>2 | Synergies of LDF Data Platform within SDC  Main general aspects that we see on current data landscape</vt:lpstr>
      <vt:lpstr>2 | Synergies of LDF Data Platform within SDC  Delivering comprehensive value across all roles in the LDF Data Platform</vt:lpstr>
      <vt:lpstr>2 | Synergies of LDF Data Platform within SDC Success Story CATE@MFK</vt:lpstr>
      <vt:lpstr>Agenda</vt:lpstr>
      <vt:lpstr>   3 | Introduction to Hybrid Architecture Concept  Unlocking Data-driven Agility: Understanding the Nature of Hybrid Architecture</vt:lpstr>
      <vt:lpstr>Agenda</vt:lpstr>
      <vt:lpstr>4 | Project Ambition Fiscal Year 2024 Plan for FY 24</vt:lpstr>
      <vt:lpstr>PowerPoint Presentation</vt:lpstr>
      <vt:lpstr>PowerPoint Presentation</vt:lpstr>
      <vt:lpstr>4 | Project Ambition Fiscal Year 2024 What if we loose speed?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DI IT DEMA - Capability Mapping</dc:title>
  <dc:subject/>
  <dc:creator>jonas.gailus@capgemini.com</dc:creator>
  <cp:keywords/>
  <dc:description>Version 3.3.0
March 2021</dc:description>
  <cp:lastModifiedBy>Wang, Feng - Thom (DI IT MC CN)</cp:lastModifiedBy>
  <cp:revision>1</cp:revision>
  <dcterms:created xsi:type="dcterms:W3CDTF">2020-07-27T12:43:17Z</dcterms:created>
  <dcterms:modified xsi:type="dcterms:W3CDTF">2023-09-11T07:58:06Z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0x01010051FA61D07DBF6644B745D555A1F24A35</vt:lpwstr>
  </property>
  <property fmtid="{D5CDD505-2E9C-101B-9397-08002B2CF9AE}" pid="3" name="MediaServiceImageTags">
    <vt:lpwstr/>
  </property>
  <property fmtid="{D5CDD505-2E9C-101B-9397-08002B2CF9AE}" pid="4" name="MSIP_Label_9d258917-277f-42cd-a3cd-14c4e9ee58bc_Enabled">
    <vt:lpwstr>true</vt:lpwstr>
  </property>
  <property fmtid="{D5CDD505-2E9C-101B-9397-08002B2CF9AE}" pid="5" name="MSIP_Label_9d258917-277f-42cd-a3cd-14c4e9ee58bc_SetDate">
    <vt:lpwstr>2023-09-04T07:39:50Z</vt:lpwstr>
  </property>
  <property fmtid="{D5CDD505-2E9C-101B-9397-08002B2CF9AE}" pid="6" name="MSIP_Label_9d258917-277f-42cd-a3cd-14c4e9ee58bc_Method">
    <vt:lpwstr>Standard</vt:lpwstr>
  </property>
  <property fmtid="{D5CDD505-2E9C-101B-9397-08002B2CF9AE}" pid="7" name="MSIP_Label_9d258917-277f-42cd-a3cd-14c4e9ee58bc_Name">
    <vt:lpwstr>restricted</vt:lpwstr>
  </property>
  <property fmtid="{D5CDD505-2E9C-101B-9397-08002B2CF9AE}" pid="8" name="MSIP_Label_9d258917-277f-42cd-a3cd-14c4e9ee58bc_SiteId">
    <vt:lpwstr>38ae3bcd-9579-4fd4-adda-b42e1495d55a</vt:lpwstr>
  </property>
  <property fmtid="{D5CDD505-2E9C-101B-9397-08002B2CF9AE}" pid="9" name="MSIP_Label_9d258917-277f-42cd-a3cd-14c4e9ee58bc_ActionId">
    <vt:lpwstr>cd1b20dd-6459-4303-9991-9a35a5033e8f</vt:lpwstr>
  </property>
  <property fmtid="{D5CDD505-2E9C-101B-9397-08002B2CF9AE}" pid="10" name="MSIP_Label_9d258917-277f-42cd-a3cd-14c4e9ee58bc_ContentBits">
    <vt:lpwstr>0</vt:lpwstr>
  </property>
</Properties>
</file>